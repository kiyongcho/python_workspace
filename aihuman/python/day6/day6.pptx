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Inter" panose="02000503000000020004" pitchFamily="2" charset="0"/>
      <p:regular r:id="rId37"/>
      <p:bold r:id="rId38"/>
      <p:italic r:id="rId39"/>
      <p:boldItalic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Inter Bold" panose="02000503000000020004" pitchFamily="2" charset="0"/>
      <p:regular r:id="rId45"/>
      <p:bold r:id="rId46"/>
    </p:embeddedFont>
    <p:embeddedFont>
      <p:font typeface="맑은 고딕" panose="020B0503020000020004" pitchFamily="50" charset="-127"/>
      <p:regular r:id="rId47"/>
      <p:bold r:id="rId48"/>
    </p:embeddedFont>
    <p:embeddedFont>
      <p:font typeface="Inter Light" panose="02000503000000020004" pitchFamily="2" charset="0"/>
      <p:regular r:id="rId49"/>
      <p:italic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34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2.svg"/><Relationship Id="rId5" Type="http://schemas.openxmlformats.org/officeDocument/2006/relationships/image" Target="../media/image-3-2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6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-5-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4.sv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-5-8.svg"/><Relationship Id="rId4" Type="http://schemas.openxmlformats.org/officeDocument/2006/relationships/image" Target="../media/image-5-2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3-6.sv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3-4.svg"/><Relationship Id="rId5" Type="http://schemas.openxmlformats.org/officeDocument/2006/relationships/image" Target="../media/image22.png"/><Relationship Id="rId4" Type="http://schemas.openxmlformats.org/officeDocument/2006/relationships/image" Target="../media/image-23-2.svg"/><Relationship Id="rId9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6-8.svg"/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6-2.svg"/><Relationship Id="rId5" Type="http://schemas.openxmlformats.org/officeDocument/2006/relationships/image" Target="../media/image-26-2.svg"/><Relationship Id="rId10" Type="http://schemas.openxmlformats.org/officeDocument/2006/relationships/image" Target="../media/image-26-8.svg"/><Relationship Id="rId4" Type="http://schemas.openxmlformats.org/officeDocument/2006/relationships/image" Target="../media/image-26-2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9-2.svg"/><Relationship Id="rId3" Type="http://schemas.openxmlformats.org/officeDocument/2006/relationships/image" Target="../media/image28.png"/><Relationship Id="rId12" Type="http://schemas.openxmlformats.org/officeDocument/2006/relationships/image" Target="../media/image-29-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9-2.svg"/><Relationship Id="rId5" Type="http://schemas.openxmlformats.org/officeDocument/2006/relationships/image" Target="../media/image-29-2.svg"/><Relationship Id="rId10" Type="http://schemas.openxmlformats.org/officeDocument/2006/relationships/image" Target="../media/image-29-2.svg"/><Relationship Id="rId4" Type="http://schemas.openxmlformats.org/officeDocument/2006/relationships/image" Target="../media/image-29-2.svg"/><Relationship Id="rId14" Type="http://schemas.openxmlformats.org/officeDocument/2006/relationships/image" Target="../media/image-29-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72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 | 6일차 | Python 함수(Function)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004715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6769" y="2170013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과정명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826769" y="2527697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AI휴먼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004715"/>
            <a:ext cx="3512752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04716" y="2170013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강의일차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4504716" y="2527697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6일차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004715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2762" y="2170013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강의주제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8182762" y="2527697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함수(Function)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122910"/>
            <a:ext cx="5351626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6769" y="3288209"/>
            <a:ext cx="5021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키워드</a:t>
            </a:r>
            <a:endParaRPr lang="ko-KR" sz="1600" dirty="0"/>
          </a:p>
        </p:txBody>
      </p:sp>
      <p:sp>
        <p:nvSpPr>
          <p:cNvPr id="14" name="Text 12"/>
          <p:cNvSpPr/>
          <p:nvPr/>
        </p:nvSpPr>
        <p:spPr>
          <a:xfrm>
            <a:off x="826769" y="3645892"/>
            <a:ext cx="5021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def, Parameter, Argument, return, Scope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8395" y="3122910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43690" y="3288209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결과물</a:t>
            </a:r>
            <a:endParaRPr lang="ko-KR" sz="1600" dirty="0"/>
          </a:p>
        </p:txBody>
      </p:sp>
      <p:sp>
        <p:nvSpPr>
          <p:cNvPr id="17" name="Text 15"/>
          <p:cNvSpPr/>
          <p:nvPr/>
        </p:nvSpPr>
        <p:spPr>
          <a:xfrm>
            <a:off x="6343690" y="3645892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함수형 성적 처리 프로그램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661475" y="432385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발표 포인트</a:t>
            </a:r>
            <a:endParaRPr lang="ko-KR" sz="2600" dirty="0"/>
          </a:p>
        </p:txBody>
      </p:sp>
      <p:sp>
        <p:nvSpPr>
          <p:cNvPr id="19" name="Text 17"/>
          <p:cNvSpPr/>
          <p:nvPr/>
        </p:nvSpPr>
        <p:spPr>
          <a:xfrm>
            <a:off x="661475" y="4985345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5일차에는 반복문과 리스트·딕셔너리로 여러 데이터를 처리했습니다.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6일차에는 반복되는 처리 로직을 함수로 분리하여 재사용 가능한 코드로 바꿉니다.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09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 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58330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58933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615182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함수가 필요한 이유를 설명할 수 있습니다.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26109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29210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3179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 문으로 함수를 정의하고 호출할 수 있습니다.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296386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29948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020715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매개변수(Parameter)와 인수(Argument)의 차이를 구분할 수 있습니다.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3666629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369763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372348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return으로 처리 결과를 함수 밖으로 전달할 수 있습니다.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3693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40040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4262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지역변수와 전역변수의 차이를 이해할 수 있습니다.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507216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1031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12901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조건문·반복문·리스트·딕셔너리를 함수와 결합할 수 있습니다.</a:t>
            </a:r>
            <a:endParaRPr lang="ko-KR" sz="1600" dirty="0"/>
          </a:p>
        </p:txBody>
      </p:sp>
      <p:sp>
        <p:nvSpPr>
          <p:cNvPr id="21" name="Shape 19"/>
          <p:cNvSpPr/>
          <p:nvPr/>
        </p:nvSpPr>
        <p:spPr>
          <a:xfrm>
            <a:off x="661475" y="577492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3485" y="58059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98830" y="583178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하나의 프로그램을 여러 함수로 나누어 설계할 수 있습니다.</a:t>
            </a:r>
            <a:endParaRPr lang="ko-K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870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5일차 내용 연결: 반복문과 컬렉션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100435"/>
            <a:ext cx="10868745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 예제</a:t>
            </a:r>
            <a:endParaRPr lang="ko-KR" sz="2450" dirty="0"/>
          </a:p>
        </p:txBody>
      </p:sp>
      <p:sp>
        <p:nvSpPr>
          <p:cNvPr id="4" name="Shape 2"/>
          <p:cNvSpPr/>
          <p:nvPr/>
        </p:nvSpPr>
        <p:spPr>
          <a:xfrm>
            <a:off x="661475" y="1716980"/>
            <a:ext cx="10868745" cy="1822648"/>
          </a:xfrm>
          <a:prstGeom prst="roundRect">
            <a:avLst>
              <a:gd name="adj" fmla="val 775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49986" y="1874044"/>
            <a:ext cx="10491723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[72, 88, 95, 61]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80: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print(score, "PASS")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print(score, "RETRY")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3763466"/>
            <a:ext cx="10868745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문제점</a:t>
            </a:r>
            <a:endParaRPr lang="ko-KR" sz="2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4380012"/>
            <a:ext cx="3523368" cy="8425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3782" y="4556125"/>
            <a:ext cx="309495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판정 규칙이 여러 곳에서 필요하면 코드가 반복됩니다.</a:t>
            </a:r>
            <a:endParaRPr lang="ko-KR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4064" y="4380012"/>
            <a:ext cx="3523467" cy="8425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6371" y="4556125"/>
            <a:ext cx="309505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판정 기준을 바꾸면 여러 위치를 </a:t>
            </a:r>
            <a:endParaRPr lang="en-US" altLang="ko-KR" sz="12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함께 </a:t>
            </a: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수정해야 합니다.</a:t>
            </a:r>
            <a:endParaRPr lang="ko-KR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06753" y="4380012"/>
            <a:ext cx="3523368" cy="8425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59060" y="4556125"/>
            <a:ext cx="309495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코드가 길어질수록 역할을 구분하기 어려워집니다.</a:t>
            </a:r>
            <a:endParaRPr lang="ko-KR" sz="1200" dirty="0"/>
          </a:p>
        </p:txBody>
      </p:sp>
      <p:sp>
        <p:nvSpPr>
          <p:cNvPr id="13" name="Text 8"/>
          <p:cNvSpPr/>
          <p:nvPr/>
        </p:nvSpPr>
        <p:spPr>
          <a:xfrm>
            <a:off x="661475" y="5446415"/>
            <a:ext cx="10868745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개선 방향</a:t>
            </a:r>
            <a:endParaRPr lang="ko-KR" sz="2450" dirty="0"/>
          </a:p>
        </p:txBody>
      </p:sp>
      <p:sp>
        <p:nvSpPr>
          <p:cNvPr id="14" name="Text 9"/>
          <p:cNvSpPr/>
          <p:nvPr/>
        </p:nvSpPr>
        <p:spPr>
          <a:xfrm>
            <a:off x="661475" y="6062960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"점수 판정"이라는 하나의 작업을 함수로 분리합니다.</a:t>
            </a:r>
            <a:endParaRPr lang="ko-KR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422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함수(Function)란?</a:t>
            </a:r>
            <a:endParaRPr lang="ko-KR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81423"/>
            <a:ext cx="5252807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3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함수(Function)</a:t>
            </a:r>
            <a:endParaRPr lang="ko-KR" sz="2300" dirty="0"/>
          </a:p>
        </p:txBody>
      </p:sp>
      <p:sp>
        <p:nvSpPr>
          <p:cNvPr id="4" name="Text 2"/>
          <p:cNvSpPr/>
          <p:nvPr/>
        </p:nvSpPr>
        <p:spPr>
          <a:xfrm>
            <a:off x="661475" y="1887538"/>
            <a:ext cx="5252807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900"/>
              </a:spcAft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작업을 수행하도록 묶어 놓은 재사용 가능한 코드 블록입니다.</a:t>
            </a:r>
            <a:endParaRPr lang="ko-KR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입력을 받을 수 있고, 처리 후 결과를 반환할 수 있습니다.</a:t>
            </a:r>
            <a:endParaRPr lang="ko-KR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594471"/>
            <a:ext cx="5252807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3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일상생활 비유 — 커피 머신</a:t>
            </a:r>
            <a:endParaRPr lang="ko-KR" sz="2300" dirty="0"/>
          </a:p>
        </p:txBody>
      </p:sp>
      <p:sp>
        <p:nvSpPr>
          <p:cNvPr id="6" name="Text 4"/>
          <p:cNvSpPr/>
          <p:nvPr/>
        </p:nvSpPr>
        <p:spPr>
          <a:xfrm>
            <a:off x="661475" y="3100586"/>
            <a:ext cx="5252807" cy="772319"/>
          </a:xfrm>
          <a:prstGeom prst="rect">
            <a:avLst/>
          </a:prstGeom>
          <a:noFill/>
          <a:ln/>
        </p:spPr>
        <p:txBody>
          <a:bodyPr wrap="square" lIns="0" tIns="59541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입력: 원두, 물, 메뉴 선택</a:t>
            </a:r>
            <a:endParaRPr lang="ko-KR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처리: 분쇄, 추출</a:t>
            </a:r>
            <a:endParaRPr lang="ko-KR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출력: 커피</a:t>
            </a:r>
            <a:endParaRPr lang="ko-KR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4006850"/>
            <a:ext cx="5252807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3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프로그램의 함수</a:t>
            </a:r>
            <a:endParaRPr lang="ko-KR" sz="2300" dirty="0"/>
          </a:p>
        </p:txBody>
      </p:sp>
      <p:sp>
        <p:nvSpPr>
          <p:cNvPr id="8" name="Text 6"/>
          <p:cNvSpPr/>
          <p:nvPr/>
        </p:nvSpPr>
        <p:spPr>
          <a:xfrm>
            <a:off x="661475" y="4512965"/>
            <a:ext cx="5252807" cy="772319"/>
          </a:xfrm>
          <a:prstGeom prst="rect">
            <a:avLst/>
          </a:prstGeom>
          <a:noFill/>
          <a:ln/>
        </p:spPr>
        <p:txBody>
          <a:bodyPr wrap="square" lIns="0" tIns="59541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입력: 매개변수(Parameter)</a:t>
            </a:r>
            <a:endParaRPr lang="ko-KR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처리: 함수 본문(Body)</a:t>
            </a:r>
            <a:endParaRPr lang="ko-KR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출력: 반환값(Return Value)</a:t>
            </a:r>
            <a:endParaRPr lang="ko-KR" sz="1150" dirty="0"/>
          </a:p>
        </p:txBody>
      </p:sp>
      <p:sp>
        <p:nvSpPr>
          <p:cNvPr id="9" name="Shape 7"/>
          <p:cNvSpPr/>
          <p:nvPr/>
        </p:nvSpPr>
        <p:spPr>
          <a:xfrm>
            <a:off x="661475" y="5435997"/>
            <a:ext cx="5252807" cy="541734"/>
          </a:xfrm>
          <a:prstGeom prst="roundRect">
            <a:avLst>
              <a:gd name="adj" fmla="val 24729"/>
            </a:avLst>
          </a:prstGeom>
          <a:solidFill>
            <a:srgbClr val="E1E1E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9" y="5641975"/>
            <a:ext cx="186031" cy="1488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5154" y="5593755"/>
            <a:ext cx="522988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구조: 입력 → 함수 내부 처리 → 결과 반환</a:t>
            </a:r>
            <a:endParaRPr lang="ko-KR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763" y="1398191"/>
            <a:ext cx="4727457" cy="4727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34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함수를 사용하는 이유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890911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1890911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재사용성(Reusability)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2248595"/>
            <a:ext cx="286496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번 작성한 코드를 여러 번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호출할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있습니다.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53213" y="1890911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3315" y="1890911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가독성(Readability)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973315" y="2248595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코드의 역할을 함수 이름으로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표현할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있습니다.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045050" y="1890911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65152" y="1890911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유지보수성(Maintainability)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665152" y="2248595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규칙이 바뀌면 함수 한 곳을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수정하면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됩니다.</a:t>
            </a:r>
            <a:endParaRPr lang="ko-KR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1475" y="3108523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1577" y="3108523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테스트 용이성(Testability)</a:t>
            </a:r>
            <a:endParaRPr lang="ko-KR" sz="1600" dirty="0"/>
          </a:p>
        </p:txBody>
      </p:sp>
      <p:sp>
        <p:nvSpPr>
          <p:cNvPr id="14" name="Text 8"/>
          <p:cNvSpPr/>
          <p:nvPr/>
        </p:nvSpPr>
        <p:spPr>
          <a:xfrm>
            <a:off x="1281577" y="3466207"/>
            <a:ext cx="286496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작은 함수 단위로 결과를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확인할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있습니다.</a:t>
            </a:r>
            <a:endParaRPr lang="ko-KR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353213" y="3108523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73315" y="3108523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역할 분리(Decomposition)</a:t>
            </a:r>
            <a:endParaRPr lang="ko-KR" sz="1600" dirty="0"/>
          </a:p>
        </p:txBody>
      </p:sp>
      <p:sp>
        <p:nvSpPr>
          <p:cNvPr id="17" name="Text 10"/>
          <p:cNvSpPr/>
          <p:nvPr/>
        </p:nvSpPr>
        <p:spPr>
          <a:xfrm>
            <a:off x="4973315" y="3466207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큰 문제를 작은 작업으로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나눌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있습니다.</a:t>
            </a:r>
            <a:endParaRPr lang="ko-KR" sz="1300" dirty="0"/>
          </a:p>
        </p:txBody>
      </p:sp>
      <p:sp>
        <p:nvSpPr>
          <p:cNvPr id="18" name="Text 11"/>
          <p:cNvSpPr/>
          <p:nvPr/>
        </p:nvSpPr>
        <p:spPr>
          <a:xfrm>
            <a:off x="661475" y="424348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2600" dirty="0"/>
          </a:p>
        </p:txBody>
      </p:sp>
      <p:sp>
        <p:nvSpPr>
          <p:cNvPr id="19" name="Text 12"/>
          <p:cNvSpPr/>
          <p:nvPr/>
        </p:nvSpPr>
        <p:spPr>
          <a:xfrm>
            <a:off x="661475" y="4904978"/>
            <a:ext cx="10868745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get_grade(): 등급 판정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get_average(): 평균 계산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print_report(): 결과 출력</a:t>
            </a:r>
            <a:endParaRPr lang="ko-K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81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정의와 호출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59780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기본 문법</a:t>
            </a:r>
            <a:endParaRPr lang="ko-KR" sz="2050" dirty="0"/>
          </a:p>
        </p:txBody>
      </p:sp>
      <p:sp>
        <p:nvSpPr>
          <p:cNvPr id="4" name="Shape 2"/>
          <p:cNvSpPr/>
          <p:nvPr/>
        </p:nvSpPr>
        <p:spPr>
          <a:xfrm>
            <a:off x="661475" y="1709539"/>
            <a:ext cx="5273047" cy="899716"/>
          </a:xfrm>
          <a:prstGeom prst="roundRect">
            <a:avLst>
              <a:gd name="adj" fmla="val 1323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0221" y="1841798"/>
            <a:ext cx="4955555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함수이름():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ko-KR" altLang="en-US" sz="1000" dirty="0" err="1" smtClean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실행문</a:t>
            </a:r>
            <a:endParaRPr lang="en-US" altLang="ko-KR" sz="1000" dirty="0" smtClean="0">
              <a:solidFill>
                <a:srgbClr val="D73A4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함수이름()</a:t>
            </a:r>
            <a:endParaRPr lang="ko-KR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728317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050" dirty="0"/>
          </a:p>
        </p:txBody>
      </p:sp>
      <p:sp>
        <p:nvSpPr>
          <p:cNvPr id="7" name="Shape 5"/>
          <p:cNvSpPr/>
          <p:nvPr/>
        </p:nvSpPr>
        <p:spPr>
          <a:xfrm>
            <a:off x="661475" y="3178076"/>
            <a:ext cx="5273047" cy="899716"/>
          </a:xfrm>
          <a:prstGeom prst="roundRect">
            <a:avLst>
              <a:gd name="adj" fmla="val 1323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20221" y="3310334"/>
            <a:ext cx="4955555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say_hello():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print("안녕하세요</a:t>
            </a:r>
            <a:r>
              <a:rPr lang="ko-KR" altLang="en-US" sz="1000" dirty="0" smtClean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altLang="ko-KR" sz="1000" dirty="0" smtClean="0">
              <a:solidFill>
                <a:srgbClr val="24292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say_hello()</a:t>
            </a:r>
            <a:endParaRPr lang="ko-KR" sz="1000" dirty="0"/>
          </a:p>
        </p:txBody>
      </p:sp>
      <p:sp>
        <p:nvSpPr>
          <p:cNvPr id="9" name="Text 7"/>
          <p:cNvSpPr/>
          <p:nvPr/>
        </p:nvSpPr>
        <p:spPr>
          <a:xfrm>
            <a:off x="661475" y="4196854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용어</a:t>
            </a:r>
            <a:endParaRPr lang="ko-KR" sz="2050" dirty="0"/>
          </a:p>
        </p:txBody>
      </p:sp>
      <p:sp>
        <p:nvSpPr>
          <p:cNvPr id="10" name="Text 8"/>
          <p:cNvSpPr/>
          <p:nvPr/>
        </p:nvSpPr>
        <p:spPr>
          <a:xfrm>
            <a:off x="661475" y="4633317"/>
            <a:ext cx="5273047" cy="645517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</a:t>
            </a: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define의 약자로 함수 정의를 시작하는 키워드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정의(Function Definition)</a:t>
            </a: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함수를 만드는 것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호출(Function Call)</a:t>
            </a: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만들어진 함수를 실행하는 것</a:t>
            </a:r>
            <a:endParaRPr 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661475" y="5384602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2050" dirty="0"/>
          </a:p>
        </p:txBody>
      </p:sp>
      <p:sp>
        <p:nvSpPr>
          <p:cNvPr id="12" name="Text 10"/>
          <p:cNvSpPr/>
          <p:nvPr/>
        </p:nvSpPr>
        <p:spPr>
          <a:xfrm>
            <a:off x="661475" y="5821065"/>
            <a:ext cx="5273047" cy="418009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 lnSpcReduction="10000"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함수를 정의했다고 자동으로 실행되는 것은 아닙니다.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호출해야 함수 내부 코드가 실행됩니다.</a:t>
            </a:r>
            <a:endParaRPr lang="ko-KR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523" y="1273076"/>
            <a:ext cx="4218378" cy="4218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0098"/>
            <a:ext cx="10868745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실행 흐름</a:t>
            </a:r>
            <a:endParaRPr lang="ko-KR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848618"/>
            <a:ext cx="5329898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코드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112639"/>
            <a:ext cx="5329898" cy="1545233"/>
          </a:xfrm>
          <a:prstGeom prst="roundRect">
            <a:avLst>
              <a:gd name="adj" fmla="val 900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64263" y="1198265"/>
            <a:ext cx="5124322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say_hello():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print("2. 함수 실행")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print("1. 함수 호출 전")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say_hello()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print("3. 함수 호출 후")</a:t>
            </a:r>
            <a:endParaRPr lang="ko-KR" sz="1200" dirty="0"/>
          </a:p>
        </p:txBody>
      </p:sp>
      <p:sp>
        <p:nvSpPr>
          <p:cNvPr id="6" name="Text 4"/>
          <p:cNvSpPr/>
          <p:nvPr/>
        </p:nvSpPr>
        <p:spPr>
          <a:xfrm>
            <a:off x="6206672" y="848618"/>
            <a:ext cx="5329898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실행 순서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206672" y="1195766"/>
            <a:ext cx="171247" cy="107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6672" y="1328521"/>
            <a:ext cx="532989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206672" y="1396684"/>
            <a:ext cx="5329898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정의를 기억합니다.</a:t>
            </a:r>
            <a:endParaRPr lang="ko-KR" sz="1200" dirty="0"/>
          </a:p>
        </p:txBody>
      </p:sp>
      <p:sp>
        <p:nvSpPr>
          <p:cNvPr id="10" name="Text 8"/>
          <p:cNvSpPr/>
          <p:nvPr/>
        </p:nvSpPr>
        <p:spPr>
          <a:xfrm>
            <a:off x="6206672" y="1717276"/>
            <a:ext cx="171247" cy="107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6672" y="1850030"/>
            <a:ext cx="532989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206672" y="1918194"/>
            <a:ext cx="5329898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"1. 함수 호출 전" 출력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6206672" y="2288661"/>
            <a:ext cx="171247" cy="107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6672" y="2421416"/>
            <a:ext cx="532989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206672" y="2489579"/>
            <a:ext cx="5329898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say_hello() 호출</a:t>
            </a:r>
            <a:endParaRPr lang="ko-KR" sz="1200" dirty="0"/>
          </a:p>
        </p:txBody>
      </p:sp>
      <p:sp>
        <p:nvSpPr>
          <p:cNvPr id="16" name="Text 14"/>
          <p:cNvSpPr/>
          <p:nvPr/>
        </p:nvSpPr>
        <p:spPr>
          <a:xfrm>
            <a:off x="6206672" y="2801858"/>
            <a:ext cx="171247" cy="107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06672" y="2934612"/>
            <a:ext cx="532989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206672" y="3002776"/>
            <a:ext cx="5329898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내부 코드 실행</a:t>
            </a:r>
            <a:endParaRPr lang="ko-KR" sz="1200" dirty="0"/>
          </a:p>
        </p:txBody>
      </p:sp>
      <p:sp>
        <p:nvSpPr>
          <p:cNvPr id="19" name="Text 17"/>
          <p:cNvSpPr/>
          <p:nvPr/>
        </p:nvSpPr>
        <p:spPr>
          <a:xfrm>
            <a:off x="6206672" y="3298427"/>
            <a:ext cx="171247" cy="107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6672" y="3431182"/>
            <a:ext cx="532989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206672" y="3499345"/>
            <a:ext cx="5329898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호출 위치로 돌아옴</a:t>
            </a:r>
            <a:endParaRPr lang="ko-KR" sz="1200" dirty="0"/>
          </a:p>
        </p:txBody>
      </p:sp>
      <p:sp>
        <p:nvSpPr>
          <p:cNvPr id="22" name="Text 20"/>
          <p:cNvSpPr/>
          <p:nvPr/>
        </p:nvSpPr>
        <p:spPr>
          <a:xfrm>
            <a:off x="6206672" y="3803313"/>
            <a:ext cx="171247" cy="107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06672" y="3936067"/>
            <a:ext cx="532989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206672" y="4004231"/>
            <a:ext cx="5329898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"3. 함수 호출 후" 출력</a:t>
            </a:r>
            <a:endParaRPr lang="ko-KR" sz="1200" dirty="0"/>
          </a:p>
        </p:txBody>
      </p:sp>
      <p:sp>
        <p:nvSpPr>
          <p:cNvPr id="25" name="Shape 23"/>
          <p:cNvSpPr/>
          <p:nvPr/>
        </p:nvSpPr>
        <p:spPr>
          <a:xfrm>
            <a:off x="6206672" y="4480008"/>
            <a:ext cx="5329898" cy="226417"/>
          </a:xfrm>
          <a:prstGeom prst="roundRect">
            <a:avLst>
              <a:gd name="adj" fmla="val 34053"/>
            </a:avLst>
          </a:prstGeom>
          <a:solidFill>
            <a:srgbClr val="E1E1EA"/>
          </a:solidFill>
          <a:ln/>
        </p:spPr>
      </p:sp>
      <p:sp>
        <p:nvSpPr>
          <p:cNvPr id="27" name="Text 24"/>
          <p:cNvSpPr/>
          <p:nvPr/>
        </p:nvSpPr>
        <p:spPr>
          <a:xfrm>
            <a:off x="6484974" y="4541225"/>
            <a:ext cx="5575557" cy="10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호출 시 실행 흐름이 함수 내부로 이동했다가 다시 돌아옵니다.</a:t>
            </a:r>
            <a:endParaRPr lang="ko-KR" sz="12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41884"/>
            <a:ext cx="4149324" cy="246270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326424" y="4581056"/>
            <a:ext cx="1528358" cy="39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호출 위치로 복귀</a:t>
            </a:r>
            <a:endParaRPr lang="ko-KR" sz="1250" dirty="0"/>
          </a:p>
        </p:txBody>
      </p:sp>
      <p:sp>
        <p:nvSpPr>
          <p:cNvPr id="30" name="Text 26"/>
          <p:cNvSpPr/>
          <p:nvPr/>
        </p:nvSpPr>
        <p:spPr>
          <a:xfrm>
            <a:off x="2249584" y="4581056"/>
            <a:ext cx="1031432" cy="19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내부 실행</a:t>
            </a:r>
            <a:endParaRPr lang="ko-KR" sz="1250" dirty="0"/>
          </a:p>
        </p:txBody>
      </p:sp>
      <p:sp>
        <p:nvSpPr>
          <p:cNvPr id="31" name="Text 27"/>
          <p:cNvSpPr/>
          <p:nvPr/>
        </p:nvSpPr>
        <p:spPr>
          <a:xfrm>
            <a:off x="928504" y="4581056"/>
            <a:ext cx="1031432" cy="19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호출</a:t>
            </a:r>
            <a:endParaRPr lang="ko-KR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매개변수(Parameter)와 인수(Argument)</a:t>
            </a:r>
            <a:endParaRPr lang="ko-KR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18096"/>
            <a:ext cx="5275527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050" dirty="0"/>
          </a:p>
        </p:txBody>
      </p:sp>
      <p:sp>
        <p:nvSpPr>
          <p:cNvPr id="4" name="Shape 2"/>
          <p:cNvSpPr/>
          <p:nvPr/>
        </p:nvSpPr>
        <p:spPr>
          <a:xfrm>
            <a:off x="661475" y="1559024"/>
            <a:ext cx="5275527" cy="885428"/>
          </a:xfrm>
          <a:prstGeom prst="roundRect">
            <a:avLst>
              <a:gd name="adj" fmla="val 1323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17740" y="1689199"/>
            <a:ext cx="4962996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print(f"{name}님, 안녕하세요")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greet("민수")</a:t>
            </a:r>
            <a:endParaRPr lang="ko-KR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817538"/>
            <a:ext cx="5275527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매개변수(Parameter)</a:t>
            </a:r>
            <a:endParaRPr lang="ko-KR" sz="2050" dirty="0"/>
          </a:p>
        </p:txBody>
      </p:sp>
      <p:sp>
        <p:nvSpPr>
          <p:cNvPr id="7" name="Text 5"/>
          <p:cNvSpPr/>
          <p:nvPr/>
        </p:nvSpPr>
        <p:spPr>
          <a:xfrm>
            <a:off x="661475" y="3245567"/>
            <a:ext cx="5275527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700"/>
              </a:spcAft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정의 부분에서 입력값을 받을 변수</a:t>
            </a:r>
            <a:endParaRPr lang="ko-KR" sz="12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 예제의 </a:t>
            </a:r>
            <a:r>
              <a:rPr lang="ko-KR" alt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3970742"/>
            <a:ext cx="5275527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인수(Argument)</a:t>
            </a:r>
            <a:endParaRPr lang="ko-KR" sz="2050" dirty="0"/>
          </a:p>
        </p:txBody>
      </p:sp>
      <p:sp>
        <p:nvSpPr>
          <p:cNvPr id="9" name="Text 7"/>
          <p:cNvSpPr/>
          <p:nvPr/>
        </p:nvSpPr>
        <p:spPr>
          <a:xfrm>
            <a:off x="661475" y="4398772"/>
            <a:ext cx="5275527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700"/>
              </a:spcAft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함수를 호출할 때 실제로 전달하는 값</a:t>
            </a:r>
            <a:endParaRPr lang="ko-KR" sz="12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 예제의 </a:t>
            </a:r>
            <a:r>
              <a:rPr lang="ko-KR" alt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"민수"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167283" y="1015603"/>
            <a:ext cx="5463046" cy="5388273"/>
          </a:xfrm>
          <a:prstGeom prst="roundRect">
            <a:avLst>
              <a:gd name="adj" fmla="val 348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97455" y="1118096"/>
            <a:ext cx="520270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기억법</a:t>
            </a:r>
            <a:endParaRPr lang="ko-KR" sz="2050" dirty="0"/>
          </a:p>
        </p:txBody>
      </p:sp>
      <p:sp>
        <p:nvSpPr>
          <p:cNvPr id="12" name="Text 10"/>
          <p:cNvSpPr/>
          <p:nvPr/>
        </p:nvSpPr>
        <p:spPr>
          <a:xfrm>
            <a:off x="6297455" y="1546126"/>
            <a:ext cx="5202703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70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Parameter</a:t>
            </a:r>
            <a:r>
              <a:rPr lang="ko-KR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받을 자리</a:t>
            </a:r>
            <a:endParaRPr lang="ko-KR" sz="1000" dirty="0"/>
          </a:p>
          <a:p>
            <a:pPr marL="0" indent="0" algn="l">
              <a:lnSpc>
                <a:spcPct val="119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</a:t>
            </a:r>
            <a:r>
              <a:rPr lang="ko-KR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실제로 넣는 값</a:t>
            </a:r>
            <a:endParaRPr lang="ko-KR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455" y="2126258"/>
            <a:ext cx="4162122" cy="41622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36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개의 매개변수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3368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633166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798465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 + b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print(add(10, 20))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208264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설명</a:t>
            </a:r>
            <a:endParaRPr lang="ko-KR" sz="2600" dirty="0"/>
          </a:p>
        </p:txBody>
      </p:sp>
      <p:sp>
        <p:nvSpPr>
          <p:cNvPr id="7" name="Text 5"/>
          <p:cNvSpPr/>
          <p:nvPr/>
        </p:nvSpPr>
        <p:spPr>
          <a:xfrm>
            <a:off x="661475" y="4787007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a, b: 매개변수 2개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 20: 인수 2개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함수는 입력값을 여러 개 받을 수 있습니다.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03368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</a:t>
            </a:r>
            <a:endParaRPr lang="ko-KR" sz="2600" dirty="0"/>
          </a:p>
        </p:txBody>
      </p:sp>
      <p:sp>
        <p:nvSpPr>
          <p:cNvPr id="9" name="Shape 7"/>
          <p:cNvSpPr/>
          <p:nvPr/>
        </p:nvSpPr>
        <p:spPr>
          <a:xfrm>
            <a:off x="6303904" y="2633166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502337" y="2798465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함수 add(첫번째수, 두번째수)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합계 = 첫번째수 + 두번째수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합계를 반환한다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3943648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2600" dirty="0"/>
          </a:p>
        </p:txBody>
      </p:sp>
      <p:sp>
        <p:nvSpPr>
          <p:cNvPr id="12" name="Text 10"/>
          <p:cNvSpPr/>
          <p:nvPr/>
        </p:nvSpPr>
        <p:spPr>
          <a:xfrm>
            <a:off x="6303904" y="4522391"/>
            <a:ext cx="5232666" cy="1033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</a:t>
            </a:r>
            <a:endParaRPr lang="en-US" sz="6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58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위치 인수(Positional Argument)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65945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765425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930723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introduce(name, job):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print(f"이름: {name}, 희망직무: {job}")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introduce("지민", "AI 개발자")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142410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특징</a:t>
            </a:r>
            <a:endParaRPr lang="ko-KR" sz="2600" dirty="0"/>
          </a:p>
        </p:txBody>
      </p:sp>
      <p:sp>
        <p:nvSpPr>
          <p:cNvPr id="7" name="Text 5"/>
          <p:cNvSpPr/>
          <p:nvPr/>
        </p:nvSpPr>
        <p:spPr>
          <a:xfrm>
            <a:off x="661475" y="4721153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전달하는 위치에 따라 매개변수와 값이 연결됩니다.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첫 번째 값 → 첫 번째 매개변수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번째 값 → 두 번째 매개변수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165945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잘못된 순서 예</a:t>
            </a:r>
            <a:endParaRPr lang="ko-KR" sz="2600" dirty="0"/>
          </a:p>
        </p:txBody>
      </p:sp>
      <p:sp>
        <p:nvSpPr>
          <p:cNvPr id="9" name="Shape 7"/>
          <p:cNvSpPr/>
          <p:nvPr/>
        </p:nvSpPr>
        <p:spPr>
          <a:xfrm>
            <a:off x="6303904" y="2765425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502337" y="2930723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introduce("AI 개발자", "지민")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407868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</a:t>
            </a:r>
            <a:endParaRPr lang="ko-KR" sz="2600" dirty="0"/>
          </a:p>
        </p:txBody>
      </p:sp>
      <p:sp>
        <p:nvSpPr>
          <p:cNvPr id="12" name="Text 10"/>
          <p:cNvSpPr/>
          <p:nvPr/>
        </p:nvSpPr>
        <p:spPr>
          <a:xfrm>
            <a:off x="6303904" y="465743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문법 오류는 없지만 의미가 뒤바뀝니다.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6303904" y="5108082"/>
            <a:ext cx="5232666" cy="644823"/>
          </a:xfrm>
          <a:prstGeom prst="roundRect">
            <a:avLst>
              <a:gd name="adj" fmla="val 23084"/>
            </a:avLst>
          </a:prstGeom>
          <a:solidFill>
            <a:srgbClr val="FCF2B5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5360494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41160" y="5298185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인수의 순서가 매개변수의 순서와 일치해야 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709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키워드 인수(Keyword Argument)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27176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926655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091954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introduce(name, job):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print(f"이름: {name}, 희망직무: {job}")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introduce(job="데이터 분석가", name="서연")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23713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특징</a:t>
            </a:r>
            <a:endParaRPr lang="ko-KR" sz="2600" dirty="0"/>
          </a:p>
        </p:txBody>
      </p:sp>
      <p:sp>
        <p:nvSpPr>
          <p:cNvPr id="7" name="Text 5"/>
          <p:cNvSpPr/>
          <p:nvPr/>
        </p:nvSpPr>
        <p:spPr>
          <a:xfrm>
            <a:off x="661475" y="4815880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매개변수 이름을 지정해서 값을 전달합니다.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호출 순서가 달라도 의미가 명확합니다.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2161877"/>
            <a:ext cx="5470785" cy="3298924"/>
          </a:xfrm>
          <a:prstGeom prst="roundRect">
            <a:avLst>
              <a:gd name="adj" fmla="val 721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50139" y="2327176"/>
            <a:ext cx="514019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장점</a:t>
            </a:r>
            <a:endParaRPr lang="ko-KR" sz="2600" dirty="0"/>
          </a:p>
        </p:txBody>
      </p:sp>
      <p:sp>
        <p:nvSpPr>
          <p:cNvPr id="10" name="Text 8"/>
          <p:cNvSpPr/>
          <p:nvPr/>
        </p:nvSpPr>
        <p:spPr>
          <a:xfrm>
            <a:off x="6350139" y="2905919"/>
            <a:ext cx="514019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인수가 많을 때 가독성이 좋아집니다.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어떤 값이 어떤 역할인지 쉽게 알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36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기본값 매개변수(Default Parameter)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3368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633166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798465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message="안녕하세요"):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print(f"{name}님, {message}")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greet("민수")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greet("지수", "반갑습니다")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208264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설명</a:t>
            </a:r>
            <a:endParaRPr lang="ko-KR" sz="2600" dirty="0"/>
          </a:p>
        </p:txBody>
      </p:sp>
      <p:sp>
        <p:nvSpPr>
          <p:cNvPr id="7" name="Text 5"/>
          <p:cNvSpPr/>
          <p:nvPr/>
        </p:nvSpPr>
        <p:spPr>
          <a:xfrm>
            <a:off x="661475" y="4787007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message에 기본값 "안녕하세요"를 지정했습니다.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인수를 생략하면 기본값을 사용합니다.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필요하면 다른 값을 전달할 수 있습니다.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03368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 사례</a:t>
            </a:r>
            <a:endParaRPr lang="ko-KR" sz="2600" dirty="0"/>
          </a:p>
        </p:txBody>
      </p:sp>
      <p:sp>
        <p:nvSpPr>
          <p:cNvPr id="9" name="Shape 7"/>
          <p:cNvSpPr/>
          <p:nvPr/>
        </p:nvSpPr>
        <p:spPr>
          <a:xfrm>
            <a:off x="6303904" y="2633166"/>
            <a:ext cx="253368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9198" y="2798465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 형식의 기본값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9002884" y="2633166"/>
            <a:ext cx="253368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68178" y="2798465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할인율의 기본값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6303904" y="3387527"/>
            <a:ext cx="523266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9198" y="3552825"/>
            <a:ext cx="4902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언어 설정의 기본값</a:t>
            </a:r>
            <a:endParaRPr lang="ko-KR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09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return: 함수의 결과를 돌려주기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339056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050" dirty="0"/>
          </a:p>
        </p:txBody>
      </p:sp>
      <p:sp>
        <p:nvSpPr>
          <p:cNvPr id="4" name="Shape 2"/>
          <p:cNvSpPr/>
          <p:nvPr/>
        </p:nvSpPr>
        <p:spPr>
          <a:xfrm>
            <a:off x="661475" y="1788815"/>
            <a:ext cx="5273047" cy="1111448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0221" y="1921073"/>
            <a:ext cx="4955555" cy="84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add(10, 20)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3243769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return의 역할</a:t>
            </a:r>
            <a:endParaRPr lang="ko-KR" sz="2050" dirty="0"/>
          </a:p>
        </p:txBody>
      </p:sp>
      <p:sp>
        <p:nvSpPr>
          <p:cNvPr id="7" name="Text 5"/>
          <p:cNvSpPr/>
          <p:nvPr/>
        </p:nvSpPr>
        <p:spPr>
          <a:xfrm>
            <a:off x="661475" y="3680232"/>
            <a:ext cx="5273047" cy="418009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 lnSpcReduction="10000"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내부의 처리 결과를 함수 밖으로 전달합니다.</a:t>
            </a:r>
            <a:endParaRPr lang="ko-KR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return이 실행되면 함수 실행이 종료됩니다.</a:t>
            </a:r>
            <a:endParaRPr lang="ko-KR" sz="1000" dirty="0"/>
          </a:p>
        </p:txBody>
      </p:sp>
      <p:sp>
        <p:nvSpPr>
          <p:cNvPr id="8" name="Text 6"/>
          <p:cNvSpPr/>
          <p:nvPr/>
        </p:nvSpPr>
        <p:spPr>
          <a:xfrm>
            <a:off x="661475" y="4361949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반환값(Return Value)</a:t>
            </a:r>
            <a:endParaRPr lang="ko-KR" sz="2050" dirty="0"/>
          </a:p>
        </p:txBody>
      </p:sp>
      <p:sp>
        <p:nvSpPr>
          <p:cNvPr id="9" name="Text 7"/>
          <p:cNvSpPr/>
          <p:nvPr/>
        </p:nvSpPr>
        <p:spPr>
          <a:xfrm>
            <a:off x="661475" y="4798412"/>
            <a:ext cx="58826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함수가 호출한 곳으로 돌려주는 값</a:t>
            </a:r>
            <a:endParaRPr lang="ko-KR" sz="1000" dirty="0"/>
          </a:p>
        </p:txBody>
      </p:sp>
      <p:sp>
        <p:nvSpPr>
          <p:cNvPr id="10" name="Shape 8"/>
          <p:cNvSpPr/>
          <p:nvPr/>
        </p:nvSpPr>
        <p:spPr>
          <a:xfrm>
            <a:off x="6168275" y="1233289"/>
            <a:ext cx="5463542" cy="4963517"/>
          </a:xfrm>
          <a:prstGeom prst="roundRect">
            <a:avLst>
              <a:gd name="adj" fmla="val 383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00531" y="1352352"/>
            <a:ext cx="5199032" cy="447080"/>
          </a:xfrm>
          <a:prstGeom prst="roundRect">
            <a:avLst>
              <a:gd name="adj" fmla="val 26635"/>
            </a:avLst>
          </a:prstGeom>
          <a:solidFill>
            <a:srgbClr val="34344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786" y="1515070"/>
            <a:ext cx="165294" cy="1322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30336" y="1480641"/>
            <a:ext cx="52465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계산을 담당하는 함수는 print()보다 return을 활용하면 재사용성이 높아집니다.</a:t>
            </a:r>
            <a:endParaRPr lang="ko-KR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531" y="1918494"/>
            <a:ext cx="4159146" cy="4159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67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print()와 return의 차이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13669"/>
            <a:ext cx="5242687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print()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661475" y="1955602"/>
            <a:ext cx="5242687" cy="542528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화면에 값을 보여주는 함수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 자체가 목적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730482"/>
            <a:ext cx="5242687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61475" y="3272414"/>
            <a:ext cx="5242687" cy="542528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함수의 결과값을 호출한 곳으로 전달</a:t>
            </a:r>
            <a:endParaRPr lang="ko-KR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다른 계산에 다시 사용할 수 있음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6293883" y="1413669"/>
            <a:ext cx="5242687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비교</a:t>
            </a:r>
            <a:endParaRPr lang="ko-KR" sz="2450" dirty="0"/>
          </a:p>
        </p:txBody>
      </p:sp>
      <p:sp>
        <p:nvSpPr>
          <p:cNvPr id="8" name="Shape 6"/>
          <p:cNvSpPr/>
          <p:nvPr/>
        </p:nvSpPr>
        <p:spPr>
          <a:xfrm>
            <a:off x="6293883" y="1974255"/>
            <a:ext cx="5242687" cy="1319808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82394" y="2131318"/>
            <a:ext cx="4865665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add_print(a, b):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 + b)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add_return(a, b):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93883" y="3461941"/>
            <a:ext cx="5242687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</a:t>
            </a:r>
            <a:endParaRPr lang="ko-KR" sz="2450" dirty="0"/>
          </a:p>
        </p:txBody>
      </p:sp>
      <p:sp>
        <p:nvSpPr>
          <p:cNvPr id="11" name="Shape 9"/>
          <p:cNvSpPr/>
          <p:nvPr/>
        </p:nvSpPr>
        <p:spPr>
          <a:xfrm>
            <a:off x="6293883" y="4022527"/>
            <a:ext cx="5242687" cy="816967"/>
          </a:xfrm>
          <a:prstGeom prst="roundRect">
            <a:avLst>
              <a:gd name="adj" fmla="val 1730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482394" y="4179590"/>
            <a:ext cx="4865665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add_return(10, 20)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 * 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93883" y="5007372"/>
            <a:ext cx="5242687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질문</a:t>
            </a:r>
            <a:endParaRPr lang="ko-KR" sz="2450" dirty="0"/>
          </a:p>
        </p:txBody>
      </p:sp>
      <p:sp>
        <p:nvSpPr>
          <p:cNvPr id="14" name="Text 12"/>
          <p:cNvSpPr/>
          <p:nvPr/>
        </p:nvSpPr>
        <p:spPr>
          <a:xfrm>
            <a:off x="6293883" y="5549305"/>
            <a:ext cx="5242687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결과를 나중에 다시 사용해야 하는가?</a:t>
            </a:r>
            <a:endParaRPr lang="ko-KR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그렇다면 return을 사용합니다.</a:t>
            </a:r>
            <a:endParaRPr lang="ko-KR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6250"/>
            <a:ext cx="10868745" cy="325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return을 만나면 함수는 종료됩니다</a:t>
            </a:r>
            <a:endParaRPr lang="ko-KR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965498"/>
            <a:ext cx="530737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1299468"/>
            <a:ext cx="5307376" cy="874911"/>
          </a:xfrm>
          <a:prstGeom prst="roundRect">
            <a:avLst>
              <a:gd name="adj" fmla="val 1071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86388" y="1403548"/>
            <a:ext cx="505754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check_score(score):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80: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"PASS"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"RETRY"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1475" y="2248098"/>
            <a:ext cx="530737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동작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2573834"/>
            <a:ext cx="5307376" cy="294382"/>
          </a:xfrm>
          <a:prstGeom prst="rect">
            <a:avLst/>
          </a:prstGeom>
          <a:noFill/>
          <a:ln/>
        </p:spPr>
        <p:txBody>
          <a:bodyPr wrap="square" lIns="0" tIns="41658" rIns="0" bIns="0" rtlCol="0" anchor="t">
            <a:normAutofit lnSpcReduction="10000"/>
          </a:bodyPr>
          <a:lstStyle/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ko-KR" altLang="en-US" sz="8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score가 80 이상이면 "PASS"를 반환하고 즉시 종료됩니다.</a:t>
            </a:r>
            <a:endParaRPr lang="ko-KR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ko-KR" altLang="en-US" sz="8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그렇지 않으면 아래의 "RETRY"를 반환합니다.</a:t>
            </a:r>
            <a:endParaRPr lang="ko-KR" sz="800" dirty="0"/>
          </a:p>
        </p:txBody>
      </p:sp>
      <p:sp>
        <p:nvSpPr>
          <p:cNvPr id="8" name="Text 6"/>
          <p:cNvSpPr/>
          <p:nvPr/>
        </p:nvSpPr>
        <p:spPr>
          <a:xfrm>
            <a:off x="6229194" y="965498"/>
            <a:ext cx="530737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 예제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229194" y="1299468"/>
            <a:ext cx="5307376" cy="708223"/>
          </a:xfrm>
          <a:prstGeom prst="roundRect">
            <a:avLst>
              <a:gd name="adj" fmla="val 1323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354107" y="1403548"/>
            <a:ext cx="5057549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test():</a:t>
            </a:r>
            <a:endParaRPr lang="ko-KR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10</a:t>
            </a:r>
            <a:endParaRPr lang="ko-KR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print("이 코드는 실행되지 않습니다")</a:t>
            </a:r>
            <a:endParaRPr lang="ko-KR" sz="800" dirty="0"/>
          </a:p>
        </p:txBody>
      </p:sp>
      <p:sp>
        <p:nvSpPr>
          <p:cNvPr id="11" name="Shape 9"/>
          <p:cNvSpPr/>
          <p:nvPr/>
        </p:nvSpPr>
        <p:spPr>
          <a:xfrm>
            <a:off x="6229194" y="2081411"/>
            <a:ext cx="5307376" cy="305594"/>
          </a:xfrm>
          <a:prstGeom prst="roundRect">
            <a:avLst>
              <a:gd name="adj" fmla="val 30672"/>
            </a:avLst>
          </a:prstGeom>
          <a:solidFill>
            <a:srgbClr val="FCF2B5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72" y="2183408"/>
            <a:ext cx="130172" cy="104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67522" y="2166342"/>
            <a:ext cx="54745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아래의 코드는 실행되지 않습니다.</a:t>
            </a:r>
            <a:endParaRPr lang="ko-KR" sz="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599" y="2964855"/>
            <a:ext cx="6950496" cy="34167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21657" y="3280101"/>
            <a:ext cx="1589501" cy="19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RETRY 반환</a:t>
            </a:r>
            <a:endParaRPr lang="ko-KR" sz="1250" dirty="0"/>
          </a:p>
        </p:txBody>
      </p:sp>
      <p:sp>
        <p:nvSpPr>
          <p:cNvPr id="16" name="Text 12"/>
          <p:cNvSpPr/>
          <p:nvPr/>
        </p:nvSpPr>
        <p:spPr>
          <a:xfrm>
            <a:off x="6021657" y="3535311"/>
            <a:ext cx="3214324" cy="129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그렇지 않으면 종료</a:t>
            </a:r>
            <a:endParaRPr lang="ko-KR" sz="1000" dirty="0"/>
          </a:p>
        </p:txBody>
      </p:sp>
      <p:sp>
        <p:nvSpPr>
          <p:cNvPr id="17" name="Text 13"/>
          <p:cNvSpPr/>
          <p:nvPr/>
        </p:nvSpPr>
        <p:spPr>
          <a:xfrm>
            <a:off x="6021657" y="4078403"/>
            <a:ext cx="1589501" cy="19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 반환</a:t>
            </a:r>
            <a:endParaRPr lang="ko-KR" sz="1250" dirty="0"/>
          </a:p>
        </p:txBody>
      </p:sp>
      <p:sp>
        <p:nvSpPr>
          <p:cNvPr id="18" name="Text 14"/>
          <p:cNvSpPr/>
          <p:nvPr/>
        </p:nvSpPr>
        <p:spPr>
          <a:xfrm>
            <a:off x="6021657" y="4333613"/>
            <a:ext cx="3214324" cy="129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이상인 경우 즉시 종료</a:t>
            </a:r>
            <a:endParaRPr lang="ko-KR" sz="1000" dirty="0"/>
          </a:p>
        </p:txBody>
      </p:sp>
      <p:sp>
        <p:nvSpPr>
          <p:cNvPr id="19" name="Text 15"/>
          <p:cNvSpPr/>
          <p:nvPr/>
        </p:nvSpPr>
        <p:spPr>
          <a:xfrm>
            <a:off x="6021657" y="4876706"/>
            <a:ext cx="1589501" cy="19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 검사</a:t>
            </a:r>
            <a:endParaRPr lang="ko-KR" sz="1250" dirty="0"/>
          </a:p>
        </p:txBody>
      </p:sp>
      <p:sp>
        <p:nvSpPr>
          <p:cNvPr id="20" name="Text 16"/>
          <p:cNvSpPr/>
          <p:nvPr/>
        </p:nvSpPr>
        <p:spPr>
          <a:xfrm>
            <a:off x="6021657" y="5131916"/>
            <a:ext cx="3214324" cy="129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&gt;= 80 인가?</a:t>
            </a:r>
            <a:endParaRPr lang="ko-KR" sz="1000" dirty="0"/>
          </a:p>
        </p:txBody>
      </p:sp>
      <p:sp>
        <p:nvSpPr>
          <p:cNvPr id="21" name="Text 17"/>
          <p:cNvSpPr/>
          <p:nvPr/>
        </p:nvSpPr>
        <p:spPr>
          <a:xfrm>
            <a:off x="6028721" y="5675009"/>
            <a:ext cx="1589501" cy="19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 점수</a:t>
            </a:r>
            <a:endParaRPr lang="ko-KR" sz="1250" dirty="0"/>
          </a:p>
        </p:txBody>
      </p:sp>
      <p:sp>
        <p:nvSpPr>
          <p:cNvPr id="22" name="Text 18"/>
          <p:cNvSpPr/>
          <p:nvPr/>
        </p:nvSpPr>
        <p:spPr>
          <a:xfrm>
            <a:off x="6028721" y="5930219"/>
            <a:ext cx="3214324" cy="129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ko-KR" altLang="en-US" sz="10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값을 확인</a:t>
            </a:r>
            <a:endParaRPr lang="ko-KR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02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값을 반환하는 방법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30301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529780"/>
            <a:ext cx="5232666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695079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get_result(kor, eng):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kor + eng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average = total / 2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total, average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sum_score, avg_score = get_result(90, 80)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print(sum_score, avg_score)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634111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설명</a:t>
            </a:r>
            <a:endParaRPr lang="ko-KR" sz="2600" dirty="0"/>
          </a:p>
        </p:txBody>
      </p:sp>
      <p:sp>
        <p:nvSpPr>
          <p:cNvPr id="7" name="Text 5"/>
          <p:cNvSpPr/>
          <p:nvPr/>
        </p:nvSpPr>
        <p:spPr>
          <a:xfrm>
            <a:off x="661475" y="5212854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뒤에 여러 값을 쉼표로 구분할 수 있습니다.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호출 시 여러 변수로 나누어 받을 수 있습니다.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1765002"/>
            <a:ext cx="5470785" cy="4092773"/>
          </a:xfrm>
          <a:prstGeom prst="roundRect">
            <a:avLst>
              <a:gd name="adj" fmla="val 581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50139" y="1930301"/>
            <a:ext cx="514019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용어</a:t>
            </a:r>
            <a:endParaRPr lang="ko-KR" sz="2600" dirty="0"/>
          </a:p>
        </p:txBody>
      </p:sp>
      <p:sp>
        <p:nvSpPr>
          <p:cNvPr id="10" name="Text 8"/>
          <p:cNvSpPr/>
          <p:nvPr/>
        </p:nvSpPr>
        <p:spPr>
          <a:xfrm>
            <a:off x="6350139" y="2509044"/>
            <a:ext cx="514019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Packing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여러 값을 하나로 묶음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Unpacking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묶인 값을 여러 변수에 나누어 저장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653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변수의 범위(Scope)</a:t>
            </a:r>
            <a:endParaRPr lang="ko-KR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90910"/>
            <a:ext cx="5293188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1461294"/>
            <a:ext cx="590277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변수를 사용할 수 있는 유효 범위입니다.</a:t>
            </a:r>
            <a:endParaRPr lang="ko-KR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1924159"/>
            <a:ext cx="5293188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지역변수(Local Variable)</a:t>
            </a:r>
            <a:endParaRPr lang="ko-KR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294543"/>
            <a:ext cx="5293188" cy="343198"/>
          </a:xfrm>
          <a:prstGeom prst="rect">
            <a:avLst/>
          </a:prstGeom>
          <a:noFill/>
          <a:ln/>
        </p:spPr>
        <p:txBody>
          <a:bodyPr wrap="square" lIns="0" tIns="46310" rIns="0" bIns="0" rtlCol="0" anchor="t">
            <a:normAutofit lnSpcReduction="10000"/>
          </a:bodyPr>
          <a:lstStyle/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내부에서 만들어진 변수</a:t>
            </a:r>
            <a:endParaRPr lang="ko-KR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일반적으로 함수 내부에서만 사용 가능</a:t>
            </a:r>
            <a:endParaRPr lang="ko-KR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2943146"/>
            <a:ext cx="5293188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전역변수(Global Variable)</a:t>
            </a:r>
            <a:endParaRPr lang="ko-KR" sz="1800" dirty="0"/>
          </a:p>
        </p:txBody>
      </p:sp>
      <p:sp>
        <p:nvSpPr>
          <p:cNvPr id="8" name="Text 6"/>
          <p:cNvSpPr/>
          <p:nvPr/>
        </p:nvSpPr>
        <p:spPr>
          <a:xfrm>
            <a:off x="661475" y="3313530"/>
            <a:ext cx="5293188" cy="343198"/>
          </a:xfrm>
          <a:prstGeom prst="rect">
            <a:avLst/>
          </a:prstGeom>
          <a:noFill/>
          <a:ln/>
        </p:spPr>
        <p:txBody>
          <a:bodyPr wrap="square" lIns="0" tIns="46310" rIns="0" bIns="0" rtlCol="0" anchor="t">
            <a:normAutofit lnSpcReduction="10000"/>
          </a:bodyPr>
          <a:lstStyle/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밖에서 만들어진 변수</a:t>
            </a:r>
            <a:endParaRPr lang="ko-KR" sz="900" dirty="0"/>
          </a:p>
          <a:p>
            <a:pPr marL="182880" indent="-182880" algn="l">
              <a:lnSpc>
                <a:spcPct val="113000"/>
              </a:lnSpc>
              <a:buSzPct val="100000"/>
              <a:buChar char="•"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위치에서 참조 가능</a:t>
            </a:r>
            <a:endParaRPr lang="ko-KR" sz="900" dirty="0"/>
          </a:p>
        </p:txBody>
      </p:sp>
      <p:sp>
        <p:nvSpPr>
          <p:cNvPr id="9" name="Text 7"/>
          <p:cNvSpPr/>
          <p:nvPr/>
        </p:nvSpPr>
        <p:spPr>
          <a:xfrm>
            <a:off x="6243382" y="1090910"/>
            <a:ext cx="5293188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800" dirty="0"/>
          </a:p>
        </p:txBody>
      </p:sp>
      <p:sp>
        <p:nvSpPr>
          <p:cNvPr id="10" name="Shape 8"/>
          <p:cNvSpPr/>
          <p:nvPr/>
        </p:nvSpPr>
        <p:spPr>
          <a:xfrm>
            <a:off x="6243382" y="1471414"/>
            <a:ext cx="5293188" cy="972344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382285" y="1587103"/>
            <a:ext cx="5015382" cy="74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= "AI휴먼"  # 전역변수</a:t>
            </a:r>
            <a:endParaRPr lang="ko-KR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show():</a:t>
            </a:r>
            <a:endParaRPr lang="ko-KR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day = 6  # 지역변수</a:t>
            </a:r>
            <a:endParaRPr lang="ko-KR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print(course, day)</a:t>
            </a:r>
            <a:endParaRPr lang="ko-KR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382" y="2534841"/>
            <a:ext cx="3705232" cy="37053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3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지역변수(Local Variable)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92412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591891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757190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calculate():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100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print(result)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166989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result는 calculate() 내부에서 만든 지역변수입니다.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992412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잘못된 예</a:t>
            </a:r>
            <a:endParaRPr lang="ko-KR" sz="2600" dirty="0"/>
          </a:p>
        </p:txBody>
      </p:sp>
      <p:sp>
        <p:nvSpPr>
          <p:cNvPr id="8" name="Shape 6"/>
          <p:cNvSpPr/>
          <p:nvPr/>
        </p:nvSpPr>
        <p:spPr>
          <a:xfrm>
            <a:off x="6303904" y="2591891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502337" y="2757190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3373140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예상 오류</a:t>
            </a:r>
            <a:endParaRPr lang="ko-KR" sz="2600" dirty="0"/>
          </a:p>
        </p:txBody>
      </p:sp>
      <p:sp>
        <p:nvSpPr>
          <p:cNvPr id="11" name="Shape 9"/>
          <p:cNvSpPr/>
          <p:nvPr/>
        </p:nvSpPr>
        <p:spPr>
          <a:xfrm>
            <a:off x="6303904" y="3972620"/>
            <a:ext cx="5232666" cy="644823"/>
          </a:xfrm>
          <a:prstGeom prst="roundRect">
            <a:avLst>
              <a:gd name="adj" fmla="val 23084"/>
            </a:avLst>
          </a:prstGeom>
          <a:solidFill>
            <a:srgbClr val="FFB3B4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4225032"/>
            <a:ext cx="206667" cy="165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41160" y="4162723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NameError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3904" y="480347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이유</a:t>
            </a:r>
            <a:endParaRPr lang="ko-KR" sz="2600" dirty="0"/>
          </a:p>
        </p:txBody>
      </p:sp>
      <p:sp>
        <p:nvSpPr>
          <p:cNvPr id="15" name="Text 12"/>
          <p:cNvSpPr/>
          <p:nvPr/>
        </p:nvSpPr>
        <p:spPr>
          <a:xfrm>
            <a:off x="6303904" y="538222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밖에서는 지역변수 result를 찾을 수 없습니다.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827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전역변수와 global 키워드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78348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777827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943126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increase():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count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+=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352925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설명</a:t>
            </a:r>
            <a:endParaRPr lang="ko-KR" sz="2600" dirty="0"/>
          </a:p>
        </p:txBody>
      </p:sp>
      <p:sp>
        <p:nvSpPr>
          <p:cNvPr id="7" name="Text 5"/>
          <p:cNvSpPr/>
          <p:nvPr/>
        </p:nvSpPr>
        <p:spPr>
          <a:xfrm>
            <a:off x="661475" y="4931668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내부에서 전역변수 값을 변경하려면 global 키워드를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사용할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있습니다.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2013049"/>
            <a:ext cx="5470785" cy="3596680"/>
          </a:xfrm>
          <a:prstGeom prst="roundRect">
            <a:avLst>
              <a:gd name="adj" fmla="val 662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50139" y="2178348"/>
            <a:ext cx="514019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하지만 권장 원칙</a:t>
            </a:r>
            <a:endParaRPr lang="ko-KR" sz="2600" dirty="0"/>
          </a:p>
        </p:txBody>
      </p:sp>
      <p:sp>
        <p:nvSpPr>
          <p:cNvPr id="10" name="Text 8"/>
          <p:cNvSpPr/>
          <p:nvPr/>
        </p:nvSpPr>
        <p:spPr>
          <a:xfrm>
            <a:off x="6350139" y="2757091"/>
            <a:ext cx="5140196" cy="85169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가능한 한 전역변수 변경을 줄입니다.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입력은 매개변수로 받고 결과는 return으로 반환하는 구조가 이해하기 쉽습니다.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6350139" y="3774083"/>
            <a:ext cx="514019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더 좋은 구조</a:t>
            </a:r>
            <a:endParaRPr lang="ko-KR" sz="2600" dirty="0"/>
          </a:p>
        </p:txBody>
      </p:sp>
      <p:sp>
        <p:nvSpPr>
          <p:cNvPr id="12" name="Shape 10"/>
          <p:cNvSpPr/>
          <p:nvPr/>
        </p:nvSpPr>
        <p:spPr>
          <a:xfrm>
            <a:off x="6350139" y="4373562"/>
            <a:ext cx="5140196" cy="859830"/>
          </a:xfrm>
          <a:prstGeom prst="roundRect">
            <a:avLst>
              <a:gd name="adj" fmla="val 17312"/>
            </a:avLst>
          </a:prstGeom>
          <a:solidFill>
            <a:srgbClr val="282834"/>
          </a:solidFill>
          <a:ln/>
        </p:spPr>
      </p:sp>
      <p:sp>
        <p:nvSpPr>
          <p:cNvPr id="13" name="Text 11"/>
          <p:cNvSpPr/>
          <p:nvPr/>
        </p:nvSpPr>
        <p:spPr>
          <a:xfrm>
            <a:off x="6548571" y="4538861"/>
            <a:ext cx="47433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increase(count):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count + 1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+ 조건문: 성적 등급 판정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45580"/>
            <a:ext cx="528306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1950" dirty="0"/>
          </a:p>
        </p:txBody>
      </p:sp>
      <p:sp>
        <p:nvSpPr>
          <p:cNvPr id="4" name="Shape 2"/>
          <p:cNvSpPr/>
          <p:nvPr/>
        </p:nvSpPr>
        <p:spPr>
          <a:xfrm>
            <a:off x="661475" y="1560215"/>
            <a:ext cx="5283068" cy="2430859"/>
          </a:xfrm>
          <a:prstGeom prst="roundRect">
            <a:avLst>
              <a:gd name="adj" fmla="val 459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10299" y="1684238"/>
            <a:ext cx="4985419" cy="2182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get_grade(score):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90: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"A"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score &gt;= 80: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"B"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score &gt;= 70: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"C"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score &gt;= 60: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"D"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"F"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4095651"/>
            <a:ext cx="528306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호출</a:t>
            </a:r>
            <a:endParaRPr lang="ko-KR" sz="1950" dirty="0"/>
          </a:p>
        </p:txBody>
      </p:sp>
      <p:sp>
        <p:nvSpPr>
          <p:cNvPr id="7" name="Shape 5"/>
          <p:cNvSpPr/>
          <p:nvPr/>
        </p:nvSpPr>
        <p:spPr>
          <a:xfrm>
            <a:off x="661475" y="4510286"/>
            <a:ext cx="5283068" cy="446484"/>
          </a:xfrm>
          <a:prstGeom prst="roundRect">
            <a:avLst>
              <a:gd name="adj" fmla="val 25004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10299" y="4634309"/>
            <a:ext cx="55950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print(get_grade(87))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5061347"/>
            <a:ext cx="528306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1950" dirty="0"/>
          </a:p>
        </p:txBody>
      </p:sp>
      <p:sp>
        <p:nvSpPr>
          <p:cNvPr id="10" name="Text 8"/>
          <p:cNvSpPr/>
          <p:nvPr/>
        </p:nvSpPr>
        <p:spPr>
          <a:xfrm>
            <a:off x="661475" y="5464373"/>
            <a:ext cx="5283068" cy="77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</a:t>
            </a:r>
            <a:endParaRPr lang="en-US" sz="4850" dirty="0"/>
          </a:p>
        </p:txBody>
      </p:sp>
      <p:sp>
        <p:nvSpPr>
          <p:cNvPr id="11" name="Shape 9"/>
          <p:cNvSpPr/>
          <p:nvPr/>
        </p:nvSpPr>
        <p:spPr>
          <a:xfrm>
            <a:off x="6253502" y="1157188"/>
            <a:ext cx="5283068" cy="708422"/>
          </a:xfrm>
          <a:prstGeom prst="roundRect">
            <a:avLst>
              <a:gd name="adj" fmla="val 15759"/>
            </a:avLst>
          </a:prstGeom>
          <a:solidFill>
            <a:srgbClr val="FFFFFF"/>
          </a:solidFill>
          <a:ln/>
          <a:effectLst>
            <a:outerShdw blurRad="1854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7522" y="1281212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90점 이상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6377522" y="1567954"/>
            <a:ext cx="503502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3502" y="1958578"/>
            <a:ext cx="5283068" cy="708422"/>
          </a:xfrm>
          <a:prstGeom prst="roundRect">
            <a:avLst>
              <a:gd name="adj" fmla="val 15759"/>
            </a:avLst>
          </a:prstGeom>
          <a:solidFill>
            <a:srgbClr val="FFFFFF"/>
          </a:solidFill>
          <a:ln/>
          <a:effectLst>
            <a:outerShdw blurRad="1854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7522" y="2082602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80점 이상</a:t>
            </a:r>
            <a:endParaRPr lang="ko-KR" sz="1200" dirty="0"/>
          </a:p>
        </p:txBody>
      </p:sp>
      <p:sp>
        <p:nvSpPr>
          <p:cNvPr id="16" name="Text 14"/>
          <p:cNvSpPr/>
          <p:nvPr/>
        </p:nvSpPr>
        <p:spPr>
          <a:xfrm>
            <a:off x="6377522" y="2369344"/>
            <a:ext cx="503502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53502" y="2759968"/>
            <a:ext cx="5283068" cy="708422"/>
          </a:xfrm>
          <a:prstGeom prst="roundRect">
            <a:avLst>
              <a:gd name="adj" fmla="val 15759"/>
            </a:avLst>
          </a:prstGeom>
          <a:solidFill>
            <a:srgbClr val="FFFFFF"/>
          </a:solidFill>
          <a:ln/>
          <a:effectLst>
            <a:outerShdw blurRad="1854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77522" y="2883991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70점 이상</a:t>
            </a:r>
            <a:endParaRPr lang="ko-KR" sz="1200" dirty="0"/>
          </a:p>
        </p:txBody>
      </p:sp>
      <p:sp>
        <p:nvSpPr>
          <p:cNvPr id="19" name="Text 17"/>
          <p:cNvSpPr/>
          <p:nvPr/>
        </p:nvSpPr>
        <p:spPr>
          <a:xfrm>
            <a:off x="6377522" y="3170734"/>
            <a:ext cx="503502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53502" y="3561358"/>
            <a:ext cx="5283068" cy="708422"/>
          </a:xfrm>
          <a:prstGeom prst="roundRect">
            <a:avLst>
              <a:gd name="adj" fmla="val 15759"/>
            </a:avLst>
          </a:prstGeom>
          <a:solidFill>
            <a:srgbClr val="FFFFFF"/>
          </a:solidFill>
          <a:ln/>
          <a:effectLst>
            <a:outerShdw blurRad="1854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77522" y="3685381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60점 이상</a:t>
            </a:r>
            <a:endParaRPr lang="ko-KR" sz="1200" dirty="0"/>
          </a:p>
        </p:txBody>
      </p:sp>
      <p:sp>
        <p:nvSpPr>
          <p:cNvPr id="22" name="Text 20"/>
          <p:cNvSpPr/>
          <p:nvPr/>
        </p:nvSpPr>
        <p:spPr>
          <a:xfrm>
            <a:off x="6377522" y="3972123"/>
            <a:ext cx="503502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3502" y="4362748"/>
            <a:ext cx="5283068" cy="708422"/>
          </a:xfrm>
          <a:prstGeom prst="roundRect">
            <a:avLst>
              <a:gd name="adj" fmla="val 15759"/>
            </a:avLst>
          </a:prstGeom>
          <a:solidFill>
            <a:srgbClr val="FFFFFF"/>
          </a:solidFill>
          <a:ln/>
          <a:effectLst>
            <a:outerShdw blurRad="18542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77522" y="4486771"/>
            <a:ext cx="503502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60점 미만</a:t>
            </a:r>
            <a:endParaRPr lang="ko-KR" sz="1200" dirty="0"/>
          </a:p>
        </p:txBody>
      </p:sp>
      <p:sp>
        <p:nvSpPr>
          <p:cNvPr id="25" name="Text 23"/>
          <p:cNvSpPr/>
          <p:nvPr/>
        </p:nvSpPr>
        <p:spPr>
          <a:xfrm>
            <a:off x="6377522" y="4773513"/>
            <a:ext cx="503502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3502" y="5175746"/>
            <a:ext cx="589265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ko-KR" alt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이름만 봐도 역할을 이해할 수 있도록 작성합니다.</a:t>
            </a:r>
            <a:endParaRPr lang="ko-KR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85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+ 리스트: 평균 계산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55812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예제</a:t>
            </a:r>
            <a:endParaRPr lang="ko-KR" sz="2050" dirty="0"/>
          </a:p>
        </p:txBody>
      </p:sp>
      <p:sp>
        <p:nvSpPr>
          <p:cNvPr id="4" name="Shape 2"/>
          <p:cNvSpPr/>
          <p:nvPr/>
        </p:nvSpPr>
        <p:spPr>
          <a:xfrm>
            <a:off x="661475" y="1705570"/>
            <a:ext cx="5273047" cy="1323181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0221" y="1837829"/>
            <a:ext cx="4955555" cy="1058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get_average(scores):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score in scores: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score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 / len(scores)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3147814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호출</a:t>
            </a:r>
            <a:endParaRPr lang="ko-KR" sz="2050" dirty="0"/>
          </a:p>
        </p:txBody>
      </p:sp>
      <p:sp>
        <p:nvSpPr>
          <p:cNvPr id="7" name="Shape 5"/>
          <p:cNvSpPr/>
          <p:nvPr/>
        </p:nvSpPr>
        <p:spPr>
          <a:xfrm>
            <a:off x="661475" y="3597573"/>
            <a:ext cx="5273047" cy="687983"/>
          </a:xfrm>
          <a:prstGeom prst="roundRect">
            <a:avLst>
              <a:gd name="adj" fmla="val 1730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20221" y="3729831"/>
            <a:ext cx="4955555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[80, 90, 70]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print(get_average(scores))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68275" y="1150045"/>
            <a:ext cx="5463542" cy="5130105"/>
          </a:xfrm>
          <a:prstGeom prst="roundRect">
            <a:avLst>
              <a:gd name="adj" fmla="val 371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00531" y="1255812"/>
            <a:ext cx="5199032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함수의 장점</a:t>
            </a:r>
            <a:endParaRPr lang="ko-KR" sz="2050" dirty="0"/>
          </a:p>
        </p:txBody>
      </p:sp>
      <p:sp>
        <p:nvSpPr>
          <p:cNvPr id="11" name="Text 9"/>
          <p:cNvSpPr/>
          <p:nvPr/>
        </p:nvSpPr>
        <p:spPr>
          <a:xfrm>
            <a:off x="6300531" y="1692275"/>
            <a:ext cx="5808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어떤 점수 리스트가 와도 같은 평균 계산 로직을 재사용할 수 있습니다.</a:t>
            </a:r>
            <a:endParaRPr lang="ko-KR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31" y="2001837"/>
            <a:ext cx="4159146" cy="4159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40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+ 딕셔너리: 학생 데이터 처리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8407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583557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748855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"김민수",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"scores": [85, 90, 78]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158655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호출</a:t>
            </a:r>
            <a:endParaRPr lang="ko-KR" sz="2600" dirty="0"/>
          </a:p>
        </p:txBody>
      </p:sp>
      <p:sp>
        <p:nvSpPr>
          <p:cNvPr id="7" name="Shape 5"/>
          <p:cNvSpPr/>
          <p:nvPr/>
        </p:nvSpPr>
        <p:spPr>
          <a:xfrm>
            <a:off x="661475" y="4758134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4923433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= get_average(student["scores"])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= get_grade(avg)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198407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처리 흐름</a:t>
            </a:r>
            <a:endParaRPr lang="ko-KR" sz="2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2583557"/>
            <a:ext cx="5232666" cy="2354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92106" y="2737962"/>
            <a:ext cx="915717" cy="14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딕셔너리 데이터</a:t>
            </a:r>
            <a:endParaRPr lang="ko-KR" sz="850" dirty="0"/>
          </a:p>
        </p:txBody>
      </p:sp>
      <p:sp>
        <p:nvSpPr>
          <p:cNvPr id="12" name="Text 9"/>
          <p:cNvSpPr/>
          <p:nvPr/>
        </p:nvSpPr>
        <p:spPr>
          <a:xfrm>
            <a:off x="7092106" y="2919726"/>
            <a:ext cx="915717" cy="11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7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정보와 점수 포함</a:t>
            </a:r>
            <a:endParaRPr lang="ko-KR" sz="700" dirty="0"/>
          </a:p>
        </p:txBody>
      </p:sp>
      <p:sp>
        <p:nvSpPr>
          <p:cNvPr id="13" name="Text 10"/>
          <p:cNvSpPr/>
          <p:nvPr/>
        </p:nvSpPr>
        <p:spPr>
          <a:xfrm>
            <a:off x="7997760" y="4447426"/>
            <a:ext cx="920748" cy="14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점수 리스트 추출</a:t>
            </a:r>
            <a:endParaRPr lang="ko-KR" sz="850" dirty="0"/>
          </a:p>
        </p:txBody>
      </p:sp>
      <p:sp>
        <p:nvSpPr>
          <p:cNvPr id="14" name="Text 11"/>
          <p:cNvSpPr/>
          <p:nvPr/>
        </p:nvSpPr>
        <p:spPr>
          <a:xfrm>
            <a:off x="7997760" y="4629191"/>
            <a:ext cx="920748" cy="22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7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student["scores"]로 접근</a:t>
            </a:r>
            <a:endParaRPr lang="ko-KR" sz="700" dirty="0"/>
          </a:p>
        </p:txBody>
      </p:sp>
      <p:sp>
        <p:nvSpPr>
          <p:cNvPr id="15" name="Text 12"/>
          <p:cNvSpPr/>
          <p:nvPr/>
        </p:nvSpPr>
        <p:spPr>
          <a:xfrm>
            <a:off x="8893350" y="2663747"/>
            <a:ext cx="915717" cy="14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평균 함수 호출</a:t>
            </a:r>
            <a:endParaRPr lang="ko-KR" sz="850" dirty="0"/>
          </a:p>
        </p:txBody>
      </p:sp>
      <p:sp>
        <p:nvSpPr>
          <p:cNvPr id="16" name="Text 13"/>
          <p:cNvSpPr/>
          <p:nvPr/>
        </p:nvSpPr>
        <p:spPr>
          <a:xfrm>
            <a:off x="8893350" y="2845511"/>
            <a:ext cx="915717" cy="22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7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get_average(scores) 실행</a:t>
            </a:r>
            <a:endParaRPr lang="ko-KR" sz="700" dirty="0"/>
          </a:p>
        </p:txBody>
      </p:sp>
      <p:sp>
        <p:nvSpPr>
          <p:cNvPr id="17" name="Text 14"/>
          <p:cNvSpPr/>
          <p:nvPr/>
        </p:nvSpPr>
        <p:spPr>
          <a:xfrm>
            <a:off x="9799004" y="4447426"/>
            <a:ext cx="915717" cy="14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등급 함수 호출</a:t>
            </a:r>
            <a:endParaRPr lang="ko-KR" sz="850" dirty="0"/>
          </a:p>
        </p:txBody>
      </p:sp>
      <p:sp>
        <p:nvSpPr>
          <p:cNvPr id="18" name="Text 15"/>
          <p:cNvSpPr/>
          <p:nvPr/>
        </p:nvSpPr>
        <p:spPr>
          <a:xfrm>
            <a:off x="9799004" y="4629191"/>
            <a:ext cx="915717" cy="22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7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get_grade(avg)로 등급 결정</a:t>
            </a:r>
            <a:endParaRPr lang="ko-KR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46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큰 프로그램을 함수로 나누기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9205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함수에 모든 코드를 넣지 않습니다.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00471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역할 분리 예</a:t>
            </a:r>
            <a:endParaRPr lang="ko-KR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558141"/>
            <a:ext cx="413434" cy="413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1577" y="2558141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get_average(scores)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1577" y="2915825"/>
            <a:ext cx="286496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 계산</a:t>
            </a:r>
            <a:endParaRPr lang="ko-KR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53213" y="2558141"/>
            <a:ext cx="413434" cy="413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73315" y="2558141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get_grade(score)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73315" y="2915825"/>
            <a:ext cx="28650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등급 판정</a:t>
            </a:r>
            <a:endParaRPr lang="ko-KR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045050" y="2558141"/>
            <a:ext cx="413434" cy="4134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65152" y="2558141"/>
            <a:ext cx="286506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print_student_report(student)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665152" y="3174290"/>
            <a:ext cx="28650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정보 출력</a:t>
            </a:r>
            <a:endParaRPr lang="ko-KR" sz="1300" dirty="0"/>
          </a:p>
        </p:txBody>
      </p:sp>
      <p:sp>
        <p:nvSpPr>
          <p:cNvPr id="14" name="Text 9"/>
          <p:cNvSpPr/>
          <p:nvPr/>
        </p:nvSpPr>
        <p:spPr>
          <a:xfrm>
            <a:off x="661475" y="368695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장점</a:t>
            </a:r>
            <a:endParaRPr lang="ko-KR" sz="2600" dirty="0"/>
          </a:p>
        </p:txBody>
      </p:sp>
      <p:sp>
        <p:nvSpPr>
          <p:cNvPr id="15" name="Text 10"/>
          <p:cNvSpPr/>
          <p:nvPr/>
        </p:nvSpPr>
        <p:spPr>
          <a:xfrm>
            <a:off x="661475" y="4190503"/>
            <a:ext cx="10868745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함수의 역할이 명확합니다.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일부 기능만 수정하기 쉽습니다.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함수별로 테스트하기 쉽습니다.</a:t>
            </a:r>
            <a:endParaRPr lang="ko-KR" sz="1300" dirty="0"/>
          </a:p>
        </p:txBody>
      </p:sp>
      <p:sp>
        <p:nvSpPr>
          <p:cNvPr id="16" name="Shape 11"/>
          <p:cNvSpPr/>
          <p:nvPr/>
        </p:nvSpPr>
        <p:spPr>
          <a:xfrm>
            <a:off x="661475" y="5286077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69" y="5525789"/>
            <a:ext cx="206667" cy="1652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98731" y="549265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원칙: 한 함수 = 하나의 명확한 역할</a:t>
            </a:r>
            <a:endParaRPr lang="ko-KR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096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실습: 함수형 성적 처리 프로그램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5103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요구사항</a:t>
            </a:r>
            <a:endParaRPr lang="ko-KR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2529780"/>
            <a:ext cx="523266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이름과 점수 목록을 딕셔너리로 관리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평균을 구하는 함수 작성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 점수에 따라 등급을 반환하는 함수 작성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학생별 결과를 출력하는 함수 작성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927078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예상 출력</a:t>
            </a:r>
            <a:endParaRPr lang="ko-KR" sz="2600" dirty="0"/>
          </a:p>
        </p:txBody>
      </p:sp>
      <p:sp>
        <p:nvSpPr>
          <p:cNvPr id="6" name="Shape 4"/>
          <p:cNvSpPr/>
          <p:nvPr/>
        </p:nvSpPr>
        <p:spPr>
          <a:xfrm>
            <a:off x="661475" y="4526558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59907" y="4691856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김민수 | 평균: 84.3 | 등급: B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이서연 | 평균: 93.0 | 등급: A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박준호 | 평균: 68.7 | 등급: D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1951037"/>
            <a:ext cx="523266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학습 포인트</a:t>
            </a:r>
            <a:endParaRPr lang="ko-KR" sz="2600" dirty="0"/>
          </a:p>
        </p:txBody>
      </p:sp>
      <p:sp>
        <p:nvSpPr>
          <p:cNvPr id="9" name="Shape 7"/>
          <p:cNvSpPr/>
          <p:nvPr/>
        </p:nvSpPr>
        <p:spPr>
          <a:xfrm>
            <a:off x="6303904" y="2550517"/>
            <a:ext cx="253368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9198" y="2715816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입력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9002884" y="2550517"/>
            <a:ext cx="253368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68178" y="2715816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반환값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6303904" y="3304877"/>
            <a:ext cx="253368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9198" y="3470176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간 호출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9002884" y="3304877"/>
            <a:ext cx="253368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68178" y="3470176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리스트 반복 처리</a:t>
            </a:r>
            <a:endParaRPr lang="ko-KR" sz="1600" dirty="0"/>
          </a:p>
        </p:txBody>
      </p:sp>
      <p:sp>
        <p:nvSpPr>
          <p:cNvPr id="17" name="Shape 15"/>
          <p:cNvSpPr/>
          <p:nvPr/>
        </p:nvSpPr>
        <p:spPr>
          <a:xfrm>
            <a:off x="6303904" y="4059238"/>
            <a:ext cx="5232666" cy="589062"/>
          </a:xfrm>
          <a:prstGeom prst="roundRect">
            <a:avLst>
              <a:gd name="adj" fmla="val 25269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69198" y="4224536"/>
            <a:ext cx="4902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딕셔너리 활용</a:t>
            </a:r>
            <a:endParaRPr lang="ko-KR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1253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5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의사코드(Pseudocode)</a:t>
            </a:r>
            <a:endParaRPr lang="ko-KR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64530"/>
            <a:ext cx="5275527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</a:t>
            </a:r>
            <a:endParaRPr lang="ko-KR" sz="2050" dirty="0"/>
          </a:p>
        </p:txBody>
      </p:sp>
      <p:sp>
        <p:nvSpPr>
          <p:cNvPr id="4" name="Shape 2"/>
          <p:cNvSpPr/>
          <p:nvPr/>
        </p:nvSpPr>
        <p:spPr>
          <a:xfrm>
            <a:off x="661475" y="1605459"/>
            <a:ext cx="5275527" cy="4635897"/>
          </a:xfrm>
          <a:prstGeom prst="roundRect">
            <a:avLst>
              <a:gd name="adj" fmla="val 252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17740" y="1735634"/>
            <a:ext cx="4962996" cy="437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함수 평균계산(점수목록)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합계를 0으로 설정한다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점수목록을 반복한다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합계에 점수를 더한다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평균 = 합계 / 점수개수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평균을 반환한다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함수 등급판정(평균)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평균이 90 이상이면 A 반환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평균이 80 이상이면 B 반환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평균이 70 이상이면 C 반환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평균이 60 이상이면 D 반환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그 외에는 F 반환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함수 결과출력(학생)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학생의 점수목록으로 평균계산 함수 호출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평균값으로 등급판정 함수 호출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이름, 평균, 등급 출력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학생목록을 반복한다</a:t>
            </a:r>
            <a:endParaRPr lang="ko-KR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결과출력 함수를 호출한다</a:t>
            </a:r>
            <a:endParaRPr lang="ko-KR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082" y="1177429"/>
            <a:ext cx="4095350" cy="24306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01506" y="3044284"/>
            <a:ext cx="1018009" cy="19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결과출력</a:t>
            </a:r>
            <a:endParaRPr lang="ko-KR" sz="1200" dirty="0"/>
          </a:p>
        </p:txBody>
      </p:sp>
      <p:sp>
        <p:nvSpPr>
          <p:cNvPr id="8" name="Text 5"/>
          <p:cNvSpPr/>
          <p:nvPr/>
        </p:nvSpPr>
        <p:spPr>
          <a:xfrm>
            <a:off x="8418535" y="3044284"/>
            <a:ext cx="1018009" cy="19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등급판정</a:t>
            </a:r>
            <a:endParaRPr lang="ko-KR" sz="1200" dirty="0"/>
          </a:p>
        </p:txBody>
      </p:sp>
      <p:sp>
        <p:nvSpPr>
          <p:cNvPr id="9" name="Text 6"/>
          <p:cNvSpPr/>
          <p:nvPr/>
        </p:nvSpPr>
        <p:spPr>
          <a:xfrm>
            <a:off x="7114647" y="3044284"/>
            <a:ext cx="1018009" cy="19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평균계산</a:t>
            </a:r>
            <a:endParaRPr lang="ko-KR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90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자주 발생하는 오류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176463"/>
            <a:ext cx="3512653" cy="1937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36081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호출 시 괄호 누락</a:t>
            </a:r>
            <a:endParaRPr lang="ko-KR" sz="1600" dirty="0"/>
          </a:p>
        </p:txBody>
      </p:sp>
      <p:sp>
        <p:nvSpPr>
          <p:cNvPr id="5" name="Shape 2"/>
          <p:cNvSpPr/>
          <p:nvPr/>
        </p:nvSpPr>
        <p:spPr>
          <a:xfrm>
            <a:off x="922017" y="2805311"/>
            <a:ext cx="3067767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1120449" y="2970609"/>
            <a:ext cx="267090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print(get_grade)   # 함수 자체를 </a:t>
            </a:r>
            <a:endParaRPr lang="en-US" altLang="ko-KR" sz="1300" dirty="0" smtClean="0">
              <a:solidFill>
                <a:srgbClr val="E3620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ko-KR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ko-KR" sz="1300" dirty="0" smtClean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ko-KR" altLang="en-US" sz="1300" dirty="0" smtClean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가리킴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print(get_grade(85))  # 함수 </a:t>
            </a:r>
            <a:r>
              <a:rPr lang="ko-KR" altLang="en-US" sz="1300" dirty="0" smtClean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호출</a:t>
            </a:r>
            <a:endParaRPr lang="en-US" altLang="ko-KR" sz="1300" dirty="0" smtClean="0">
              <a:solidFill>
                <a:srgbClr val="E3620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altLang="ko-KR" sz="1300" dirty="0">
                <a:solidFill>
                  <a:srgbClr val="E36209"/>
                </a:solidFill>
                <a:latin typeface="Consolas" pitchFamily="34" charset="0"/>
              </a:rPr>
              <a:t> </a:t>
            </a:r>
            <a:r>
              <a:rPr lang="en-US" altLang="ko-KR" sz="1300" dirty="0" smtClean="0">
                <a:solidFill>
                  <a:srgbClr val="E36209"/>
                </a:solidFill>
                <a:latin typeface="Consolas" pitchFamily="34" charset="0"/>
              </a:rPr>
              <a:t>                       </a:t>
            </a:r>
            <a:r>
              <a:rPr lang="ko-KR" altLang="en-US" sz="1300" dirty="0" smtClean="0">
                <a:solidFill>
                  <a:srgbClr val="E36209"/>
                </a:solidFill>
                <a:latin typeface="Consolas" pitchFamily="34" charset="0"/>
              </a:rPr>
              <a:t>결과</a:t>
            </a:r>
            <a:endParaRPr lang="ko-KR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2176463"/>
            <a:ext cx="3512752" cy="19376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9964" y="2360811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인수 개수 불일치</a:t>
            </a:r>
            <a:endParaRPr lang="ko-KR" sz="1600" dirty="0"/>
          </a:p>
        </p:txBody>
      </p:sp>
      <p:sp>
        <p:nvSpPr>
          <p:cNvPr id="9" name="Shape 5"/>
          <p:cNvSpPr/>
          <p:nvPr/>
        </p:nvSpPr>
        <p:spPr>
          <a:xfrm>
            <a:off x="4599964" y="2805311"/>
            <a:ext cx="30678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4798396" y="2970609"/>
            <a:ext cx="26710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 </a:t>
            </a:r>
            <a:endParaRPr lang="en-US" sz="1300" dirty="0" smtClean="0">
              <a:solidFill>
                <a:srgbClr val="D73A4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smtClean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300" dirty="0" smtClean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add(10)  # TypeError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2176463"/>
            <a:ext cx="3512653" cy="19376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8010" y="236081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 결과를 사용하지 않음</a:t>
            </a:r>
            <a:endParaRPr lang="ko-KR" sz="1600" dirty="0"/>
          </a:p>
        </p:txBody>
      </p:sp>
      <p:sp>
        <p:nvSpPr>
          <p:cNvPr id="13" name="Shape 8"/>
          <p:cNvSpPr/>
          <p:nvPr/>
        </p:nvSpPr>
        <p:spPr>
          <a:xfrm>
            <a:off x="8278010" y="2805311"/>
            <a:ext cx="3067767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4" name="Text 9"/>
          <p:cNvSpPr/>
          <p:nvPr/>
        </p:nvSpPr>
        <p:spPr>
          <a:xfrm>
            <a:off x="8476443" y="2970609"/>
            <a:ext cx="267090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get_grade(85)  # 반환값은 있지만 저장·출력하지 않음</a:t>
            </a:r>
            <a:endParaRPr lang="ko-KR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4279404"/>
            <a:ext cx="3512653" cy="12494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2017" y="446375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지역변수를 함수 밖에서 사용</a:t>
            </a:r>
            <a:endParaRPr lang="ko-KR" sz="1600" dirty="0"/>
          </a:p>
        </p:txBody>
      </p:sp>
      <p:sp>
        <p:nvSpPr>
          <p:cNvPr id="17" name="Text 11"/>
          <p:cNvSpPr/>
          <p:nvPr/>
        </p:nvSpPr>
        <p:spPr>
          <a:xfrm>
            <a:off x="922017" y="4821436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NameError 발생 가능</a:t>
            </a:r>
            <a:endParaRPr lang="ko-KR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9422" y="4279404"/>
            <a:ext cx="3512752" cy="12494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99964" y="4463752"/>
            <a:ext cx="30678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안에서 print만 하고 </a:t>
            </a:r>
            <a:endParaRPr lang="en-US" altLang="ko-KR" sz="1600" b="1" dirty="0" smtClean="0">
              <a:solidFill>
                <a:srgbClr val="3C3939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 smtClean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계산 </a:t>
            </a: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결과를 재사용하려고 함</a:t>
            </a:r>
            <a:endParaRPr lang="ko-KR" sz="1600" dirty="0"/>
          </a:p>
        </p:txBody>
      </p:sp>
      <p:sp>
        <p:nvSpPr>
          <p:cNvPr id="20" name="Text 13"/>
          <p:cNvSpPr/>
          <p:nvPr/>
        </p:nvSpPr>
        <p:spPr>
          <a:xfrm>
            <a:off x="4599964" y="5079901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계산 함수는 return을 우선 고려</a:t>
            </a:r>
            <a:endParaRPr lang="ko-KR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690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디버깅 체크리스트</a:t>
            </a:r>
            <a:endParaRPr lang="ko-KR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29928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함수가 예상대로 동작하지 않을 때 확인</a:t>
            </a:r>
            <a:endParaRPr lang="ko-KR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06860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7234" y="1734691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0272" y="1757958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함수가 실제로 호출되었는가?</a:t>
            </a:r>
            <a:endParaRPr lang="ko-KR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2309614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234" y="2337445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30272" y="2360712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전달한 인수의 개수와 순서가 맞는가?</a:t>
            </a:r>
            <a:endParaRPr lang="ko-KR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2912368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234" y="2940199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0272" y="2963466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인수의 자료형이 예상과 같은가?</a:t>
            </a:r>
            <a:endParaRPr lang="ko-KR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3515122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234" y="354295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30272" y="3566220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 문이 필요한 위치에 있는가?</a:t>
            </a:r>
            <a:endParaRPr lang="ko-KR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117876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234" y="4145707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30272" y="4168973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 이후에 실행하려는 코드는 없는가?</a:t>
            </a:r>
            <a:endParaRPr lang="ko-KR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4720630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7234" y="4748461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130272" y="4771727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지역변수를 함수 밖에서 사용하고 있지 않은가?</a:t>
            </a:r>
            <a:endParaRPr lang="ko-KR" sz="1450" dirty="0"/>
          </a:p>
        </p:txBody>
      </p:sp>
      <p:sp>
        <p:nvSpPr>
          <p:cNvPr id="22" name="Shape 20"/>
          <p:cNvSpPr/>
          <p:nvPr/>
        </p:nvSpPr>
        <p:spPr>
          <a:xfrm>
            <a:off x="661475" y="5323384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234" y="5351214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30272" y="5374481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이름과 변수 이름이 충돌하지 않는가?</a:t>
            </a:r>
            <a:endParaRPr lang="ko-KR" sz="1450" dirty="0"/>
          </a:p>
        </p:txBody>
      </p:sp>
      <p:sp>
        <p:nvSpPr>
          <p:cNvPr id="25" name="Shape 23"/>
          <p:cNvSpPr/>
          <p:nvPr/>
        </p:nvSpPr>
        <p:spPr>
          <a:xfrm>
            <a:off x="661475" y="5926138"/>
            <a:ext cx="334855" cy="334863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234" y="5953968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130272" y="5977235"/>
            <a:ext cx="1039994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작은 입력값으로 함수 하나씩 테스트했는가?</a:t>
            </a:r>
            <a:endParaRPr lang="ko-KR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481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과제 구성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242245"/>
            <a:ext cx="3512653" cy="1539974"/>
          </a:xfrm>
          <a:prstGeom prst="roundRect">
            <a:avLst>
              <a:gd name="adj" fmla="val 966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6769" y="2407543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6769" y="2765227"/>
            <a:ext cx="3182064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fontScale="925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수를 받아 합계를 반환하는 함수 작성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정의, 매개변수, return에 집중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242245"/>
            <a:ext cx="3512752" cy="1539974"/>
          </a:xfrm>
          <a:prstGeom prst="roundRect">
            <a:avLst>
              <a:gd name="adj" fmla="val 966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04716" y="2407543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04716" y="2765227"/>
            <a:ext cx="3182163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성적 등급 판정 로직을 함수로 분리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학생의 점수를 처리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242245"/>
            <a:ext cx="3512653" cy="1539974"/>
          </a:xfrm>
          <a:prstGeom prst="roundRect">
            <a:avLst>
              <a:gd name="adj" fmla="val 966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2762" y="2407543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2762" y="2765227"/>
            <a:ext cx="3182064" cy="85169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 계산, 등급 판정, 결과 출력을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각각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함수로 분리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간 호출 구조를 설계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403026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과제 진행 원칙</a:t>
            </a:r>
            <a:endParaRPr lang="ko-KR" sz="2600" dirty="0"/>
          </a:p>
        </p:txBody>
      </p:sp>
      <p:sp>
        <p:nvSpPr>
          <p:cNvPr id="13" name="Text 11"/>
          <p:cNvSpPr/>
          <p:nvPr/>
        </p:nvSpPr>
        <p:spPr>
          <a:xfrm>
            <a:off x="661475" y="469175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4953695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5074444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먼저 의사코드를 작성합니다.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4339422" y="469175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39422" y="4953695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4339422" y="5074444"/>
            <a:ext cx="351275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하나를 작성한 뒤 바로 테스트합니다.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8017468" y="469175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17468" y="4953695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8017468" y="5074444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동작 확인 후 다음 함수를 추가합니다.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3018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용어 정리</a:t>
            </a:r>
            <a:endParaRPr lang="ko-KR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016794"/>
            <a:ext cx="10868745" cy="694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8832" y="1255613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18177" y="1145183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Function(함수)</a:t>
            </a:r>
            <a:endParaRPr lang="ko-KR" sz="1100" dirty="0"/>
          </a:p>
        </p:txBody>
      </p:sp>
      <p:sp>
        <p:nvSpPr>
          <p:cNvPr id="6" name="Text 3"/>
          <p:cNvSpPr/>
          <p:nvPr/>
        </p:nvSpPr>
        <p:spPr>
          <a:xfrm>
            <a:off x="1218177" y="1374676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작업을 수행하도록 묶어 놓은 코드 블록</a:t>
            </a:r>
            <a:endParaRPr lang="ko-KR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1792387"/>
            <a:ext cx="10868745" cy="6946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832" y="2031206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18177" y="1920776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Parameter(매개변수)</a:t>
            </a:r>
            <a:endParaRPr lang="ko-KR" sz="1100" dirty="0"/>
          </a:p>
        </p:txBody>
      </p:sp>
      <p:sp>
        <p:nvSpPr>
          <p:cNvPr id="10" name="Text 6"/>
          <p:cNvSpPr/>
          <p:nvPr/>
        </p:nvSpPr>
        <p:spPr>
          <a:xfrm>
            <a:off x="1218177" y="2150269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정의 시 입력값을 받을 변수</a:t>
            </a:r>
            <a:endParaRPr lang="ko-KR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2567980"/>
            <a:ext cx="10868745" cy="694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8832" y="2806799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218177" y="2696369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Argument(인수)</a:t>
            </a:r>
            <a:endParaRPr lang="ko-KR" sz="1100" dirty="0"/>
          </a:p>
        </p:txBody>
      </p:sp>
      <p:sp>
        <p:nvSpPr>
          <p:cNvPr id="14" name="Text 9"/>
          <p:cNvSpPr/>
          <p:nvPr/>
        </p:nvSpPr>
        <p:spPr>
          <a:xfrm>
            <a:off x="1218177" y="2925862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호출 시 실제로 전달하는 값</a:t>
            </a:r>
            <a:endParaRPr lang="ko-KR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3343573"/>
            <a:ext cx="10868745" cy="6946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8832" y="3582392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218177" y="3471962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 Value(반환값)</a:t>
            </a:r>
            <a:endParaRPr lang="ko-KR" sz="1100" dirty="0"/>
          </a:p>
        </p:txBody>
      </p:sp>
      <p:sp>
        <p:nvSpPr>
          <p:cNvPr id="18" name="Text 12"/>
          <p:cNvSpPr/>
          <p:nvPr/>
        </p:nvSpPr>
        <p:spPr>
          <a:xfrm>
            <a:off x="1218177" y="3701455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함수가 호출한 곳으로 돌려주는 결과</a:t>
            </a:r>
            <a:endParaRPr lang="ko-KR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1475" y="4119166"/>
            <a:ext cx="10868745" cy="6946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8832" y="4357985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218177" y="4247555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Scope(변수의 범위)</a:t>
            </a:r>
            <a:endParaRPr lang="ko-KR" sz="1100" dirty="0"/>
          </a:p>
        </p:txBody>
      </p:sp>
      <p:sp>
        <p:nvSpPr>
          <p:cNvPr id="22" name="Text 15"/>
          <p:cNvSpPr/>
          <p:nvPr/>
        </p:nvSpPr>
        <p:spPr>
          <a:xfrm>
            <a:off x="1218177" y="4477048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변수를 사용할 수 있는 유효 범위</a:t>
            </a:r>
            <a:endParaRPr lang="ko-KR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1475" y="4894759"/>
            <a:ext cx="10868745" cy="69463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8832" y="513357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1218177" y="5023148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 Variable(지역변수)</a:t>
            </a:r>
            <a:endParaRPr lang="ko-KR" sz="1100" dirty="0"/>
          </a:p>
        </p:txBody>
      </p:sp>
      <p:sp>
        <p:nvSpPr>
          <p:cNvPr id="26" name="Text 18"/>
          <p:cNvSpPr/>
          <p:nvPr/>
        </p:nvSpPr>
        <p:spPr>
          <a:xfrm>
            <a:off x="1218177" y="5252641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내부에서 생성되어 주로 함수 내부에서 사용하는 변수</a:t>
            </a:r>
            <a:endParaRPr lang="ko-KR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61475" y="5670352"/>
            <a:ext cx="10868745" cy="69463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18832" y="5909171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1218177" y="5798741"/>
            <a:ext cx="1018365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1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Variable(전역변수)</a:t>
            </a:r>
            <a:endParaRPr lang="ko-KR" sz="1100" dirty="0"/>
          </a:p>
        </p:txBody>
      </p:sp>
      <p:sp>
        <p:nvSpPr>
          <p:cNvPr id="30" name="Text 21"/>
          <p:cNvSpPr/>
          <p:nvPr/>
        </p:nvSpPr>
        <p:spPr>
          <a:xfrm>
            <a:off x="1218177" y="6028234"/>
            <a:ext cx="101836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ko-KR" altLang="en-US" sz="9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 밖에서 생성되어 넓은 범위에서 참조 가능한 변수</a:t>
            </a:r>
            <a:endParaRPr lang="ko-KR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5061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정리와 다음 학습 연결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880691"/>
            <a:ext cx="2946723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</a:t>
            </a:r>
            <a:endParaRPr lang="ko-KR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2459434"/>
            <a:ext cx="2946723" cy="229046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 코드를 함수로 묶으면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재사용할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함수는 매개변수로 입력을 받고 return으로 결과를 전달할 수 있습니다.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지역변수와 전역변수는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사용할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있는 범위가 다릅니다.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큰 프로그램은 작은 함수로 나누면 이해와 수정이 쉬워집니다.</a:t>
            </a:r>
            <a:endParaRPr lang="ko-KR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4981702"/>
            <a:ext cx="2946723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결과물</a:t>
            </a:r>
            <a:endParaRPr lang="ko-KR" sz="2600" dirty="0"/>
          </a:p>
        </p:txBody>
      </p:sp>
      <p:sp>
        <p:nvSpPr>
          <p:cNvPr id="7" name="Text 4"/>
          <p:cNvSpPr/>
          <p:nvPr/>
        </p:nvSpPr>
        <p:spPr>
          <a:xfrm>
            <a:off x="661475" y="5560445"/>
            <a:ext cx="3556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함수형 성적 처리 프로그램</a:t>
            </a:r>
            <a:endParaRPr lang="ko-KR" sz="1300" dirty="0"/>
          </a:p>
        </p:txBody>
      </p:sp>
      <p:sp>
        <p:nvSpPr>
          <p:cNvPr id="8" name="Shape 5"/>
          <p:cNvSpPr/>
          <p:nvPr/>
        </p:nvSpPr>
        <p:spPr>
          <a:xfrm>
            <a:off x="3898902" y="1715393"/>
            <a:ext cx="3184842" cy="4191992"/>
          </a:xfrm>
          <a:prstGeom prst="roundRect">
            <a:avLst>
              <a:gd name="adj" fmla="val 747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064196" y="1880691"/>
            <a:ext cx="2854254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학습 연결</a:t>
            </a:r>
            <a:endParaRPr lang="ko-KR" sz="2600" dirty="0"/>
          </a:p>
        </p:txBody>
      </p:sp>
      <p:sp>
        <p:nvSpPr>
          <p:cNvPr id="10" name="Text 7"/>
          <p:cNvSpPr/>
          <p:nvPr/>
        </p:nvSpPr>
        <p:spPr>
          <a:xfrm>
            <a:off x="4064196" y="2459434"/>
            <a:ext cx="2854254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입출력(File I/O)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처리(Exception Handling)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모듈(Module)과 import</a:t>
            </a:r>
            <a:endParaRPr lang="ko-KR" sz="1300" dirty="0"/>
          </a:p>
        </p:txBody>
      </p:sp>
      <p:sp>
        <p:nvSpPr>
          <p:cNvPr id="11" name="Text 8"/>
          <p:cNvSpPr/>
          <p:nvPr/>
        </p:nvSpPr>
        <p:spPr>
          <a:xfrm>
            <a:off x="4064196" y="3517801"/>
            <a:ext cx="285425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다음에는 함수로 만든 로직을 파일 데이터와 연결하고, 오류 상황에도 안전하게 실행되는 프로그램으로 확장합니다.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2216</Words>
  <Application>Microsoft Office PowerPoint</Application>
  <PresentationFormat>와이드스크린</PresentationFormat>
  <Paragraphs>530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Calibri</vt:lpstr>
      <vt:lpstr>Inter</vt:lpstr>
      <vt:lpstr>Consolas</vt:lpstr>
      <vt:lpstr>Inter Bold</vt:lpstr>
      <vt:lpstr>맑은 고딕</vt:lpstr>
      <vt:lpstr>Inter Light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lastModifiedBy>Windows 사용자</cp:lastModifiedBy>
  <cp:revision>3</cp:revision>
  <dcterms:created xsi:type="dcterms:W3CDTF">2026-08-28T05:16:53Z</dcterms:created>
  <dcterms:modified xsi:type="dcterms:W3CDTF">2026-08-28T05:26:51Z</dcterms:modified>
</cp:coreProperties>
</file>