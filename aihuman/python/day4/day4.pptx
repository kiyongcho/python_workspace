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Inter" panose="02000503000000020004" pitchFamily="2" charset="0"/>
      <p:regular r:id="rId36"/>
      <p:bold r:id="rId37"/>
      <p:italic r:id="rId38"/>
      <p:boldItalic r:id="rId39"/>
    </p:embeddedFont>
    <p:embeddedFont>
      <p:font typeface="Inter Bold" panose="02000503000000020004" pitchFamily="2" charset="0"/>
      <p:regular r:id="rId40"/>
      <p:bold r:id="rId41"/>
    </p:embeddedFont>
    <p:embeddedFont>
      <p:font typeface="Consolas" panose="020B0609020204030204" pitchFamily="49" charset="0"/>
      <p:regular r:id="rId42"/>
      <p:bold r:id="rId43"/>
      <p:italic r:id="rId44"/>
      <p:boldItalic r:id="rId45"/>
    </p:embeddedFont>
    <p:embeddedFont>
      <p:font typeface="맑은 고딕" panose="020B0503020000020004" pitchFamily="50" charset="-127"/>
      <p:regular r:id="rId46"/>
      <p:bold r:id="rId47"/>
    </p:embeddedFont>
    <p:embeddedFont>
      <p:font typeface="Consolas Bold" panose="020B0709020204030204" pitchFamily="49" charset="0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74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8-2.svg"/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8-2.svg"/><Relationship Id="rId5" Type="http://schemas.openxmlformats.org/officeDocument/2006/relationships/image" Target="../media/image-28-2.svg"/><Relationship Id="rId10" Type="http://schemas.openxmlformats.org/officeDocument/2006/relationships/image" Target="../media/image-28-2.svg"/><Relationship Id="rId4" Type="http://schemas.openxmlformats.org/officeDocument/2006/relationships/image" Target="../media/image-28-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3031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 — Day 4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613124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프로그래밍 </a:t>
            </a:r>
            <a:endParaRPr lang="en-US" altLang="ko-KR" sz="2600" b="1" dirty="0" smtClean="0">
              <a:solidFill>
                <a:srgbClr val="1B1B27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 </a:t>
            </a: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조건문으로 프로그램의 흐름 제어하기</a:t>
            </a:r>
            <a:endParaRPr lang="ko-KR" sz="2600" dirty="0"/>
          </a:p>
        </p:txBody>
      </p:sp>
      <p:sp>
        <p:nvSpPr>
          <p:cNvPr id="5" name="Shape 2"/>
          <p:cNvSpPr/>
          <p:nvPr/>
        </p:nvSpPr>
        <p:spPr>
          <a:xfrm>
            <a:off x="661475" y="3688060"/>
            <a:ext cx="965771" cy="251420"/>
          </a:xfrm>
          <a:prstGeom prst="roundRect">
            <a:avLst>
              <a:gd name="adj" fmla="val 47364"/>
            </a:avLst>
          </a:pr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3737670"/>
            <a:ext cx="137692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결과물</a:t>
            </a:r>
            <a:endParaRPr lang="ko-KR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4125516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 기반 성적 판정기</a:t>
            </a:r>
            <a:endParaRPr lang="ko-KR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4576167"/>
            <a:ext cx="948508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0691" y="4625777"/>
            <a:ext cx="135966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92630" y="4576167"/>
            <a:ext cx="832424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91846" y="4625777"/>
            <a:ext cx="124357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7701" y="4576167"/>
            <a:ext cx="312035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06917" y="4625777"/>
            <a:ext cx="72318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02383" y="4576167"/>
            <a:ext cx="466316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01600" y="4625777"/>
            <a:ext cx="87746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551347" y="4576167"/>
            <a:ext cx="517115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0563" y="4625777"/>
            <a:ext cx="92826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51109" y="4576167"/>
            <a:ext cx="685188" cy="251420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0326" y="4625777"/>
            <a:ext cx="109634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000" dirty="0">
                <a:solidFill>
                  <a:srgbClr val="1B1B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중첩조건</a:t>
            </a:r>
            <a:endParaRPr lang="ko-K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00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 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83743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86843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891109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조건식이 True 또는 False로 평가되는 과정을 설명할 수 있습니다.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54019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5712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593876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if, elif, else를 사용하여 입력값에 따라 서로 다른 처리를 구현할 수 있습니다.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24296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327397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296642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비교 연산자와 논리 연산자를 조건식에 적용할 수 있습니다.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945731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397673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3999409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조건이 필요한 경우 조건의 순서와 범위를 설계할 수 있습니다.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64849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6795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702175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점수와 출석률을 이용한 조건 기반 판정 프로그램을 작성할 수 있습니다.</a:t>
            </a:r>
            <a:endParaRPr lang="ko-KR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5206603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446316"/>
            <a:ext cx="206667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31" y="541317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학습 흐름: 입력 → 조건 판단 → 분기 처리 → 결과 출력</a:t>
            </a:r>
            <a:endParaRPr lang="ko-K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786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전날 학습 연결: 입력과 연산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432645"/>
            <a:ext cx="5470785" cy="2757488"/>
          </a:xfrm>
          <a:prstGeom prst="roundRect">
            <a:avLst>
              <a:gd name="adj" fmla="val 863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59794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전날 핵심 내용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021707"/>
            <a:ext cx="5140196" cy="155446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input(): 사용자 입력 받기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int(), float(): 문자열 입력을 숫자로 형변환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산술 연산자: +, -, *, /, //, %, **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비교 연산자: 값의 크기나 같음을 비교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논리 연산자: 여러 조건을 결합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59794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303904" y="3042444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3207742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int(input("점수: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 &gt;= 80)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408830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연결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4512072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오늘은 계산된 값이나 입력값을 '</a:t>
            </a:r>
            <a:r>
              <a:rPr lang="ko-KR" altLang="en-US" sz="1300" dirty="0" err="1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판단'하여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프로그램이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서로 다른 코드를 실행하도록 만듭니다.</a:t>
            </a:r>
            <a:endParaRPr lang="ko-KR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59322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프로그램의 흐름과 제어문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489398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33360" y="2913162"/>
            <a:ext cx="3556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프로그램의 명령문이 실행되는 순서</a:t>
            </a:r>
            <a:endParaRPr lang="ko-KR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3476080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기본 실행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5233360" y="3899843"/>
            <a:ext cx="3556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위에서 아래로 한 줄씩 순차 실행</a:t>
            </a:r>
            <a:endParaRPr lang="ko-KR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4520950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제어문(Control Statement)</a:t>
            </a:r>
            <a:endParaRPr lang="ko-KR" sz="1600" dirty="0"/>
          </a:p>
        </p:txBody>
      </p:sp>
      <p:sp>
        <p:nvSpPr>
          <p:cNvPr id="9" name="Text 6"/>
          <p:cNvSpPr/>
          <p:nvPr/>
        </p:nvSpPr>
        <p:spPr>
          <a:xfrm>
            <a:off x="5233360" y="4944713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조건이나 반복에 따라 실행 흐름을 바꾸는 문장</a:t>
            </a:r>
            <a:endParaRPr lang="ko-KR" sz="1300" dirty="0"/>
          </a:p>
        </p:txBody>
      </p:sp>
      <p:sp>
        <p:nvSpPr>
          <p:cNvPr id="10" name="Text 7"/>
          <p:cNvSpPr/>
          <p:nvPr/>
        </p:nvSpPr>
        <p:spPr>
          <a:xfrm>
            <a:off x="8589847" y="2489398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Python의 대표 제어문</a:t>
            </a:r>
            <a:endParaRPr lang="ko-KR" sz="1600" dirty="0"/>
          </a:p>
        </p:txBody>
      </p:sp>
      <p:sp>
        <p:nvSpPr>
          <p:cNvPr id="11" name="Text 8"/>
          <p:cNvSpPr/>
          <p:nvPr/>
        </p:nvSpPr>
        <p:spPr>
          <a:xfrm>
            <a:off x="8589847" y="2913162"/>
            <a:ext cx="2946723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조건문: if / elif / else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반복문: for / while</a:t>
            </a:r>
            <a:endParaRPr lang="ko-KR" sz="1300" dirty="0"/>
          </a:p>
        </p:txBody>
      </p:sp>
      <p:sp>
        <p:nvSpPr>
          <p:cNvPr id="12" name="Text 9"/>
          <p:cNvSpPr/>
          <p:nvPr/>
        </p:nvSpPr>
        <p:spPr>
          <a:xfrm>
            <a:off x="8589847" y="3649067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오늘은 '조건에 따라 실행 경로를 선택하는 조건문'에 집중합니다.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52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조건식(Condition)이란?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890018"/>
            <a:ext cx="5470785" cy="3842643"/>
          </a:xfrm>
          <a:prstGeom prst="roundRect">
            <a:avLst>
              <a:gd name="adj" fmla="val 619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0553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479080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참(True) 또는 거짓(False)으로 판단할 수 있는 식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310018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707710" y="3353495"/>
            <a:ext cx="5140196" cy="1124446"/>
          </a:xfrm>
          <a:prstGeom prst="roundRect">
            <a:avLst>
              <a:gd name="adj" fmla="val 13238"/>
            </a:avLst>
          </a:prstGeom>
          <a:solidFill>
            <a:srgbClr val="282834"/>
          </a:solidFill>
          <a:ln/>
        </p:spPr>
      </p:sp>
      <p:sp>
        <p:nvSpPr>
          <p:cNvPr id="8" name="Text 6"/>
          <p:cNvSpPr/>
          <p:nvPr/>
        </p:nvSpPr>
        <p:spPr>
          <a:xfrm>
            <a:off x="906142" y="3468915"/>
            <a:ext cx="4743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80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== 20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!= "Kim"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7710" y="453097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조건식의 평가 결과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707710" y="4954736"/>
            <a:ext cx="514019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True: 조건이 성립함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False: 조건이 성립하지 않음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20553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303904" y="2499816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502337" y="2665115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 &gt;= 80) #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 &lt; 60) # False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72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Boolean 자료형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5091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Boolean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174681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참과 거짓을 표현하는 논리 자료형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72097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Python의 Boolean 값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3082348"/>
            <a:ext cx="5232666" cy="1178123"/>
          </a:xfrm>
          <a:prstGeom prst="roundRect">
            <a:avLst>
              <a:gd name="adj" fmla="val 12635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1475" y="3082348"/>
            <a:ext cx="5232666" cy="589062"/>
          </a:xfrm>
          <a:custGeom>
            <a:avLst/>
            <a:gdLst/>
            <a:ahLst/>
            <a:cxnLst/>
            <a:rect l="l" t="t" r="r" b="b"/>
            <a:pathLst>
              <a:path w="5232666" h="589062">
                <a:moveTo>
                  <a:pt x="124044" y="0"/>
                </a:moveTo>
                <a:lnTo>
                  <a:pt x="5108622" y="0"/>
                </a:lnTo>
                <a:arcTo wR="124044" hR="124047" stAng="16200000" swAng="5400000"/>
                <a:lnTo>
                  <a:pt x="5232666" y="589062"/>
                </a:lnTo>
                <a:lnTo>
                  <a:pt x="0" y="589062"/>
                </a:lnTo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6769" y="3247646"/>
            <a:ext cx="4902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3671410"/>
            <a:ext cx="5232666" cy="589062"/>
          </a:xfrm>
          <a:custGeom>
            <a:avLst/>
            <a:gdLst/>
            <a:ahLst/>
            <a:cxnLst/>
            <a:rect l="l" t="t" r="r" b="b"/>
            <a:pathLst>
              <a:path w="5232666" h="589062">
                <a:moveTo>
                  <a:pt x="0" y="0"/>
                </a:moveTo>
                <a:lnTo>
                  <a:pt x="5232666" y="0"/>
                </a:lnTo>
                <a:lnTo>
                  <a:pt x="5232666" y="465015"/>
                </a:lnTo>
                <a:arcTo wR="124044" hR="124047" stAng="0" swAng="5400000"/>
                <a:lnTo>
                  <a:pt x="124044" y="589062"/>
                </a:lnTo>
                <a:arcTo wR="124044" hR="124047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671410"/>
            <a:ext cx="5232666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826769" y="3836708"/>
            <a:ext cx="4902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475" y="452963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661475" y="4953397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첫 글자는 반드시 대문자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"True"는 문자열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True는 Boolean 값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186729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303904" y="2311797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02337" y="2477095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is_pass =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print(type(is_pass))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3904" y="335766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용어 정리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6303904" y="3781425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Boolean: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논리값을 저장하는 자료형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Condition: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True/False로 평가되는 조건식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75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비교 연산자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4494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비교 연산자는 두 값을 비교하여 Boolean 결과를 만듭니다.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095599"/>
            <a:ext cx="5470785" cy="3964781"/>
          </a:xfrm>
          <a:prstGeom prst="roundRect">
            <a:avLst>
              <a:gd name="adj" fmla="val 600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07710" y="2281634"/>
            <a:ext cx="2487451" cy="1018977"/>
          </a:xfrm>
          <a:prstGeom prst="roundRect">
            <a:avLst>
              <a:gd name="adj" fmla="val 14608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3004" y="2446933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==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3004" y="2870696"/>
            <a:ext cx="215686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같다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3360455" y="2281634"/>
            <a:ext cx="2487451" cy="1018977"/>
          </a:xfrm>
          <a:prstGeom prst="roundRect">
            <a:avLst>
              <a:gd name="adj" fmla="val 14608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5749" y="2446933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!=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5749" y="2870696"/>
            <a:ext cx="215686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다르다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707710" y="3465909"/>
            <a:ext cx="2487451" cy="1018977"/>
          </a:xfrm>
          <a:prstGeom prst="roundRect">
            <a:avLst>
              <a:gd name="adj" fmla="val 14608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3004" y="3631208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3004" y="4054971"/>
            <a:ext cx="215686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크다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3360455" y="3465909"/>
            <a:ext cx="2487451" cy="1018977"/>
          </a:xfrm>
          <a:prstGeom prst="roundRect">
            <a:avLst>
              <a:gd name="adj" fmla="val 14608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5749" y="3631208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5749" y="4054971"/>
            <a:ext cx="215686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작다</a:t>
            </a:r>
            <a:endParaRPr lang="ko-KR" sz="1300" dirty="0"/>
          </a:p>
        </p:txBody>
      </p:sp>
      <p:sp>
        <p:nvSpPr>
          <p:cNvPr id="17" name="Shape 15"/>
          <p:cNvSpPr/>
          <p:nvPr/>
        </p:nvSpPr>
        <p:spPr>
          <a:xfrm>
            <a:off x="707710" y="4650184"/>
            <a:ext cx="2487451" cy="1018977"/>
          </a:xfrm>
          <a:prstGeom prst="roundRect">
            <a:avLst>
              <a:gd name="adj" fmla="val 14608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3004" y="4815483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&gt;=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3004" y="5239246"/>
            <a:ext cx="215686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크거나 같다</a:t>
            </a:r>
            <a:endParaRPr lang="ko-KR" sz="1300" dirty="0"/>
          </a:p>
        </p:txBody>
      </p:sp>
      <p:sp>
        <p:nvSpPr>
          <p:cNvPr id="20" name="Shape 18"/>
          <p:cNvSpPr/>
          <p:nvPr/>
        </p:nvSpPr>
        <p:spPr>
          <a:xfrm>
            <a:off x="3360455" y="4650184"/>
            <a:ext cx="2487451" cy="1018977"/>
          </a:xfrm>
          <a:prstGeom prst="roundRect">
            <a:avLst>
              <a:gd name="adj" fmla="val 14608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5749" y="4815483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&lt;=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5749" y="5239246"/>
            <a:ext cx="215686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작거나 같다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6303904" y="226089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24" name="Shape 22"/>
          <p:cNvSpPr/>
          <p:nvPr/>
        </p:nvSpPr>
        <p:spPr>
          <a:xfrm>
            <a:off x="6303904" y="2705398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6502337" y="2870696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== 85  →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!= 85  → False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80  →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&lt; 60   → False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3904" y="480972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27" name="Text 25"/>
          <p:cNvSpPr/>
          <p:nvPr/>
        </p:nvSpPr>
        <p:spPr>
          <a:xfrm>
            <a:off x="6303904" y="5233491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=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값을 저장하는 대입 연산자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==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두 값이 같은지 비교하는 연산자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80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논리 연산자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9546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조건을 하나의 조건식으로 결합할 때 사용합니다.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246114"/>
            <a:ext cx="3512653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5819" y="2430463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2788146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조건이 True일 때 True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246114"/>
            <a:ext cx="3512752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3766" y="2430463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766" y="2788146"/>
            <a:ext cx="3144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 중 하나 이상이 True이면 True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246114"/>
            <a:ext cx="3512653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01812" y="2430463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1812" y="2788146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True와 False를 반대로 바꿈</a:t>
            </a:r>
            <a:endParaRPr 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661475" y="348515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14" name="Shape 12"/>
          <p:cNvSpPr/>
          <p:nvPr/>
        </p:nvSpPr>
        <p:spPr>
          <a:xfrm>
            <a:off x="661475" y="3991670"/>
            <a:ext cx="10868745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859907" y="4156968"/>
            <a:ext cx="1047188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 = 90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80 and attendance &gt;= 80 → True and True →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90 or attendance &gt;= 90 → False or True → True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43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if문의 기본 구조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709142"/>
            <a:ext cx="5470785" cy="4204494"/>
          </a:xfrm>
          <a:prstGeom prst="roundRect">
            <a:avLst>
              <a:gd name="adj" fmla="val 566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87444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형식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07710" y="2318941"/>
            <a:ext cx="5140196" cy="859830"/>
          </a:xfrm>
          <a:prstGeom prst="roundRect">
            <a:avLst>
              <a:gd name="adj" fmla="val 17312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906142" y="2484239"/>
            <a:ext cx="47433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조건식: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실행문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707710" y="336480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동작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3788569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조건식을 평가합니다.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결과가 True이면 들여쓰기된 코드를 실행합니다.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결과가 False이면 해당 블록을 건너뜁니다.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187444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10" name="Shape 8"/>
          <p:cNvSpPr/>
          <p:nvPr/>
        </p:nvSpPr>
        <p:spPr>
          <a:xfrm>
            <a:off x="6303904" y="2318941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02337" y="2484239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80: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print("PASS")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print("판정 완료")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303904" y="442327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6303904" y="4867771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502337" y="5033070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판정 완료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81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의사코드: 단일 조건 판단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9825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의사코드(Pseudocode)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322016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프로그래밍 언어의 문법보다 문제 해결 절차를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사람이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이해하기 쉽게 표현한 코드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01654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440311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점수가 80점 이상이면 PASS 출력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87022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61475" y="4314726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59907" y="4480024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점수를 입력받는다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만약 점수가 80 </a:t>
            </a:r>
            <a:r>
              <a:rPr lang="ko-KR" altLang="en-US" sz="1300" dirty="0" smtClean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이상이면 "</a:t>
            </a: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PASS"를 출력한다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"판정 완료"를 출력한다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184844" y="1732955"/>
            <a:ext cx="5470785" cy="4156869"/>
          </a:xfrm>
          <a:prstGeom prst="roundRect">
            <a:avLst>
              <a:gd name="adj" fmla="val 572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50139" y="189825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139" y="2342753"/>
            <a:ext cx="5140196" cy="1918295"/>
          </a:xfrm>
          <a:prstGeom prst="roundRect">
            <a:avLst>
              <a:gd name="adj" fmla="val 7760"/>
            </a:avLst>
          </a:prstGeom>
          <a:solidFill>
            <a:srgbClr val="282834"/>
          </a:solidFill>
          <a:ln/>
        </p:spPr>
      </p:sp>
      <p:sp>
        <p:nvSpPr>
          <p:cNvPr id="13" name="Text 11"/>
          <p:cNvSpPr/>
          <p:nvPr/>
        </p:nvSpPr>
        <p:spPr>
          <a:xfrm>
            <a:off x="6548571" y="2508052"/>
            <a:ext cx="474333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int(input("점수: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80: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print("PASS")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print("판정 완료")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57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들여쓰기(Indentation)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14959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Python은 들여쓰기로 코드 블록을 구분합니다.</a:t>
            </a:r>
            <a:endParaRPr lang="ko-KR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977231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올바른 코드</a:t>
            </a:r>
            <a:endParaRPr lang="ko-KR" sz="1500" dirty="0"/>
          </a:p>
        </p:txBody>
      </p:sp>
      <p:sp>
        <p:nvSpPr>
          <p:cNvPr id="5" name="Shape 3"/>
          <p:cNvSpPr/>
          <p:nvPr/>
        </p:nvSpPr>
        <p:spPr>
          <a:xfrm>
            <a:off x="661475" y="2390676"/>
            <a:ext cx="5242687" cy="1068388"/>
          </a:xfrm>
          <a:prstGeom prst="roundRect">
            <a:avLst>
              <a:gd name="adj" fmla="val 1323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9986" y="2547739"/>
            <a:ext cx="486566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80: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print("PASS")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print("축하합니다.")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6293883" y="1977231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잘못된 코드</a:t>
            </a:r>
            <a:endParaRPr lang="ko-KR" sz="1500" dirty="0"/>
          </a:p>
        </p:txBody>
      </p:sp>
      <p:sp>
        <p:nvSpPr>
          <p:cNvPr id="8" name="Shape 6"/>
          <p:cNvSpPr/>
          <p:nvPr/>
        </p:nvSpPr>
        <p:spPr>
          <a:xfrm>
            <a:off x="6293883" y="2390676"/>
            <a:ext cx="5242687" cy="816967"/>
          </a:xfrm>
          <a:prstGeom prst="roundRect">
            <a:avLst>
              <a:gd name="adj" fmla="val 173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82394" y="2547739"/>
            <a:ext cx="4865665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80: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print("PASS")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3850779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규칙</a:t>
            </a:r>
            <a:endParaRPr lang="ko-KR" sz="1500" dirty="0"/>
          </a:p>
        </p:txBody>
      </p:sp>
      <p:sp>
        <p:nvSpPr>
          <p:cNvPr id="11" name="Text 9"/>
          <p:cNvSpPr/>
          <p:nvPr/>
        </p:nvSpPr>
        <p:spPr>
          <a:xfrm>
            <a:off x="661475" y="4320183"/>
            <a:ext cx="10868745" cy="1137245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if문 끝에는 콜론(:)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조건에 포함되는 코드는 들여쓰기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블록의 문장은 같은 깊이로 들여쓰기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일반적으로 공백 4칸 사용</a:t>
            </a:r>
            <a:endParaRPr lang="ko-KR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5625306"/>
            <a:ext cx="10868745" cy="607120"/>
          </a:xfrm>
          <a:prstGeom prst="roundRect">
            <a:avLst>
              <a:gd name="adj" fmla="val 23292"/>
            </a:avLst>
          </a:prstGeom>
          <a:solidFill>
            <a:srgbClr val="FCF2B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5841305"/>
            <a:ext cx="196349" cy="15706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71943" y="5813723"/>
            <a:ext cx="1081080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들여쓰기는 단순한 보기 좋기 규칙이 아니라 Python 문법입니다.</a:t>
            </a:r>
            <a:endParaRPr lang="ko-KR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2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 - else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5067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가지 경우 중 하나를 선택할 때 사용합니다.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1901329"/>
            <a:ext cx="5470785" cy="4353322"/>
          </a:xfrm>
          <a:prstGeom prst="roundRect">
            <a:avLst>
              <a:gd name="adj" fmla="val 547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06662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형식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2511127"/>
            <a:ext cx="5140196" cy="1389063"/>
          </a:xfrm>
          <a:prstGeom prst="roundRect">
            <a:avLst>
              <a:gd name="adj" fmla="val 10716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2676426"/>
            <a:ext cx="4743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조건식: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조건이 True일 때 실행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조건이 False일 때 실행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303904" y="206662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303904" y="2511127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502337" y="2676426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75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80: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print("PASS")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print("RETRY")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461545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303904" y="5059958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502337" y="5225256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5841206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else에는 조건식을 작성하지 않습니다.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82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 - elif - else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0570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 가지 이상의 경우를 구분할 때 사용합니다.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456359"/>
            <a:ext cx="5470785" cy="3243362"/>
          </a:xfrm>
          <a:prstGeom prst="roundRect">
            <a:avLst>
              <a:gd name="adj" fmla="val 734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62165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형식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3066157"/>
            <a:ext cx="5140196" cy="2447528"/>
          </a:xfrm>
          <a:prstGeom prst="roundRect">
            <a:avLst>
              <a:gd name="adj" fmla="val 6082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3231455"/>
            <a:ext cx="474333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조건1: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실행문1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조건2: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실행문2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조건3: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실행문3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ko-KR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나머지 실행문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303904" y="262165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특징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045420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위에서 아래로 조건을 확인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처음 True가 된 블록 하나만 실행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이후 조건은 검사하지 않음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4140994"/>
            <a:ext cx="5232666" cy="644823"/>
          </a:xfrm>
          <a:prstGeom prst="roundRect">
            <a:avLst>
              <a:gd name="adj" fmla="val 23084"/>
            </a:avLst>
          </a:prstGeom>
          <a:solidFill>
            <a:srgbClr val="E1E1E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4393406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41160" y="4331097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따라서 조건의 '순서'가 매우 중요합니다.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757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성적 등급 판정 예제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872357"/>
            <a:ext cx="5470785" cy="3878064"/>
          </a:xfrm>
          <a:prstGeom prst="roundRect">
            <a:avLst>
              <a:gd name="adj" fmla="val 614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07710" y="2058392"/>
            <a:ext cx="5140196" cy="3505994"/>
          </a:xfrm>
          <a:prstGeom prst="roundRect">
            <a:avLst>
              <a:gd name="adj" fmla="val 4246"/>
            </a:avLst>
          </a:prstGeom>
          <a:solidFill>
            <a:srgbClr val="282834"/>
          </a:solidFill>
          <a:ln/>
        </p:spPr>
      </p:sp>
      <p:sp>
        <p:nvSpPr>
          <p:cNvPr id="5" name="Text 3"/>
          <p:cNvSpPr/>
          <p:nvPr/>
        </p:nvSpPr>
        <p:spPr>
          <a:xfrm>
            <a:off x="906142" y="2223691"/>
            <a:ext cx="4743331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"A"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"B"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"C"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"F"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print(grade)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0376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실행 과정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461419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&gt;= 90 → False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&gt;= 80 → True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= "B"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이후 조건은 검사하지 않음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38587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4282480"/>
            <a:ext cx="5232666" cy="1033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</a:t>
            </a:r>
            <a:endParaRPr lang="en-US" sz="6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0381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조건의 순서가 중요한 이유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74378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잘못된 순서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787823"/>
            <a:ext cx="5242687" cy="282833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49986" y="1944886"/>
            <a:ext cx="4865665" cy="251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95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60: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"D"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70: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"C"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"B"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90: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"A"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4784030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5178822"/>
            <a:ext cx="585227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5573216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이유</a:t>
            </a:r>
            <a:endParaRPr lang="ko-KR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5968008"/>
            <a:ext cx="585227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첫 번째 조건 score &gt;= 60이 이미 True이기 때문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180677" y="1225153"/>
            <a:ext cx="5469098" cy="5122366"/>
          </a:xfrm>
          <a:prstGeom prst="roundRect">
            <a:avLst>
              <a:gd name="adj" fmla="val 441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37737" y="1374378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개선</a:t>
            </a:r>
            <a:endParaRPr lang="ko-KR" sz="1500" dirty="0"/>
          </a:p>
        </p:txBody>
      </p:sp>
      <p:sp>
        <p:nvSpPr>
          <p:cNvPr id="12" name="Text 10"/>
          <p:cNvSpPr/>
          <p:nvPr/>
        </p:nvSpPr>
        <p:spPr>
          <a:xfrm>
            <a:off x="6337737" y="1769170"/>
            <a:ext cx="5764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범위가 좁거나 기준이 높은 조건부터 검사</a:t>
            </a:r>
            <a:endParaRPr lang="ko-KR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19" y="2182217"/>
            <a:ext cx="4897216" cy="21153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35241" y="3832480"/>
            <a:ext cx="727137" cy="13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 이상</a:t>
            </a:r>
            <a:endParaRPr lang="ko-KR" sz="800" dirty="0"/>
          </a:p>
        </p:txBody>
      </p:sp>
      <p:sp>
        <p:nvSpPr>
          <p:cNvPr id="15" name="Text 12"/>
          <p:cNvSpPr/>
          <p:nvPr/>
        </p:nvSpPr>
        <p:spPr>
          <a:xfrm>
            <a:off x="7635241" y="4002589"/>
            <a:ext cx="727137" cy="10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ko-KR" alt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 다음 높은 기준</a:t>
            </a:r>
            <a:endParaRPr lang="ko-KR" sz="650" dirty="0"/>
          </a:p>
        </p:txBody>
      </p:sp>
      <p:sp>
        <p:nvSpPr>
          <p:cNvPr id="16" name="Text 13"/>
          <p:cNvSpPr/>
          <p:nvPr/>
        </p:nvSpPr>
        <p:spPr>
          <a:xfrm>
            <a:off x="9502342" y="3832480"/>
            <a:ext cx="727137" cy="13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 이상</a:t>
            </a:r>
            <a:endParaRPr lang="ko-KR" sz="800" dirty="0"/>
          </a:p>
        </p:txBody>
      </p:sp>
      <p:sp>
        <p:nvSpPr>
          <p:cNvPr id="17" name="Text 14"/>
          <p:cNvSpPr/>
          <p:nvPr/>
        </p:nvSpPr>
        <p:spPr>
          <a:xfrm>
            <a:off x="9502342" y="4002589"/>
            <a:ext cx="727137" cy="10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ko-KR" alt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기본 기준 검사</a:t>
            </a:r>
            <a:endParaRPr lang="ko-KR" sz="650" dirty="0"/>
          </a:p>
        </p:txBody>
      </p:sp>
      <p:sp>
        <p:nvSpPr>
          <p:cNvPr id="18" name="Text 15"/>
          <p:cNvSpPr/>
          <p:nvPr/>
        </p:nvSpPr>
        <p:spPr>
          <a:xfrm>
            <a:off x="6704008" y="2373092"/>
            <a:ext cx="727137" cy="132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 이상</a:t>
            </a:r>
            <a:endParaRPr lang="ko-KR" sz="800" dirty="0"/>
          </a:p>
        </p:txBody>
      </p:sp>
      <p:sp>
        <p:nvSpPr>
          <p:cNvPr id="19" name="Text 16"/>
          <p:cNvSpPr/>
          <p:nvPr/>
        </p:nvSpPr>
        <p:spPr>
          <a:xfrm>
            <a:off x="6704008" y="2543201"/>
            <a:ext cx="727137" cy="10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ko-KR" alt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최우선으로 검사</a:t>
            </a:r>
            <a:endParaRPr lang="ko-KR" sz="650" dirty="0"/>
          </a:p>
        </p:txBody>
      </p:sp>
      <p:sp>
        <p:nvSpPr>
          <p:cNvPr id="20" name="Text 17"/>
          <p:cNvSpPr/>
          <p:nvPr/>
        </p:nvSpPr>
        <p:spPr>
          <a:xfrm>
            <a:off x="10405838" y="2373092"/>
            <a:ext cx="727137" cy="132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그 외</a:t>
            </a:r>
            <a:endParaRPr lang="ko-KR" sz="800" dirty="0"/>
          </a:p>
        </p:txBody>
      </p:sp>
      <p:sp>
        <p:nvSpPr>
          <p:cNvPr id="21" name="Text 18"/>
          <p:cNvSpPr/>
          <p:nvPr/>
        </p:nvSpPr>
        <p:spPr>
          <a:xfrm>
            <a:off x="10405838" y="2543201"/>
            <a:ext cx="727137" cy="10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ko-KR" alt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나머지 경우 처리</a:t>
            </a:r>
            <a:endParaRPr lang="ko-KR" sz="650" dirty="0"/>
          </a:p>
        </p:txBody>
      </p:sp>
      <p:sp>
        <p:nvSpPr>
          <p:cNvPr id="22" name="Text 19"/>
          <p:cNvSpPr/>
          <p:nvPr/>
        </p:nvSpPr>
        <p:spPr>
          <a:xfrm>
            <a:off x="8580379" y="2373092"/>
            <a:ext cx="727137" cy="132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 이상</a:t>
            </a:r>
            <a:endParaRPr lang="ko-KR" sz="800" dirty="0"/>
          </a:p>
        </p:txBody>
      </p:sp>
      <p:sp>
        <p:nvSpPr>
          <p:cNvPr id="23" name="Text 20"/>
          <p:cNvSpPr/>
          <p:nvPr/>
        </p:nvSpPr>
        <p:spPr>
          <a:xfrm>
            <a:off x="8580379" y="2543201"/>
            <a:ext cx="727137" cy="10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ko-KR" alt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중간 수준 검사</a:t>
            </a:r>
            <a:endParaRPr lang="ko-KR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86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범위 조건 표현하기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873448"/>
            <a:ext cx="5470785" cy="3875782"/>
          </a:xfrm>
          <a:prstGeom prst="roundRect">
            <a:avLst>
              <a:gd name="adj" fmla="val 614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03874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방법 1: 논리 연산자 사용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07710" y="2483247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906142" y="2648545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80 and score &lt; 90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7710" y="326449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방법 2: Python 비교 연산 연결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707710" y="3708995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906142" y="3874294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&lt;= score &lt; 90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7710" y="4490244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조건식은 같은 의미입니다.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203874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303904" y="2483247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502337" y="2648545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80 &lt;= score &lt; 90: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 구간")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409159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실무에서 중요한 점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6303904" y="451536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 범위가 겹치거나 빠지지 않도록 경계값을 확인해야 합니다.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6303904" y="503671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경계값 예</a:t>
            </a:r>
            <a:endParaRPr lang="ko-KR" sz="1600" dirty="0"/>
          </a:p>
        </p:txBody>
      </p:sp>
      <p:sp>
        <p:nvSpPr>
          <p:cNvPr id="17" name="Text 15"/>
          <p:cNvSpPr/>
          <p:nvPr/>
        </p:nvSpPr>
        <p:spPr>
          <a:xfrm>
            <a:off x="6303904" y="5460478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79, 80, 89, 90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617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조건을 함께 판단하기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662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690019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점수가 70점 이상이고 출석률이 80% 이상이면 합격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11993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543697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&gt;= 70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&gt;= 80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29607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결합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61475" y="4740573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59907" y="4905871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70 and attendance &gt;= 80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4844" y="2100957"/>
            <a:ext cx="5470785" cy="3420864"/>
          </a:xfrm>
          <a:prstGeom prst="roundRect">
            <a:avLst>
              <a:gd name="adj" fmla="val 696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50139" y="226625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139" y="2710755"/>
            <a:ext cx="5140196" cy="1389063"/>
          </a:xfrm>
          <a:prstGeom prst="roundRect">
            <a:avLst>
              <a:gd name="adj" fmla="val 10716"/>
            </a:avLst>
          </a:prstGeom>
          <a:solidFill>
            <a:srgbClr val="282834"/>
          </a:solidFill>
          <a:ln/>
        </p:spPr>
      </p:sp>
      <p:sp>
        <p:nvSpPr>
          <p:cNvPr id="13" name="Text 11"/>
          <p:cNvSpPr/>
          <p:nvPr/>
        </p:nvSpPr>
        <p:spPr>
          <a:xfrm>
            <a:off x="6548571" y="2876054"/>
            <a:ext cx="4743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70 and attendance &gt;= 80: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print("PASS")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print("FAIL")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50139" y="4285853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and는 '둘 다 만족'해야 하는 업무 규칙에 자주 사용됩니다.</a:t>
            </a:r>
            <a:endParaRPr lang="ko-KR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06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or와 not 활용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085380"/>
            <a:ext cx="5470785" cy="3452019"/>
          </a:xfrm>
          <a:prstGeom prst="roundRect">
            <a:avLst>
              <a:gd name="adj" fmla="val 689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25067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 예제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674441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온라인 또는 오프라인 중 하나만 신청해도 수강 가능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707710" y="3125093"/>
            <a:ext cx="5140196" cy="1389063"/>
          </a:xfrm>
          <a:prstGeom prst="roundRect">
            <a:avLst>
              <a:gd name="adj" fmla="val 10716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3290391"/>
            <a:ext cx="4743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= "online"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mode == "online" or mode == "offline":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print("신청 가능")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25067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 예제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2674441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로그인하지 않은 경우 안내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3125093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02337" y="3290391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is_login = False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is_login: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print("로그인이 필요합니다.")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303904" y="470019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읽는 방법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6303904" y="512395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is_login → is_login이 아니다 → 로그인 상태가 False이면 True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36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중첩 조건문(Nested if)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4109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조건문 안에 다른 조건문을 작성할 수 있습니다.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191742"/>
            <a:ext cx="5470785" cy="3772595"/>
          </a:xfrm>
          <a:prstGeom prst="roundRect">
            <a:avLst>
              <a:gd name="adj" fmla="val 631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35704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2801541"/>
            <a:ext cx="5140196" cy="2976761"/>
          </a:xfrm>
          <a:prstGeom prst="roundRect">
            <a:avLst>
              <a:gd name="adj" fmla="val 5000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2966839"/>
            <a:ext cx="4743331" cy="26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 = 75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70: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attendance &gt;= 80: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print("PASS")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print("FAIL: 출석률 부족")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print("FAIL: 점수 부족")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35704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장점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278080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판정 과정을 단계별로 표현하기 쉬움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33686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379242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중첩이 너무 깊으면 코드 이해가 어려워질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972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input()과 조건문 연결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8715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input()의 결과는 문자열입니다.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60310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잘못된 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047603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3212902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input("점수: 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80: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print("PASS")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62270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504646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문자열과 정수를 직접 비교할 수 없음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2437805"/>
            <a:ext cx="5470785" cy="3280370"/>
          </a:xfrm>
          <a:prstGeom prst="roundRect">
            <a:avLst>
              <a:gd name="adj" fmla="val 726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260310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개선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6350139" y="3047603"/>
            <a:ext cx="5140196" cy="1389063"/>
          </a:xfrm>
          <a:prstGeom prst="roundRect">
            <a:avLst>
              <a:gd name="adj" fmla="val 10716"/>
            </a:avLst>
          </a:prstGeom>
          <a:solidFill>
            <a:srgbClr val="282834"/>
          </a:solidFill>
          <a:ln/>
        </p:spPr>
      </p:sp>
      <p:sp>
        <p:nvSpPr>
          <p:cNvPr id="12" name="Text 10"/>
          <p:cNvSpPr/>
          <p:nvPr/>
        </p:nvSpPr>
        <p:spPr>
          <a:xfrm>
            <a:off x="6548571" y="3212902"/>
            <a:ext cx="4743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int(input("점수: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80: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print("PASS")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6350139" y="4622701"/>
            <a:ext cx="5140196" cy="909439"/>
          </a:xfrm>
          <a:prstGeom prst="roundRect">
            <a:avLst>
              <a:gd name="adj" fmla="val 16367"/>
            </a:avLst>
          </a:prstGeom>
          <a:solidFill>
            <a:srgbClr val="34344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433" y="4875113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87395" y="4812804"/>
            <a:ext cx="443764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→ 형변환 → 조건 판단 → 출력 이 흐름을 </a:t>
            </a:r>
            <a:endParaRPr lang="en-US" altLang="ko-KR" sz="13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습관적으로 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48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유효한 입력 범위도 조건으로 검사하기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189659"/>
            <a:ext cx="5470785" cy="3243362"/>
          </a:xfrm>
          <a:prstGeom prst="roundRect">
            <a:avLst>
              <a:gd name="adj" fmla="val 734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35495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점수의 정상 범위: 0 ~ 100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07710" y="2799457"/>
            <a:ext cx="5140196" cy="2447528"/>
          </a:xfrm>
          <a:prstGeom prst="roundRect">
            <a:avLst>
              <a:gd name="adj" fmla="val 6082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906142" y="2964755"/>
            <a:ext cx="474333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int(input("점수: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0 or score &gt; 100: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print("입력 오류")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print("PASS")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print("RETRY")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35495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303903" y="2778719"/>
            <a:ext cx="6140249" cy="178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조건문은 업무 규칙뿐 아니라 입력 데이터가 정상 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범위인지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검사하는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데도 사용할 수 있습니다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09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설계: 조건 기반 성적 판정기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6104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284809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점수(score)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출석률(attendance)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03718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처리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460948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범위가 정상인지 검사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점수에 따라 등급 판정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점수와 출석률을 함께 이용해 최종 합격 여부 판정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53578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4959548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등급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판정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판정 이유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1695748"/>
            <a:ext cx="5470785" cy="4231184"/>
          </a:xfrm>
          <a:prstGeom prst="roundRect">
            <a:avLst>
              <a:gd name="adj" fmla="val 562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186104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학습 포인트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6350139" y="2305546"/>
            <a:ext cx="2487451" cy="589062"/>
          </a:xfrm>
          <a:prstGeom prst="roundRect">
            <a:avLst>
              <a:gd name="adj" fmla="val 25269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5433" y="2470845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비교 연산자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9002884" y="2305546"/>
            <a:ext cx="2487451" cy="589062"/>
          </a:xfrm>
          <a:prstGeom prst="roundRect">
            <a:avLst>
              <a:gd name="adj" fmla="val 25269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68178" y="2470845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논리 연산자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350139" y="3059906"/>
            <a:ext cx="2487451" cy="589062"/>
          </a:xfrm>
          <a:prstGeom prst="roundRect">
            <a:avLst>
              <a:gd name="adj" fmla="val 25269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5433" y="3225205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 / elif / else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02884" y="3059906"/>
            <a:ext cx="2487451" cy="589062"/>
          </a:xfrm>
          <a:prstGeom prst="roundRect">
            <a:avLst>
              <a:gd name="adj" fmla="val 25269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68178" y="3225205"/>
            <a:ext cx="2156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중첩조건</a:t>
            </a:r>
            <a:endParaRPr lang="ko-KR" sz="1600" dirty="0"/>
          </a:p>
        </p:txBody>
      </p:sp>
      <p:sp>
        <p:nvSpPr>
          <p:cNvPr id="19" name="Shape 17"/>
          <p:cNvSpPr/>
          <p:nvPr/>
        </p:nvSpPr>
        <p:spPr>
          <a:xfrm>
            <a:off x="6350139" y="3814266"/>
            <a:ext cx="5140196" cy="589062"/>
          </a:xfrm>
          <a:prstGeom prst="roundRect">
            <a:avLst>
              <a:gd name="adj" fmla="val 25269"/>
            </a:avLst>
          </a:prstGeom>
          <a:solidFill>
            <a:srgbClr val="1B1B27"/>
          </a:solidFill>
          <a:ln/>
          <a:effectLst>
            <a:outerShdw blurRad="247650" dist="127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5433" y="3979565"/>
            <a:ext cx="48096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경계값</a:t>
            </a:r>
            <a:endParaRPr lang="ko-KR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83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의사코드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05818"/>
            <a:ext cx="10868745" cy="5093692"/>
          </a:xfrm>
          <a:prstGeom prst="roundRect">
            <a:avLst>
              <a:gd name="adj" fmla="val 292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471116"/>
            <a:ext cx="10471880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점수를 입력받는다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출석률을 입력받는다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만약 점수가 0보다 작거나 100보다 크면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"점수 입력 오류"를 출력한다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그렇지 않고 출석률이 0보다 작거나 100보다 크면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"출석률 입력 오류"를 출력한다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그렇지 않으면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점수가 90 이상이면 A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아니고 80 이상이면 B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아니고 70 이상이면 C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아니고 60 이상이면 D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그 외에는 F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만약 점수가 70 이상이고 출석률이 80 이상이면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"PASS" 출력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그렇지 않으면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"FAIL" 출력</a:t>
            </a:r>
            <a:endParaRPr lang="ko-KR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40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코드 핵심</a:t>
            </a:r>
            <a:endParaRPr lang="ko-KR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65436"/>
            <a:ext cx="10868745" cy="5060156"/>
          </a:xfrm>
          <a:prstGeom prst="roundRect">
            <a:avLst>
              <a:gd name="adj" fmla="val 2647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40064" y="1414264"/>
            <a:ext cx="10511567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int(input("점수: "))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 = int(input("출석률(%): "))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0 or score &gt; 100: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print("점수 입력 오류")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attendance &lt; 0 or attendance &gt; 100: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print("출석률 입력 오류")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score &gt;= 90: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"A"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elif score &gt;= 80: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"B"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elif score &gt;= 70: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"C"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elif score &gt;= 60: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"D"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else: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"F"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print(f"등급: {grade}")</a:t>
            </a:r>
            <a:endParaRPr lang="ko-KR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96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Basic 과제</a:t>
            </a:r>
            <a:endParaRPr lang="ko-KR" sz="3050" dirty="0"/>
          </a:p>
        </p:txBody>
      </p:sp>
      <p:sp>
        <p:nvSpPr>
          <p:cNvPr id="3" name="Shape 1"/>
          <p:cNvSpPr/>
          <p:nvPr/>
        </p:nvSpPr>
        <p:spPr>
          <a:xfrm>
            <a:off x="548269" y="1252736"/>
            <a:ext cx="5469098" cy="5067201"/>
          </a:xfrm>
          <a:prstGeom prst="roundRect">
            <a:avLst>
              <a:gd name="adj" fmla="val 446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5328" y="1401961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</a:t>
            </a:r>
            <a:endParaRPr lang="ko-KR" sz="1500" dirty="0"/>
          </a:p>
        </p:txBody>
      </p:sp>
      <p:sp>
        <p:nvSpPr>
          <p:cNvPr id="5" name="Text 3"/>
          <p:cNvSpPr/>
          <p:nvPr/>
        </p:nvSpPr>
        <p:spPr>
          <a:xfrm>
            <a:off x="705328" y="1796752"/>
            <a:ext cx="5764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 한 개를 입력받아 합격 여부 출력</a:t>
            </a:r>
            <a:endParaRPr lang="ko-KR" sz="1200" dirty="0"/>
          </a:p>
        </p:txBody>
      </p:sp>
      <p:sp>
        <p:nvSpPr>
          <p:cNvPr id="6" name="Text 4"/>
          <p:cNvSpPr/>
          <p:nvPr/>
        </p:nvSpPr>
        <p:spPr>
          <a:xfrm>
            <a:off x="705328" y="2191147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규칙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705328" y="2585938"/>
            <a:ext cx="5154980" cy="542528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60점 이상: PASS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60점 미만: RETRY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6293883" y="1401961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 예</a:t>
            </a:r>
            <a:endParaRPr lang="ko-KR" sz="1500" dirty="0"/>
          </a:p>
        </p:txBody>
      </p:sp>
      <p:sp>
        <p:nvSpPr>
          <p:cNvPr id="9" name="Shape 7"/>
          <p:cNvSpPr/>
          <p:nvPr/>
        </p:nvSpPr>
        <p:spPr>
          <a:xfrm>
            <a:off x="6293883" y="1815405"/>
            <a:ext cx="5242687" cy="565547"/>
          </a:xfrm>
          <a:prstGeom prst="roundRect">
            <a:avLst>
              <a:gd name="adj" fmla="val 2500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82394" y="1972469"/>
            <a:ext cx="54752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점수: 75</a:t>
            </a:r>
            <a:endParaRPr lang="ko-KR" sz="1200" dirty="0"/>
          </a:p>
        </p:txBody>
      </p:sp>
      <p:sp>
        <p:nvSpPr>
          <p:cNvPr id="11" name="Text 9"/>
          <p:cNvSpPr/>
          <p:nvPr/>
        </p:nvSpPr>
        <p:spPr>
          <a:xfrm>
            <a:off x="6293883" y="2548830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 예</a:t>
            </a:r>
            <a:endParaRPr lang="ko-KR" sz="1500" dirty="0"/>
          </a:p>
        </p:txBody>
      </p:sp>
      <p:sp>
        <p:nvSpPr>
          <p:cNvPr id="12" name="Shape 10"/>
          <p:cNvSpPr/>
          <p:nvPr/>
        </p:nvSpPr>
        <p:spPr>
          <a:xfrm>
            <a:off x="6293883" y="2962275"/>
            <a:ext cx="5242687" cy="565547"/>
          </a:xfrm>
          <a:prstGeom prst="roundRect">
            <a:avLst>
              <a:gd name="adj" fmla="val 2500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82394" y="3119338"/>
            <a:ext cx="547525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93883" y="3695700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필수 요소</a:t>
            </a:r>
            <a:endParaRPr lang="ko-KR" sz="1500" dirty="0"/>
          </a:p>
        </p:txBody>
      </p:sp>
      <p:sp>
        <p:nvSpPr>
          <p:cNvPr id="15" name="Shape 13"/>
          <p:cNvSpPr/>
          <p:nvPr/>
        </p:nvSpPr>
        <p:spPr>
          <a:xfrm>
            <a:off x="6293883" y="4109145"/>
            <a:ext cx="2546683" cy="559693"/>
          </a:xfrm>
          <a:prstGeom prst="roundRect">
            <a:avLst>
              <a:gd name="adj" fmla="val 25265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50943" y="4266208"/>
            <a:ext cx="2232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input()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89788" y="4109145"/>
            <a:ext cx="2546782" cy="559693"/>
          </a:xfrm>
          <a:prstGeom prst="roundRect">
            <a:avLst>
              <a:gd name="adj" fmla="val 25265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6847" y="4266208"/>
            <a:ext cx="22326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int()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93883" y="4818063"/>
            <a:ext cx="2546683" cy="559693"/>
          </a:xfrm>
          <a:prstGeom prst="roundRect">
            <a:avLst>
              <a:gd name="adj" fmla="val 25265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50943" y="4975126"/>
            <a:ext cx="2232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89788" y="4818063"/>
            <a:ext cx="2546782" cy="559693"/>
          </a:xfrm>
          <a:prstGeom prst="roundRect">
            <a:avLst>
              <a:gd name="adj" fmla="val 25265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6847" y="4975126"/>
            <a:ext cx="22326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93883" y="5545634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확인할 경계값</a:t>
            </a:r>
            <a:endParaRPr lang="ko-KR" sz="1500" dirty="0"/>
          </a:p>
        </p:txBody>
      </p:sp>
      <p:sp>
        <p:nvSpPr>
          <p:cNvPr id="24" name="Text 22"/>
          <p:cNvSpPr/>
          <p:nvPr/>
        </p:nvSpPr>
        <p:spPr>
          <a:xfrm>
            <a:off x="6293883" y="5940425"/>
            <a:ext cx="585227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59, 60, 61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675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과제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811536"/>
            <a:ext cx="5470785" cy="3999706"/>
          </a:xfrm>
          <a:prstGeom prst="roundRect">
            <a:avLst>
              <a:gd name="adj" fmla="val 595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97683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400598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 구간에 따라 A~F 등급 판정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28305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규칙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254276"/>
            <a:ext cx="5140196" cy="155446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90~100: 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80~89: B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70~79: C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60~69: 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0~59: 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497403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추가 규칙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707710" y="5397798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0보다 작거나 100보다 큰 점수는 "입력 오류"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197683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포인트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2400598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높은 기준부터 비교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elif 사용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경계값 확인</a:t>
            </a:r>
            <a:endParaRPr lang="ko-KR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09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 과제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6104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284809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점수와 출석률을 함께 사용하여 최종 판정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71472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138488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출석률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89086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규칙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4314627"/>
            <a:ext cx="5232666" cy="155446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범위 오류가 있으면 입력 오류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 90 이상 AND 출석률 95 이상: 우수 합격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 70 이상 AND 출석률 80 이상: 합격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출석률 80 미만: 출석 미달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 외: 점수 미달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1695748"/>
            <a:ext cx="5470785" cy="4231184"/>
          </a:xfrm>
          <a:prstGeom prst="roundRect">
            <a:avLst>
              <a:gd name="adj" fmla="val 562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186104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포인트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2284809"/>
            <a:ext cx="514019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elif의 순서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업무 규칙의 우선순위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492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자주 발생하는 오류와 디버깅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682353"/>
            <a:ext cx="3512653" cy="1255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186670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1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224385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score = 80: → 비교는 == 사용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1682353"/>
            <a:ext cx="3512752" cy="12556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1866702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2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2224385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score &gt;= 80 → 콜론(:) 누락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1682353"/>
            <a:ext cx="3512653" cy="12556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186670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3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2224385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input() 결과를 숫자로 변환하지 않음 → int(input(...))</a:t>
            </a:r>
            <a:endParaRPr lang="ko-KR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3103265"/>
            <a:ext cx="3512653" cy="12556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3287613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4</a:t>
            </a:r>
            <a:endParaRPr lang="ko-KR" sz="1600" dirty="0"/>
          </a:p>
        </p:txBody>
      </p:sp>
      <p:sp>
        <p:nvSpPr>
          <p:cNvPr id="14" name="Text 8"/>
          <p:cNvSpPr/>
          <p:nvPr/>
        </p:nvSpPr>
        <p:spPr>
          <a:xfrm>
            <a:off x="922017" y="3645297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 순서가 잘못됨 → 높은 기준부터 확인</a:t>
            </a:r>
            <a:endParaRPr lang="ko-KR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9422" y="3103265"/>
            <a:ext cx="3512752" cy="12556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9964" y="3287613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5</a:t>
            </a:r>
            <a:endParaRPr lang="ko-KR" sz="1600" dirty="0"/>
          </a:p>
        </p:txBody>
      </p:sp>
      <p:sp>
        <p:nvSpPr>
          <p:cNvPr id="17" name="Text 10"/>
          <p:cNvSpPr/>
          <p:nvPr/>
        </p:nvSpPr>
        <p:spPr>
          <a:xfrm>
            <a:off x="4599964" y="3645297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경계값 누락 → 59/60, 79/80, 89/90처럼 경계값 테스트</a:t>
            </a:r>
            <a:endParaRPr lang="ko-KR" sz="1300" dirty="0"/>
          </a:p>
        </p:txBody>
      </p:sp>
      <p:sp>
        <p:nvSpPr>
          <p:cNvPr id="18" name="Text 11"/>
          <p:cNvSpPr/>
          <p:nvPr/>
        </p:nvSpPr>
        <p:spPr>
          <a:xfrm>
            <a:off x="661475" y="4690052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디버깅 질문</a:t>
            </a:r>
            <a:endParaRPr lang="ko-KR" sz="1600" dirty="0"/>
          </a:p>
        </p:txBody>
      </p:sp>
      <p:sp>
        <p:nvSpPr>
          <p:cNvPr id="19" name="Text 12"/>
          <p:cNvSpPr/>
          <p:nvPr/>
        </p:nvSpPr>
        <p:spPr>
          <a:xfrm>
            <a:off x="661475" y="5113437"/>
            <a:ext cx="10868745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변수 값은 무엇인가?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조건식 결과는 True인가 False인가?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어떤 블록이 실행되어야 하는가?</a:t>
            </a:r>
            <a:endParaRPr lang="ko-KR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67420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 정리와 다음 학습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542415" y="2032198"/>
            <a:ext cx="3184842" cy="3558282"/>
          </a:xfrm>
          <a:prstGeom prst="roundRect">
            <a:avLst>
              <a:gd name="adj" fmla="val 747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07710" y="2197497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707710" y="2621260"/>
            <a:ext cx="2854254" cy="272861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fontScale="925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Condition: True/False로 평가되는 식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Boolean: True와 False를 표현하는 자료형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if: 조건이 True일 때 실행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elif: 추가 조건 검사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else: 앞 조건이 모두 False일 때 실행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and/or/not: 여러 조건 결합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중첩조건: 조건 안에서 추가 조건 판단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4017961" y="2197497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 해결 순서</a:t>
            </a:r>
            <a:endParaRPr lang="ko-KR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961" y="2641997"/>
            <a:ext cx="2946723" cy="15117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8152" y="3750379"/>
            <a:ext cx="650083" cy="8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ko-KR" altLang="en-US" sz="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</a:t>
            </a:r>
            <a:endParaRPr lang="ko-KR" sz="500" dirty="0"/>
          </a:p>
        </p:txBody>
      </p:sp>
      <p:sp>
        <p:nvSpPr>
          <p:cNvPr id="10" name="Text 6"/>
          <p:cNvSpPr/>
          <p:nvPr/>
        </p:nvSpPr>
        <p:spPr>
          <a:xfrm>
            <a:off x="4341924" y="3854756"/>
            <a:ext cx="696311" cy="13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ko-KR" altLang="en-US" sz="4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문제에서 요구하는 데이터를 읽어들임.</a:t>
            </a:r>
            <a:endParaRPr lang="ko-KR" sz="400" dirty="0"/>
          </a:p>
        </p:txBody>
      </p:sp>
      <p:sp>
        <p:nvSpPr>
          <p:cNvPr id="11" name="Text 7"/>
          <p:cNvSpPr/>
          <p:nvPr/>
        </p:nvSpPr>
        <p:spPr>
          <a:xfrm>
            <a:off x="4133897" y="2917846"/>
            <a:ext cx="650083" cy="8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ko-KR" altLang="en-US" sz="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 설계</a:t>
            </a:r>
            <a:endParaRPr lang="ko-KR" sz="500" dirty="0"/>
          </a:p>
        </p:txBody>
      </p:sp>
      <p:sp>
        <p:nvSpPr>
          <p:cNvPr id="12" name="Text 8"/>
          <p:cNvSpPr/>
          <p:nvPr/>
        </p:nvSpPr>
        <p:spPr>
          <a:xfrm>
            <a:off x="4087669" y="3022223"/>
            <a:ext cx="696311" cy="13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ko-KR" altLang="en-US" sz="4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True/False 판정할 조건식을 정의.</a:t>
            </a:r>
            <a:endParaRPr lang="ko-KR" sz="400" dirty="0"/>
          </a:p>
        </p:txBody>
      </p:sp>
      <p:sp>
        <p:nvSpPr>
          <p:cNvPr id="13" name="Text 9"/>
          <p:cNvSpPr/>
          <p:nvPr/>
        </p:nvSpPr>
        <p:spPr>
          <a:xfrm>
            <a:off x="5153805" y="2875951"/>
            <a:ext cx="650082" cy="8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분기</a:t>
            </a:r>
            <a:endParaRPr lang="ko-KR" sz="500" dirty="0"/>
          </a:p>
        </p:txBody>
      </p:sp>
      <p:sp>
        <p:nvSpPr>
          <p:cNvPr id="14" name="Text 10"/>
          <p:cNvSpPr/>
          <p:nvPr/>
        </p:nvSpPr>
        <p:spPr>
          <a:xfrm>
            <a:off x="5153805" y="2980328"/>
            <a:ext cx="696311" cy="65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4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if/elif/else로 흐름을 나눔.</a:t>
            </a:r>
            <a:endParaRPr lang="ko-KR" sz="400" dirty="0"/>
          </a:p>
        </p:txBody>
      </p:sp>
      <p:sp>
        <p:nvSpPr>
          <p:cNvPr id="15" name="Text 11"/>
          <p:cNvSpPr/>
          <p:nvPr/>
        </p:nvSpPr>
        <p:spPr>
          <a:xfrm>
            <a:off x="5893454" y="3750379"/>
            <a:ext cx="650083" cy="8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500" dirty="0"/>
          </a:p>
        </p:txBody>
      </p:sp>
      <p:sp>
        <p:nvSpPr>
          <p:cNvPr id="16" name="Text 12"/>
          <p:cNvSpPr/>
          <p:nvPr/>
        </p:nvSpPr>
        <p:spPr>
          <a:xfrm>
            <a:off x="5893454" y="3854756"/>
            <a:ext cx="696311" cy="65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4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결과를 화면이나 변수로 전달.</a:t>
            </a:r>
            <a:endParaRPr lang="ko-KR" sz="400" dirty="0"/>
          </a:p>
        </p:txBody>
      </p:sp>
      <p:sp>
        <p:nvSpPr>
          <p:cNvPr id="17" name="Text 13"/>
          <p:cNvSpPr/>
          <p:nvPr/>
        </p:nvSpPr>
        <p:spPr>
          <a:xfrm>
            <a:off x="6198587" y="3026196"/>
            <a:ext cx="650082" cy="8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경계값 테스트</a:t>
            </a:r>
            <a:endParaRPr lang="ko-KR" sz="500" dirty="0"/>
          </a:p>
        </p:txBody>
      </p:sp>
      <p:sp>
        <p:nvSpPr>
          <p:cNvPr id="18" name="Text 14"/>
          <p:cNvSpPr/>
          <p:nvPr/>
        </p:nvSpPr>
        <p:spPr>
          <a:xfrm>
            <a:off x="6198587" y="3130573"/>
            <a:ext cx="696311" cy="65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4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최대·최소 사례로 검증.</a:t>
            </a:r>
            <a:endParaRPr lang="ko-KR" sz="400" dirty="0"/>
          </a:p>
        </p:txBody>
      </p:sp>
      <p:sp>
        <p:nvSpPr>
          <p:cNvPr id="19" name="Text 15"/>
          <p:cNvSpPr/>
          <p:nvPr/>
        </p:nvSpPr>
        <p:spPr>
          <a:xfrm>
            <a:off x="4017961" y="4339828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학습</a:t>
            </a:r>
            <a:endParaRPr lang="ko-KR" sz="1600" dirty="0"/>
          </a:p>
        </p:txBody>
      </p:sp>
      <p:sp>
        <p:nvSpPr>
          <p:cNvPr id="20" name="Text 16"/>
          <p:cNvSpPr/>
          <p:nvPr/>
        </p:nvSpPr>
        <p:spPr>
          <a:xfrm>
            <a:off x="4017961" y="4763591"/>
            <a:ext cx="2946723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/ while / range / list / dictionary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데이터를 반복해서 처리하는 방법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1987</Words>
  <Application>Microsoft Office PowerPoint</Application>
  <PresentationFormat>와이드스크린</PresentationFormat>
  <Paragraphs>510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Arial</vt:lpstr>
      <vt:lpstr>Calibri</vt:lpstr>
      <vt:lpstr>Inter</vt:lpstr>
      <vt:lpstr>Inter Bold</vt:lpstr>
      <vt:lpstr>Consolas</vt:lpstr>
      <vt:lpstr>맑은 고딕</vt:lpstr>
      <vt:lpstr>Consolas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lastModifiedBy>Windows 사용자</cp:lastModifiedBy>
  <cp:revision>2</cp:revision>
  <dcterms:created xsi:type="dcterms:W3CDTF">2026-08-26T04:50:34Z</dcterms:created>
  <dcterms:modified xsi:type="dcterms:W3CDTF">2026-08-26T04:59:06Z</dcterms:modified>
</cp:coreProperties>
</file>