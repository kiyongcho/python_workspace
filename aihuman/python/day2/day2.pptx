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Inter Light" panose="02000503000000020004" pitchFamily="2" charset="0"/>
      <p:regular r:id="rId39"/>
      <p: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맑은 고딕" panose="020B0503020000020004" pitchFamily="50" charset="-127"/>
      <p:regular r:id="rId45"/>
      <p:bold r:id="rId46"/>
    </p:embeddedFont>
    <p:embeddedFont>
      <p:font typeface="Inter Bold" panose="02000503000000020004" pitchFamily="2" charset="0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983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2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2.svg"/><Relationship Id="rId5" Type="http://schemas.openxmlformats.org/officeDocument/2006/relationships/image" Target="../media/image-5-2.svg"/><Relationship Id="rId10" Type="http://schemas.openxmlformats.org/officeDocument/2006/relationships/image" Target="../media/image-5-2.svg"/><Relationship Id="rId4" Type="http://schemas.openxmlformats.org/officeDocument/2006/relationships/image" Target="../media/image-5-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2.svg"/><Relationship Id="rId5" Type="http://schemas.openxmlformats.org/officeDocument/2006/relationships/image" Target="../media/image-8-2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1-2.svg"/><Relationship Id="rId5" Type="http://schemas.openxmlformats.org/officeDocument/2006/relationships/image" Target="../media/image-11-2.svg"/><Relationship Id="rId4" Type="http://schemas.openxmlformats.org/officeDocument/2006/relationships/image" Target="../media/image-11-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9-2.svg"/><Relationship Id="rId5" Type="http://schemas.openxmlformats.org/officeDocument/2006/relationships/image" Target="../media/image-19-2.svg"/><Relationship Id="rId4" Type="http://schemas.openxmlformats.org/officeDocument/2006/relationships/image" Target="../media/image-19-2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1-2.svg"/><Relationship Id="rId5" Type="http://schemas.openxmlformats.org/officeDocument/2006/relationships/image" Target="../media/image-21-2.svg"/><Relationship Id="rId4" Type="http://schemas.openxmlformats.org/officeDocument/2006/relationships/image" Target="../media/image-21-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7-6.svg"/><Relationship Id="rId3" Type="http://schemas.openxmlformats.org/officeDocument/2006/relationships/image" Target="../media/image13.png"/><Relationship Id="rId7" Type="http://schemas.openxmlformats.org/officeDocument/2006/relationships/image" Target="../media/image-27-6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-27-2.svg"/><Relationship Id="rId4" Type="http://schemas.openxmlformats.org/officeDocument/2006/relationships/image" Target="../media/image-27-2.svg"/><Relationship Id="rId9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8573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AI휴먼(AI Human) 개발자 과정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2550517"/>
            <a:ext cx="306578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6769" y="2715816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강의일차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073499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892552" y="2550517"/>
            <a:ext cx="306578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57846" y="2715816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교과목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4057846" y="3073499"/>
            <a:ext cx="273519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프로그래밍</a:t>
            </a:r>
            <a:endParaRPr lang="ko-KR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3668713"/>
            <a:ext cx="6296860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6769" y="3834011"/>
            <a:ext cx="59662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강의주제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26769" y="4191695"/>
            <a:ext cx="59662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실행 흐름과 변수·자료형·객체 이해</a:t>
            </a:r>
            <a:endParaRPr lang="ko-KR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4807645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핵심 질문: "Python에서 값은 어떻게 만들어지고, 이름을 붙여 다시 사용할까?"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8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흐름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7023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3217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5292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09:10~09:50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31060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전날 OT·개발환경 리뷰, 오늘 목표 확인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157023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1832173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1952923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10:00~10:50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8495" y="231060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실행 흐름, 변수, 자료형, 객체, type() 핵심 개념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661475" y="286454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312648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247231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11:00~12:50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475" y="3604915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실습코드 따라하기와 주석 기반 설명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286454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312648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178495" y="3247231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14:00~14:50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3604915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단답형 테스트 및 코드 결과 예측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415885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4420791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61475" y="4541540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15:00~16:50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1475" y="489922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→ Application → Challenge 수준별 과제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6178495" y="415885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8495" y="4420791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6178495" y="4541540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17:00~17:50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8495" y="4899223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 리뷰, 코드 설명, 다음 일차 예고</a:t>
            </a:r>
            <a:endParaRPr lang="ko-KR" sz="1300" dirty="0"/>
          </a:p>
        </p:txBody>
      </p:sp>
      <p:sp>
        <p:nvSpPr>
          <p:cNvPr id="27" name="Shape 25"/>
          <p:cNvSpPr/>
          <p:nvPr/>
        </p:nvSpPr>
        <p:spPr>
          <a:xfrm>
            <a:off x="661475" y="5473898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713611"/>
            <a:ext cx="206667" cy="16529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98731" y="5680472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산출물: 개인 프로필 출력 프로그램</a:t>
            </a:r>
            <a:endParaRPr lang="ko-KR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097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9407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9666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코드가 실행되는 기본 흐름을 설명할 수 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6125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6435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6693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변수(Variable)의 의미와 대입(Assignment)을 설명할 수 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3152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3463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3721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정수, 실수, 문자열, 불리언, None의 차이를 구분할 수 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40180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0490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749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객체(Object)와 변수 이름의 관계를 초보자 수준에서 설명할 수 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7208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7518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776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type()으로 값의 자료형을 확인할 수 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4235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454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48044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자료형을 사용해 개인 프로필을 출력할 수 있다.</a:t>
            </a:r>
            <a:endParaRPr lang="ko-KR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5898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Python이란?</a:t>
            </a:r>
            <a:endParaRPr lang="ko-KR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223764"/>
            <a:ext cx="6296860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45819" y="1408113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범용 프로그래밍 언어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1765796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Python은 읽기 쉬운 문법을 강조한 범용 프로그래밍 언어이다.</a:t>
            </a:r>
            <a:endParaRPr lang="ko-KR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380059"/>
            <a:ext cx="6296860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5819" y="2564408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다양한 활용 분야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845819" y="2922091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 분석, AI/ML, 웹, 자동화, 크롤링 등 다양한 분야에서 사용한다.</a:t>
            </a:r>
            <a:endParaRPr lang="ko-KR" sz="1300" dirty="0"/>
          </a:p>
        </p:txBody>
      </p:sp>
      <p:sp>
        <p:nvSpPr>
          <p:cNvPr id="10" name="Shape 7"/>
          <p:cNvSpPr/>
          <p:nvPr/>
        </p:nvSpPr>
        <p:spPr>
          <a:xfrm>
            <a:off x="661475" y="3536355"/>
            <a:ext cx="6296860" cy="1255613"/>
          </a:xfrm>
          <a:prstGeom prst="roundRect">
            <a:avLst>
              <a:gd name="adj" fmla="val 118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5819" y="3720703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과정의 공통 기반</a:t>
            </a:r>
            <a:endParaRPr lang="ko-KR" sz="1600" dirty="0"/>
          </a:p>
        </p:txBody>
      </p:sp>
      <p:sp>
        <p:nvSpPr>
          <p:cNvPr id="12" name="Text 9"/>
          <p:cNvSpPr/>
          <p:nvPr/>
        </p:nvSpPr>
        <p:spPr>
          <a:xfrm>
            <a:off x="845819" y="4078387"/>
            <a:ext cx="592817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이번 과정에서는 이후 Pandas, 머신러닝, 딥러닝, LLM 실습의 공통 기반으로 사용한다.</a:t>
            </a:r>
            <a:endParaRPr lang="ko-KR" sz="1300" dirty="0"/>
          </a:p>
        </p:txBody>
      </p:sp>
      <p:sp>
        <p:nvSpPr>
          <p:cNvPr id="13" name="Shape 10"/>
          <p:cNvSpPr/>
          <p:nvPr/>
        </p:nvSpPr>
        <p:spPr>
          <a:xfrm>
            <a:off x="661475" y="4957266"/>
            <a:ext cx="6296860" cy="990997"/>
          </a:xfrm>
          <a:prstGeom prst="roundRect">
            <a:avLst>
              <a:gd name="adj" fmla="val 1502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5819" y="5141615"/>
            <a:ext cx="592817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이해</a:t>
            </a:r>
            <a:endParaRPr lang="ko-KR" sz="1600" dirty="0"/>
          </a:p>
        </p:txBody>
      </p:sp>
      <p:sp>
        <p:nvSpPr>
          <p:cNvPr id="15" name="Text 12"/>
          <p:cNvSpPr/>
          <p:nvPr/>
        </p:nvSpPr>
        <p:spPr>
          <a:xfrm>
            <a:off x="845819" y="5499298"/>
            <a:ext cx="592817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핵심은 "문법 암기"보다 "입력 → 처리 → 출력" 흐름을 이해하는 것이다.</a:t>
            </a:r>
            <a:endParaRPr lang="ko-KR" sz="1300" dirty="0"/>
          </a:p>
        </p:txBody>
      </p:sp>
      <p:sp>
        <p:nvSpPr>
          <p:cNvPr id="16" name="Text 13"/>
          <p:cNvSpPr/>
          <p:nvPr/>
        </p:nvSpPr>
        <p:spPr>
          <a:xfrm>
            <a:off x="661475" y="6134298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용어: Python / Programming Language(프로그래밍 언어)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177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인터프리터(Interpreter)</a:t>
            </a:r>
            <a:endParaRPr lang="ko-KR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327348"/>
            <a:ext cx="3516026" cy="12309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9437" y="1509117"/>
            <a:ext cx="3076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19437" y="1859558"/>
            <a:ext cx="30763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작성한 코드를 읽고 </a:t>
            </a:r>
            <a:r>
              <a:rPr lang="ko-KR" altLang="en-US" sz="125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실행하도록 </a:t>
            </a:r>
            <a:endParaRPr lang="en-US" altLang="ko-KR" sz="125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도와주는 </a:t>
            </a: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</a:t>
            </a:r>
            <a:endParaRPr lang="ko-KR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7735" y="1327348"/>
            <a:ext cx="3516125" cy="1230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5698" y="1509117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초보자 관점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595698" y="1859558"/>
            <a:ext cx="307639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"내가 작성한 Python 코드를 컴퓨터가 수행할 수 있게 연결해 주는 실행기"</a:t>
            </a:r>
            <a:endParaRPr lang="ko-KR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4095" y="1327348"/>
            <a:ext cx="3516125" cy="12309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2057" y="1509117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2057" y="1859558"/>
            <a:ext cx="307639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day2_ex.py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2718495"/>
            <a:ext cx="3516026" cy="12309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9437" y="2900263"/>
            <a:ext cx="3076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CPython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19437" y="3250704"/>
            <a:ext cx="307630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구현체 중 가장 널리 쓰이는 것은 CPython이다.</a:t>
            </a:r>
            <a:endParaRPr lang="ko-KR" sz="12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337735" y="2718495"/>
            <a:ext cx="3516125" cy="12309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95698" y="2900263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집중 포인트</a:t>
            </a:r>
            <a:endParaRPr lang="ko-KR" sz="1600" dirty="0"/>
          </a:p>
        </p:txBody>
      </p:sp>
      <p:sp>
        <p:nvSpPr>
          <p:cNvPr id="17" name="Text 10"/>
          <p:cNvSpPr/>
          <p:nvPr/>
        </p:nvSpPr>
        <p:spPr>
          <a:xfrm>
            <a:off x="4595698" y="3250704"/>
            <a:ext cx="3076399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내부 컴파일 </a:t>
            </a:r>
            <a:r>
              <a:rPr lang="ko-KR" altLang="en-US" sz="125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과정보다 </a:t>
            </a:r>
            <a:endParaRPr lang="en-US" altLang="ko-KR" sz="125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</a:t>
            </a: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소스코드가 실행된다"는 큰 흐름에 집중한다.</a:t>
            </a:r>
            <a:endParaRPr lang="ko-KR" sz="1250" dirty="0"/>
          </a:p>
        </p:txBody>
      </p:sp>
      <p:sp>
        <p:nvSpPr>
          <p:cNvPr id="18" name="Text 11"/>
          <p:cNvSpPr/>
          <p:nvPr/>
        </p:nvSpPr>
        <p:spPr>
          <a:xfrm>
            <a:off x="661475" y="4189710"/>
            <a:ext cx="1086874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1600" dirty="0"/>
          </a:p>
        </p:txBody>
      </p:sp>
      <p:sp>
        <p:nvSpPr>
          <p:cNvPr id="19" name="Text 12"/>
          <p:cNvSpPr/>
          <p:nvPr/>
        </p:nvSpPr>
        <p:spPr>
          <a:xfrm>
            <a:off x="661475" y="4684316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61475" y="4941987"/>
            <a:ext cx="53542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4"/>
          <p:cNvSpPr/>
          <p:nvPr/>
        </p:nvSpPr>
        <p:spPr>
          <a:xfrm>
            <a:off x="661475" y="5061446"/>
            <a:ext cx="535420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파일을 작성한다.</a:t>
            </a:r>
            <a:endParaRPr lang="ko-KR" sz="1250" dirty="0"/>
          </a:p>
        </p:txBody>
      </p:sp>
      <p:sp>
        <p:nvSpPr>
          <p:cNvPr id="22" name="Text 15"/>
          <p:cNvSpPr/>
          <p:nvPr/>
        </p:nvSpPr>
        <p:spPr>
          <a:xfrm>
            <a:off x="6175915" y="4684316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75915" y="4941987"/>
            <a:ext cx="535430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17"/>
          <p:cNvSpPr/>
          <p:nvPr/>
        </p:nvSpPr>
        <p:spPr>
          <a:xfrm>
            <a:off x="6175915" y="5061446"/>
            <a:ext cx="535430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인터프리터로 파일을 실행한다.</a:t>
            </a:r>
            <a:endParaRPr lang="ko-KR" sz="1250" dirty="0"/>
          </a:p>
        </p:txBody>
      </p:sp>
      <p:sp>
        <p:nvSpPr>
          <p:cNvPr id="25" name="Text 18"/>
          <p:cNvSpPr/>
          <p:nvPr/>
        </p:nvSpPr>
        <p:spPr>
          <a:xfrm>
            <a:off x="661475" y="5602188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61475" y="5859859"/>
            <a:ext cx="5354206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0"/>
          <p:cNvSpPr/>
          <p:nvPr/>
        </p:nvSpPr>
        <p:spPr>
          <a:xfrm>
            <a:off x="661475" y="5979319"/>
            <a:ext cx="535420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위에서 아래 방향으로 명령을 수행한다.</a:t>
            </a:r>
            <a:endParaRPr lang="ko-KR" sz="1250" dirty="0"/>
          </a:p>
        </p:txBody>
      </p:sp>
      <p:sp>
        <p:nvSpPr>
          <p:cNvPr id="28" name="Text 21"/>
          <p:cNvSpPr/>
          <p:nvPr/>
        </p:nvSpPr>
        <p:spPr>
          <a:xfrm>
            <a:off x="6175915" y="5602188"/>
            <a:ext cx="325529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175915" y="5859859"/>
            <a:ext cx="535430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3"/>
          <p:cNvSpPr/>
          <p:nvPr/>
        </p:nvSpPr>
        <p:spPr>
          <a:xfrm>
            <a:off x="6175915" y="5979319"/>
            <a:ext cx="535430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ko-KR" altLang="en-US" sz="12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print()를 만나면 결과를 화면에 출력한다.</a:t>
            </a:r>
            <a:endParaRPr lang="ko-KR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01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프로그램의 가장 기본적인 구조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7624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261441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입력(Input)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2972098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프로그램이 사용할 값을 받는 단계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787624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261441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처리(Process)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449651" y="2972098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저장·변경·계산하는 단계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787624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261441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출력(Output)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072533" y="2972098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화면이나 파일 등에 보여주는 단계</a:t>
            </a:r>
            <a:endParaRPr lang="ko-KR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35880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2는 입력보다 "값 저장과 출력"에 집중한다.</a:t>
            </a:r>
            <a:endParaRPr lang="ko-KR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410071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600" dirty="0"/>
          </a:p>
        </p:txBody>
      </p:sp>
      <p:sp>
        <p:nvSpPr>
          <p:cNvPr id="14" name="Shape 9"/>
          <p:cNvSpPr/>
          <p:nvPr/>
        </p:nvSpPr>
        <p:spPr>
          <a:xfrm>
            <a:off x="661475" y="4607223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5" name="Text 10"/>
          <p:cNvSpPr/>
          <p:nvPr/>
        </p:nvSpPr>
        <p:spPr>
          <a:xfrm>
            <a:off x="859907" y="4772521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"AI휴먼"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ko-KR" sz="1300" dirty="0"/>
          </a:p>
        </p:txBody>
      </p:sp>
      <p:sp>
        <p:nvSpPr>
          <p:cNvPr id="16" name="Text 11"/>
          <p:cNvSpPr/>
          <p:nvPr/>
        </p:nvSpPr>
        <p:spPr>
          <a:xfrm>
            <a:off x="661475" y="565308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흐름: 값 "AI휴먼" 생성 → name이라는 이름으로 사용 → print()로 출력</a:t>
            </a:r>
            <a:endParaRPr lang="ko-KR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488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값(Value)과 리터럴(Literal)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8495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개념 정의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30872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값(Value)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프로그램이 다루는 실제 데이터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리터럴(Literal)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코드에 직접 작성한 값의 표현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188495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리터럴 종류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303904" y="2329458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69198" y="249475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69198" y="2918520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정수 리터럴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9002884" y="2329458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68178" y="2494756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85.5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68178" y="2918520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실수 리터럴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3513733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198" y="3679031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"AI휴먼"</a:t>
            </a:r>
            <a:endParaRPr lang="ko-KR" sz="1600" dirty="0"/>
          </a:p>
        </p:txBody>
      </p:sp>
      <p:sp>
        <p:nvSpPr>
          <p:cNvPr id="14" name="Text 12"/>
          <p:cNvSpPr/>
          <p:nvPr/>
        </p:nvSpPr>
        <p:spPr>
          <a:xfrm>
            <a:off x="6469198" y="4102795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 리터럴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9002884" y="3513733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68178" y="3679031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68178" y="4102795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불리언 리터럴</a:t>
            </a:r>
            <a:endParaRPr lang="ko-KR" sz="1300" dirty="0"/>
          </a:p>
        </p:txBody>
      </p:sp>
      <p:sp>
        <p:nvSpPr>
          <p:cNvPr id="18" name="Shape 16"/>
          <p:cNvSpPr/>
          <p:nvPr/>
        </p:nvSpPr>
        <p:spPr>
          <a:xfrm>
            <a:off x="6303904" y="4698008"/>
            <a:ext cx="523266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9198" y="4863306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69198" y="5287070"/>
            <a:ext cx="49020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값이 없음을 표현하는 특별한 값</a:t>
            </a:r>
            <a:endParaRPr lang="ko-KR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73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변수(Variable)란?</a:t>
            </a:r>
            <a:endParaRPr lang="ko-KR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331119"/>
            <a:ext cx="3523368" cy="11776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3782" y="1507232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3782" y="1842294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데이터를 나중에 다시 사용하기 </a:t>
            </a:r>
            <a:r>
              <a:rPr lang="ko-KR" altLang="en-US" sz="120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위해 </a:t>
            </a:r>
            <a:endParaRPr lang="en-US" altLang="ko-KR" sz="1200" smtClean="0">
              <a:solidFill>
                <a:srgbClr val="3C3939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smtClean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이름을 </a:t>
            </a: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붙이는 개념</a:t>
            </a:r>
            <a:endParaRPr lang="ko-KR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4064" y="1331119"/>
            <a:ext cx="3523467" cy="11776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86371" y="1507232"/>
            <a:ext cx="3095051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초보자 이해</a:t>
            </a:r>
            <a:endParaRPr lang="ko-KR" sz="1500" dirty="0"/>
          </a:p>
        </p:txBody>
      </p:sp>
      <p:sp>
        <p:nvSpPr>
          <p:cNvPr id="8" name="Text 4"/>
          <p:cNvSpPr/>
          <p:nvPr/>
        </p:nvSpPr>
        <p:spPr>
          <a:xfrm>
            <a:off x="4586371" y="1842294"/>
            <a:ext cx="309505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초보자에게는 "값에 붙이는 이름표"로 이해하면 쉽다.</a:t>
            </a:r>
            <a:endParaRPr lang="ko-KR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06753" y="1331119"/>
            <a:ext cx="3523368" cy="11776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59060" y="1507232"/>
            <a:ext cx="3094952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정확한 관점</a:t>
            </a:r>
            <a:endParaRPr lang="ko-KR" sz="1500" dirty="0"/>
          </a:p>
        </p:txBody>
      </p:sp>
      <p:sp>
        <p:nvSpPr>
          <p:cNvPr id="11" name="Text 6"/>
          <p:cNvSpPr/>
          <p:nvPr/>
        </p:nvSpPr>
        <p:spPr>
          <a:xfrm>
            <a:off x="8259060" y="1842294"/>
            <a:ext cx="3094952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Python에서는 변수 이름이 특정 객체를 가리킨다고 보는 것이 더 정확하다.</a:t>
            </a:r>
            <a:endParaRPr lang="ko-KR" sz="1200" dirty="0"/>
          </a:p>
        </p:txBody>
      </p:sp>
      <p:sp>
        <p:nvSpPr>
          <p:cNvPr id="12" name="Text 7"/>
          <p:cNvSpPr/>
          <p:nvPr/>
        </p:nvSpPr>
        <p:spPr>
          <a:xfrm>
            <a:off x="661475" y="2732584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</a:t>
            </a:r>
            <a:endParaRPr lang="ko-KR" sz="1500" dirty="0"/>
          </a:p>
        </p:txBody>
      </p:sp>
      <p:sp>
        <p:nvSpPr>
          <p:cNvPr id="13" name="Shape 8"/>
          <p:cNvSpPr/>
          <p:nvPr/>
        </p:nvSpPr>
        <p:spPr>
          <a:xfrm>
            <a:off x="661475" y="3201988"/>
            <a:ext cx="10868745" cy="816967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849986" y="3359051"/>
            <a:ext cx="10491723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"홍길동"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ko-KR" sz="1200" dirty="0"/>
          </a:p>
        </p:txBody>
      </p:sp>
      <p:sp>
        <p:nvSpPr>
          <p:cNvPr id="15" name="Text 10"/>
          <p:cNvSpPr/>
          <p:nvPr/>
        </p:nvSpPr>
        <p:spPr>
          <a:xfrm>
            <a:off x="661475" y="4242792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의사코드</a:t>
            </a:r>
            <a:endParaRPr lang="ko-KR" sz="1500" dirty="0"/>
          </a:p>
        </p:txBody>
      </p:sp>
      <p:sp>
        <p:nvSpPr>
          <p:cNvPr id="16" name="Text 11"/>
          <p:cNvSpPr/>
          <p:nvPr/>
        </p:nvSpPr>
        <p:spPr>
          <a:xfrm>
            <a:off x="661475" y="471219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61475" y="496004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3"/>
          <p:cNvSpPr/>
          <p:nvPr/>
        </p:nvSpPr>
        <p:spPr>
          <a:xfrm>
            <a:off x="661475" y="5076627"/>
            <a:ext cx="352336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 값을 준비한다.</a:t>
            </a:r>
            <a:endParaRPr lang="ko-KR" sz="1200" dirty="0"/>
          </a:p>
        </p:txBody>
      </p:sp>
      <p:sp>
        <p:nvSpPr>
          <p:cNvPr id="19" name="Text 14"/>
          <p:cNvSpPr/>
          <p:nvPr/>
        </p:nvSpPr>
        <p:spPr>
          <a:xfrm>
            <a:off x="4334064" y="471219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334064" y="4960045"/>
            <a:ext cx="352346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6"/>
          <p:cNvSpPr/>
          <p:nvPr/>
        </p:nvSpPr>
        <p:spPr>
          <a:xfrm>
            <a:off x="4334064" y="5076627"/>
            <a:ext cx="3523467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name이라는 이름으로 연결한다.</a:t>
            </a:r>
            <a:endParaRPr lang="ko-KR" sz="1200" dirty="0"/>
          </a:p>
        </p:txBody>
      </p:sp>
      <p:sp>
        <p:nvSpPr>
          <p:cNvPr id="22" name="Text 17"/>
          <p:cNvSpPr/>
          <p:nvPr/>
        </p:nvSpPr>
        <p:spPr>
          <a:xfrm>
            <a:off x="8006753" y="471219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006753" y="4960045"/>
            <a:ext cx="3523368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19"/>
          <p:cNvSpPr/>
          <p:nvPr/>
        </p:nvSpPr>
        <p:spPr>
          <a:xfrm>
            <a:off x="8006753" y="5076627"/>
            <a:ext cx="3523368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나이 값을 준비한다.</a:t>
            </a:r>
            <a:endParaRPr lang="ko-KR" sz="1200" dirty="0"/>
          </a:p>
        </p:txBody>
      </p:sp>
      <p:sp>
        <p:nvSpPr>
          <p:cNvPr id="25" name="Text 20"/>
          <p:cNvSpPr/>
          <p:nvPr/>
        </p:nvSpPr>
        <p:spPr>
          <a:xfrm>
            <a:off x="661475" y="5588794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1475" y="5836642"/>
            <a:ext cx="5359663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2"/>
          <p:cNvSpPr/>
          <p:nvPr/>
        </p:nvSpPr>
        <p:spPr>
          <a:xfrm>
            <a:off x="661475" y="5953224"/>
            <a:ext cx="535966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age라는 이름으로 연결한다.</a:t>
            </a:r>
            <a:endParaRPr lang="ko-KR" sz="1200" dirty="0"/>
          </a:p>
        </p:txBody>
      </p:sp>
      <p:sp>
        <p:nvSpPr>
          <p:cNvPr id="28" name="Text 23"/>
          <p:cNvSpPr/>
          <p:nvPr/>
        </p:nvSpPr>
        <p:spPr>
          <a:xfrm>
            <a:off x="6170359" y="5588794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170359" y="5836642"/>
            <a:ext cx="535976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5"/>
          <p:cNvSpPr/>
          <p:nvPr/>
        </p:nvSpPr>
        <p:spPr>
          <a:xfrm>
            <a:off x="6170359" y="5953224"/>
            <a:ext cx="535976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필요할 때 name과 age를 다시 사용한다.</a:t>
            </a:r>
            <a:endParaRPr lang="ko-KR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08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대입(Assignment)과 = 기호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275582"/>
            <a:ext cx="5470785" cy="3071614"/>
          </a:xfrm>
          <a:prstGeom prst="roundRect">
            <a:avLst>
              <a:gd name="adj" fmla="val 775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440880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개념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864644"/>
            <a:ext cx="514019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는 수학의 "같다"가 아니라 프로그래밍의 "대입한다"</a:t>
            </a:r>
            <a:r>
              <a:rPr lang="ko-KR" altLang="en-US" sz="13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는 </a:t>
            </a:r>
            <a:endParaRPr lang="en-US" altLang="ko-KR" sz="1300" smtClean="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smtClean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의미로 </a:t>
            </a: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사용한다.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오른쪽의 값을 먼저 준비한 뒤 왼쪽 이름에 연결한다.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415689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906142" y="4421089"/>
            <a:ext cx="535291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7710" y="4933752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읽는 순서: "22라는 값을 age라는 이름으로 사용하겠다."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244088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03904" y="2864644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비교를 위한 == 는 다음 일차에 자세히 학습한다.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오늘은 = 를 대입 연산자로 이해한다.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28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변수 이름 규칙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40247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98830" y="1397099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영문자, 한글, 숫자, 밑줄(_)을 사용할 수 있다.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0430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98830" y="2099866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숫자로 시작할 수 없다.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2745780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98830" y="2802632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공백을 포함할 수 없다.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448546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98830" y="350539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예약어(keyword)를 변수명으로 사용하면 안 된다.</a:t>
            </a:r>
            <a:endParaRPr lang="ko-KR" sz="1600" dirty="0"/>
          </a:p>
        </p:txBody>
      </p:sp>
      <p:sp>
        <p:nvSpPr>
          <p:cNvPr id="11" name="Shape 9"/>
          <p:cNvSpPr/>
          <p:nvPr/>
        </p:nvSpPr>
        <p:spPr>
          <a:xfrm>
            <a:off x="661475" y="415131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98830" y="420816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대소문자를 구분한다: age와 Age는 서로 다른 이름이다.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61475" y="48747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권장</a:t>
            </a:r>
            <a:endParaRPr lang="ko-KR" sz="1600" dirty="0"/>
          </a:p>
        </p:txBody>
      </p:sp>
      <p:sp>
        <p:nvSpPr>
          <p:cNvPr id="14" name="Shape 12"/>
          <p:cNvSpPr/>
          <p:nvPr/>
        </p:nvSpPr>
        <p:spPr>
          <a:xfrm>
            <a:off x="661475" y="5319216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859907" y="5484515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 = "홍길동"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user_age = 22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6303904" y="487471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피하기</a:t>
            </a:r>
            <a:endParaRPr lang="ko-KR" sz="1600" dirty="0"/>
          </a:p>
        </p:txBody>
      </p:sp>
      <p:sp>
        <p:nvSpPr>
          <p:cNvPr id="17" name="Shape 15"/>
          <p:cNvSpPr/>
          <p:nvPr/>
        </p:nvSpPr>
        <p:spPr>
          <a:xfrm>
            <a:off x="6303904" y="5319216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8" name="Text 16"/>
          <p:cNvSpPr/>
          <p:nvPr/>
        </p:nvSpPr>
        <p:spPr>
          <a:xfrm>
            <a:off x="6502337" y="5484515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"홍길동" # 의미가 모호함</a:t>
            </a:r>
            <a:endParaRPr lang="ko-KR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342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좋은 변수명: snake_case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47032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Python에서는 여러 단어를 연결할 때 snake_case를 주로 사용한다.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단어 사이를 밑줄(_)로 구분한다.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2903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734891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900190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job_position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average_score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46350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좋은 변수명 기준</a:t>
            </a:r>
            <a:endParaRPr lang="ko-KR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03904" y="2908002"/>
            <a:ext cx="5232666" cy="6333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64446" y="3092351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변수의 의미가 드러나는가?</a:t>
            </a:r>
            <a:endParaRPr lang="ko-KR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03904" y="3706614"/>
            <a:ext cx="5232666" cy="63331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4446" y="3890963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너무 짧거나 모호하지 않은가?</a:t>
            </a:r>
            <a:endParaRPr lang="ko-KR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303904" y="4505226"/>
            <a:ext cx="5232666" cy="6333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64446" y="4689574"/>
            <a:ext cx="4787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팀원이 읽어도 역할을 추측할 수 있는가?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6661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객체(Object)란?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01404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6769" y="217934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Python의 값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25370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 우리가 다루는 대부분의 값은 객체(Object)이다.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6178495" y="201404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43789" y="2179340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객체의 구성</a:t>
            </a:r>
            <a:endParaRPr lang="ko-KR" sz="1600" dirty="0"/>
          </a:p>
        </p:txBody>
      </p:sp>
      <p:sp>
        <p:nvSpPr>
          <p:cNvPr id="8" name="Text 6"/>
          <p:cNvSpPr/>
          <p:nvPr/>
        </p:nvSpPr>
        <p:spPr>
          <a:xfrm>
            <a:off x="6343789" y="253702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객체는 값(Value), 자료형(Type), 정체성(Identity)을 가진다.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132237"/>
            <a:ext cx="5351725" cy="1217513"/>
          </a:xfrm>
          <a:prstGeom prst="roundRect">
            <a:avLst>
              <a:gd name="adj" fmla="val 1222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6769" y="3297535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2 이해 수준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826769" y="3655219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2에서는 "값은 객체이고, 변수 이름은 그 객체를 가리킨다" 정도로 이해한다.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178495" y="3132237"/>
            <a:ext cx="5351725" cy="1217513"/>
          </a:xfrm>
          <a:prstGeom prst="roundRect">
            <a:avLst>
              <a:gd name="adj" fmla="val 12226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43789" y="3297535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클래스(Class)</a:t>
            </a:r>
            <a:endParaRPr lang="ko-KR" sz="1600" dirty="0"/>
          </a:p>
        </p:txBody>
      </p:sp>
      <p:sp>
        <p:nvSpPr>
          <p:cNvPr id="14" name="Text 12"/>
          <p:cNvSpPr/>
          <p:nvPr/>
        </p:nvSpPr>
        <p:spPr>
          <a:xfrm>
            <a:off x="6343789" y="3655219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클래스(Class)는 객체의 설계도라는 관점으로 과정 후반 Python 파트에서 더 자세히 다룬다.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59779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예: age = 22</a:t>
            </a:r>
            <a:endParaRPr lang="ko-KR" sz="1600" dirty="0"/>
          </a:p>
        </p:txBody>
      </p:sp>
      <p:sp>
        <p:nvSpPr>
          <p:cNvPr id="16" name="Text 14"/>
          <p:cNvSpPr/>
          <p:nvPr/>
        </p:nvSpPr>
        <p:spPr>
          <a:xfrm>
            <a:off x="661475" y="5104309"/>
            <a:ext cx="10868745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22는 int 타입의 객체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age는 그 객체를 사용하기 위한 이름</a:t>
            </a:r>
            <a:endParaRPr lang="ko-KR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31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상자 비유의 장점과 한계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54746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입문에서는 "변수라는 상자에 값을 넣는다"는 비유가 이해하기 쉽다.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하지만 Python을 더 정확히 이해하려면 "이름표가 객체를 가리킨다"가 적절하다.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56049"/>
            <a:ext cx="1086874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1475" y="3156049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124044" y="0"/>
                </a:moveTo>
                <a:lnTo>
                  <a:pt x="5434373" y="0"/>
                </a:lnTo>
                <a:lnTo>
                  <a:pt x="5434373" y="952897"/>
                </a:lnTo>
                <a:lnTo>
                  <a:pt x="124044" y="952897"/>
                </a:lnTo>
                <a:arcTo wR="124044" hR="124047" stAng="5400000" swAng="5400000"/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6769" y="332134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초보 단계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3679031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 = 값을 담는 상자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3156049"/>
            <a:ext cx="5434373" cy="952897"/>
          </a:xfrm>
          <a:custGeom>
            <a:avLst/>
            <a:gdLst/>
            <a:ahLst/>
            <a:cxnLst/>
            <a:rect l="l" t="t" r="r" b="b"/>
            <a:pathLst>
              <a:path w="5434373" h="952897">
                <a:moveTo>
                  <a:pt x="0" y="0"/>
                </a:moveTo>
                <a:lnTo>
                  <a:pt x="5310329" y="0"/>
                </a:lnTo>
                <a:arcTo wR="124044" hR="124047" stAng="16200000" swAng="5400000"/>
                <a:lnTo>
                  <a:pt x="5434373" y="828850"/>
                </a:lnTo>
                <a:arcTo wR="124044" hR="124047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156049"/>
            <a:ext cx="19050" cy="95289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332134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 단계 더 정확한 관점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679031"/>
            <a:ext cx="510378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 이름 → 객체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35699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결론</a:t>
            </a:r>
            <a:endParaRPr lang="ko-KR" sz="1600" dirty="0"/>
          </a:p>
        </p:txBody>
      </p:sp>
      <p:sp>
        <p:nvSpPr>
          <p:cNvPr id="13" name="Text 11"/>
          <p:cNvSpPr/>
          <p:nvPr/>
        </p:nvSpPr>
        <p:spPr>
          <a:xfrm>
            <a:off x="661475" y="4863505"/>
            <a:ext cx="10868745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상자 비유로 시작해도 괜찮다.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Python에서는 이름과 객체가 연결된다고 기억한다.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11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자료형(Data Type)이란?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58541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Type</a:t>
            </a: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데이터가 어떤 종류인지 나타내는 분류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자료형에 따라 가능한 처리 방식이 달라진다.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21855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자료형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128367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6769" y="3293666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3651349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정수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3128367"/>
            <a:ext cx="3512752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4716" y="3293666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4716" y="3651349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실수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8017468" y="3128367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2762" y="3293666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82762" y="3651349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246563"/>
            <a:ext cx="5351626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6769" y="4411861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769" y="4769545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참/거짓</a:t>
            </a:r>
            <a:endParaRPr lang="ko-KR" sz="1300" dirty="0"/>
          </a:p>
        </p:txBody>
      </p:sp>
      <p:sp>
        <p:nvSpPr>
          <p:cNvPr id="17" name="Shape 15"/>
          <p:cNvSpPr/>
          <p:nvPr/>
        </p:nvSpPr>
        <p:spPr>
          <a:xfrm>
            <a:off x="6178395" y="4246563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43690" y="4411861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NoneType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3690" y="4769545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None의 자료형</a:t>
            </a:r>
            <a:endParaRPr lang="ko-KR" sz="1300" dirty="0"/>
          </a:p>
        </p:txBody>
      </p:sp>
      <p:sp>
        <p:nvSpPr>
          <p:cNvPr id="20" name="Shape 18"/>
          <p:cNvSpPr/>
          <p:nvPr/>
        </p:nvSpPr>
        <p:spPr>
          <a:xfrm>
            <a:off x="661475" y="538549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625207"/>
            <a:ext cx="206667" cy="1652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8731" y="559206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중요: Python에서는 변수 이름보다 "변수가 가리키는 객체"가 자료형을 가진다고 이해하면 정확하다.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30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 - 정수 자료형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86633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</a:t>
            </a: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integer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소수점이 없는 정수 데이터를 표현한다.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42999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874492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4039791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student_count = 30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60310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사례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3047603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9198" y="3212902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나이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9002884" y="3047603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68178" y="3212902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수강생 수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3808115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198" y="3973413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주문 수량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9002884" y="3808115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8178" y="3973413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게시물 개수</a:t>
            </a:r>
            <a:endParaRPr lang="ko-KR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936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 - 실수 자료형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62969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</a:t>
            </a: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floating-point number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소수점이 있는 수를 표현한다.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00632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450828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616127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85.5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172.3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 = 27.8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17943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사례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2623939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9198" y="2789238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 점수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9002884" y="2623939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68178" y="2789238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온도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3384451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198" y="3549749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비율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9002884" y="3384451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8178" y="3549749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측정값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947345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87057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153918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주의: 컴퓨터의 실수 표현은 내부적으로 근사값일 수 있으며 이는 추후 데이터 분석에서 다시 다룬다.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62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 - 문자열 자료형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79861"/>
            <a:ext cx="5232666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</a:t>
            </a: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string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글자, 단어, 문장과 같은 텍스트를 표현한다.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작은따옴표('') 또는 큰따옴표("")를 사용할 수 있다.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63666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408116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424646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"홍길동"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 = 'AI휴먼'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= "AI 개발자"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231033"/>
            <a:ext cx="5470785" cy="3160613"/>
          </a:xfrm>
          <a:prstGeom prst="roundRect">
            <a:avLst>
              <a:gd name="adj" fmla="val 753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39633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주의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820095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"22"는 숫자처럼 보여도 따옴표 안에 있으므로 문자열이다.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86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 - 불리언 자료형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12219"/>
            <a:ext cx="5232666" cy="1091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bool</a:t>
            </a: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Boolean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참(True) 또는 거짓(False) 두 가지 상태를 표현한다.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글자는 반드시 대문자이다.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769023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4213523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4378821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is_student =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is_employed = False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52868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활용 사례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2973189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69198" y="3138488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로그인 여부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9002884" y="2973189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68178" y="3138488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제출 여부</a:t>
            </a:r>
            <a:endParaRPr lang="ko-KR" sz="1300" dirty="0"/>
          </a:p>
        </p:txBody>
      </p:sp>
      <p:sp>
        <p:nvSpPr>
          <p:cNvPr id="12" name="Shape 10"/>
          <p:cNvSpPr/>
          <p:nvPr/>
        </p:nvSpPr>
        <p:spPr>
          <a:xfrm>
            <a:off x="6303904" y="3733701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9198" y="3898999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합격 여부</a:t>
            </a:r>
            <a:endParaRPr lang="ko-KR" sz="1300" dirty="0"/>
          </a:p>
        </p:txBody>
      </p:sp>
      <p:sp>
        <p:nvSpPr>
          <p:cNvPr id="14" name="Shape 12"/>
          <p:cNvSpPr/>
          <p:nvPr/>
        </p:nvSpPr>
        <p:spPr>
          <a:xfrm>
            <a:off x="9002884" y="3733701"/>
            <a:ext cx="2533686" cy="595213"/>
          </a:xfrm>
          <a:prstGeom prst="roundRect">
            <a:avLst>
              <a:gd name="adj" fmla="val 250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68178" y="3898999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활성화 여부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420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None과 NoneType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31628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None은 "현재 의미 있는 값이 없음"을 표현할 때 사용한다.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None의 자료형은 NoneType이다.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19494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701455"/>
            <a:ext cx="1086874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866753"/>
            <a:ext cx="110814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portfolio_url = None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4482703"/>
            <a:ext cx="3512653" cy="9909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2017" y="466705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의미</a:t>
            </a:r>
            <a:endParaRPr lang="ko-KR" sz="1600" dirty="0"/>
          </a:p>
        </p:txBody>
      </p:sp>
      <p:sp>
        <p:nvSpPr>
          <p:cNvPr id="9" name="Text 6"/>
          <p:cNvSpPr/>
          <p:nvPr/>
        </p:nvSpPr>
        <p:spPr>
          <a:xfrm>
            <a:off x="922017" y="5024735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포트폴리오 URL이 정해지지 않았다.</a:t>
            </a:r>
            <a:endParaRPr lang="ko-KR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4482703"/>
            <a:ext cx="3512752" cy="99099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99964" y="4667052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구분</a:t>
            </a:r>
            <a:endParaRPr lang="ko-KR" sz="1600" dirty="0"/>
          </a:p>
        </p:txBody>
      </p:sp>
      <p:sp>
        <p:nvSpPr>
          <p:cNvPr id="12" name="Text 8"/>
          <p:cNvSpPr/>
          <p:nvPr/>
        </p:nvSpPr>
        <p:spPr>
          <a:xfrm>
            <a:off x="4599964" y="5024735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0이나 빈 문자열과는 의미가 다르다.</a:t>
            </a:r>
            <a:endParaRPr lang="ko-KR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4482703"/>
            <a:ext cx="3512653" cy="99099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8010" y="4667052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확인</a:t>
            </a:r>
            <a:endParaRPr lang="ko-KR" sz="1600" dirty="0"/>
          </a:p>
        </p:txBody>
      </p:sp>
      <p:sp>
        <p:nvSpPr>
          <p:cNvPr id="15" name="Text 10"/>
          <p:cNvSpPr/>
          <p:nvPr/>
        </p:nvSpPr>
        <p:spPr>
          <a:xfrm>
            <a:off x="8278010" y="5024735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print(type(portfolio_url))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7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type() 함수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70845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type()은 값 또는 객체의 자료형을 확인하는 내장 함수이다.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초보자에게 매우 중요한 디버깅 도구이다.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303904" y="248731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303904" y="2931815"/>
            <a:ext cx="5232666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6502337" y="3097113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85.5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"홍길동"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 # &lt;class 'int'&gt;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print(type(score)) # &lt;class 'float'&gt;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print(type(name)) # &lt;class 'str'&gt;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969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동적 타이핑(Dynamic Typing)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597124"/>
            <a:ext cx="3512653" cy="12556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178147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동적 타이핑 언어</a:t>
            </a:r>
            <a:endParaRPr lang="ko-KR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139156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Python은 동적 타이핑 언어이다.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1597124"/>
            <a:ext cx="3512752" cy="12556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1781473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선언 불필요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139156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변수 이름에 자료형을 미리 선언하지 않아도 된다.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1597124"/>
            <a:ext cx="3512653" cy="12556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1781473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유연한 연결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139156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 중 같은 변수 이름이 다른 자료형의 객체를 가리킬 수 있다.</a:t>
            </a:r>
            <a:endParaRPr lang="ko-KR" sz="1300" dirty="0"/>
          </a:p>
        </p:txBody>
      </p:sp>
      <p:sp>
        <p:nvSpPr>
          <p:cNvPr id="12" name="Text 7"/>
          <p:cNvSpPr/>
          <p:nvPr/>
        </p:nvSpPr>
        <p:spPr>
          <a:xfrm>
            <a:off x="661475" y="310078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13" name="Shape 8"/>
          <p:cNvSpPr/>
          <p:nvPr/>
        </p:nvSpPr>
        <p:spPr>
          <a:xfrm>
            <a:off x="661475" y="3607296"/>
            <a:ext cx="10868745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14" name="Text 9"/>
          <p:cNvSpPr/>
          <p:nvPr/>
        </p:nvSpPr>
        <p:spPr>
          <a:xfrm>
            <a:off x="859907" y="3772595"/>
            <a:ext cx="1047188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100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print(type(data))  # int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"백"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print(type(data))  # str</a:t>
            </a:r>
            <a:endParaRPr lang="ko-KR" sz="1300" dirty="0"/>
          </a:p>
        </p:txBody>
      </p:sp>
      <p:sp>
        <p:nvSpPr>
          <p:cNvPr id="15" name="Shape 10"/>
          <p:cNvSpPr/>
          <p:nvPr/>
        </p:nvSpPr>
        <p:spPr>
          <a:xfrm>
            <a:off x="661475" y="5447010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69" y="5686723"/>
            <a:ext cx="206667" cy="16529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98731" y="565358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주의: 편리하지만 자료형을 잘못 예상하면 오류가 생길 수 있으므로 type() 확인 습관이 중요하다.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314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재대입(Reassignment)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7891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이미 사용한 변수 이름에 새로운 값을 다시 연결할 수 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59486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039368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204666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"준비중"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print(status)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status = "학습중"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print(status)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59486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8" name="Shape 6"/>
          <p:cNvSpPr/>
          <p:nvPr/>
        </p:nvSpPr>
        <p:spPr>
          <a:xfrm>
            <a:off x="6303904" y="3039368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3204666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준비중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학습중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5065117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304830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527169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핵심: 코드는 위에서 아래로 실행되므로 마지막에 대입된 값이 이후 코드에서 사용된다.</a:t>
            </a:r>
            <a:endParaRPr lang="ko-KR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185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여러 변수 만들기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3546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프로그램에는 목적이 다른 여러 변수가 필요하다.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변수는 의미가 드러나는 이름으로 분리한다.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57882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좋은 설계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400258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 변수에는 한 가지 의미를 담는다.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75193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3196431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361730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"김AI"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24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= "데이터 분석가"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91.5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is_job_seeker = True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7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print()로 변수 출력하기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70845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print()는 콘솔에 값을 출력하는 대표적인 내장 함수이다.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값을 쉼표로 구분해 출력할 수 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334941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587353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3525044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실습 포인트: 값 자체와 type() 결과를 함께 출력해 본다.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6303904" y="248731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8" name="Shape 5"/>
          <p:cNvSpPr/>
          <p:nvPr/>
        </p:nvSpPr>
        <p:spPr>
          <a:xfrm>
            <a:off x="6303904" y="2931815"/>
            <a:ext cx="5232666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502337" y="3097113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"AI휴먼"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85.5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print(name, age)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print(name, age, type(score))</a:t>
            </a:r>
            <a:endParaRPr lang="ko-KR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7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f-string으로 읽기 쉬운 출력 만들기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70845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f-string은 문자열 안에 변수 값을 삽입하는 방법이다.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 앞에 f를 붙이고 변수 이름을 { } 안에 작성한다.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3142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장점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737967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변수의 값을 사람이 읽기 좋은 문장으로 출력할 수 있다.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48731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</a:t>
            </a:r>
            <a:endParaRPr lang="ko-KR" sz="1600" dirty="0"/>
          </a:p>
        </p:txBody>
      </p:sp>
      <p:sp>
        <p:nvSpPr>
          <p:cNvPr id="7" name="Shape 5"/>
          <p:cNvSpPr/>
          <p:nvPr/>
        </p:nvSpPr>
        <p:spPr>
          <a:xfrm>
            <a:off x="6303904" y="2931815"/>
            <a:ext cx="5232666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097113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"홍길동"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= "AI 개발자"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print(f"이름: {name}")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print(f"나이: {age}세")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print(f"희망직무: {job}")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931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의사코드 - 개인 프로필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3673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문제: 이름, 나이, 희망직무, Python 경험기간, 취업준비 여부를 변수에 저장하고 출력한다.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2873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4932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67007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 제목을 출력한다.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228738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54932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178495" y="267007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이름을 문자열로 저장한다.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61475" y="322401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48595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360670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나이를 정수로 저장한다.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178495" y="322401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348595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178495" y="360670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희망직무를 문자열로 저장한다.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54332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경험기간을 실수로 저장한다.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617849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849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8495" y="4543326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취업준비 여부를 불리언으로 저장한다.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661475" y="50972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1475" y="535920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1475" y="547995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값을 f-string으로 출력한다.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6178495" y="50972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78495" y="535920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6178495" y="5479951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type()으로 각 자료형을 확인한다.</a:t>
            </a:r>
            <a:endParaRPr lang="ko-KR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40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흔한 오류와 해결 관점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991519"/>
            <a:ext cx="5351725" cy="17186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175867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NameError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533551"/>
            <a:ext cx="4906840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선언하지 않은 변수 이름을 사용했을 때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print(user_name)인데 user_name을 만든 적이 없음</a:t>
            </a:r>
            <a:endParaRPr lang="ko-KR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78495" y="1991519"/>
            <a:ext cx="5351725" cy="17186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9037" y="2175867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따옴표 누락</a:t>
            </a:r>
            <a:endParaRPr lang="ko-KR" sz="1600" dirty="0"/>
          </a:p>
        </p:txBody>
      </p:sp>
      <p:sp>
        <p:nvSpPr>
          <p:cNvPr id="8" name="Text 4"/>
          <p:cNvSpPr/>
          <p:nvPr/>
        </p:nvSpPr>
        <p:spPr>
          <a:xfrm>
            <a:off x="6439037" y="2533551"/>
            <a:ext cx="4906840" cy="992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문자열에 따옴표가 없으면 변수 이름으로 해석될 수 있음</a:t>
            </a:r>
            <a:endParaRPr lang="ko-KR" sz="1300" dirty="0"/>
          </a:p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job = AI개발자 (X)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job = "AI개발자" (O)</a:t>
            </a:r>
            <a:endParaRPr lang="ko-KR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61475" y="3875484"/>
            <a:ext cx="5351725" cy="9909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2017" y="405983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잘못된 변수명</a:t>
            </a:r>
            <a:endParaRPr lang="ko-KR" sz="1600" dirty="0"/>
          </a:p>
        </p:txBody>
      </p:sp>
      <p:sp>
        <p:nvSpPr>
          <p:cNvPr id="11" name="Text 6"/>
          <p:cNvSpPr/>
          <p:nvPr/>
        </p:nvSpPr>
        <p:spPr>
          <a:xfrm>
            <a:off x="922017" y="4417516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2name = "홍길동" (X)</a:t>
            </a:r>
            <a:endParaRPr lang="ko-KR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78495" y="3875484"/>
            <a:ext cx="5351725" cy="99099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39037" y="405983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자료형 혼동</a:t>
            </a:r>
            <a:endParaRPr lang="ko-KR" sz="1600" dirty="0"/>
          </a:p>
        </p:txBody>
      </p:sp>
      <p:sp>
        <p:nvSpPr>
          <p:cNvPr id="14" name="Text 8"/>
          <p:cNvSpPr/>
          <p:nvPr/>
        </p:nvSpPr>
        <p:spPr>
          <a:xfrm>
            <a:off x="6439037" y="4417516"/>
            <a:ext cx="490684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22와 "22"는 서로 다른 자료형</a:t>
            </a:r>
            <a:endParaRPr lang="ko-KR" sz="1300" dirty="0"/>
          </a:p>
        </p:txBody>
      </p:sp>
      <p:sp>
        <p:nvSpPr>
          <p:cNvPr id="15" name="Shape 9"/>
          <p:cNvSpPr/>
          <p:nvPr/>
        </p:nvSpPr>
        <p:spPr>
          <a:xfrm>
            <a:off x="661475" y="5052516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69" y="5292229"/>
            <a:ext cx="206667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8731" y="525909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해결 순서: 오류 메시지 확인 → 해당 줄 확인 → 변수명·따옴표·자료형 확인</a:t>
            </a:r>
            <a:endParaRPr lang="ko-KR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162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정리와 다음 일차 연결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9908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반드시 설명할 수 있어야 하는 5가지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1905595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6769" y="207089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242857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코드를 읽고 실행하도록 도와주는 프로그램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1905595"/>
            <a:ext cx="3512752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4716" y="2070894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04716" y="2428577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다시 사용하기 위한 이름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1905595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2762" y="2070894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2762" y="2428577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데이터의 종류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023791"/>
            <a:ext cx="5351626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6769" y="3189089"/>
            <a:ext cx="5021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769" y="3546773"/>
            <a:ext cx="5021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Python에서 다루는 실제 값의 단위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178395" y="3023791"/>
            <a:ext cx="5351725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43690" y="3189089"/>
            <a:ext cx="50211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3690" y="3546773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객체의 자료형 확인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661475" y="432802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최종 산출물</a:t>
            </a:r>
            <a:endParaRPr lang="ko-KR" sz="1600" dirty="0"/>
          </a:p>
        </p:txBody>
      </p:sp>
      <p:sp>
        <p:nvSpPr>
          <p:cNvPr id="20" name="Text 18"/>
          <p:cNvSpPr/>
          <p:nvPr/>
        </p:nvSpPr>
        <p:spPr>
          <a:xfrm>
            <a:off x="661475" y="4751784"/>
            <a:ext cx="5842251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개인 프로필 출력 프로그램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6303904" y="432802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일차 예고</a:t>
            </a:r>
            <a:endParaRPr lang="ko-KR" sz="1600" dirty="0"/>
          </a:p>
        </p:txBody>
      </p:sp>
      <p:sp>
        <p:nvSpPr>
          <p:cNvPr id="22" name="Text 20"/>
          <p:cNvSpPr/>
          <p:nvPr/>
        </p:nvSpPr>
        <p:spPr>
          <a:xfrm>
            <a:off x="6303904" y="4751784"/>
            <a:ext cx="523266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연산자(Operator)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input()과 사용자 입력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형변환(Type Casting)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f-string을 활용한 계산 결과 출력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1802</Words>
  <Application>Microsoft Office PowerPoint</Application>
  <PresentationFormat>와이드스크린</PresentationFormat>
  <Paragraphs>402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Inter</vt:lpstr>
      <vt:lpstr>Arial</vt:lpstr>
      <vt:lpstr>Calibri</vt:lpstr>
      <vt:lpstr>Inter Light</vt:lpstr>
      <vt:lpstr>Consolas</vt:lpstr>
      <vt:lpstr>맑은 고딕</vt:lpstr>
      <vt:lpstr>Inter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realchoky-home</dc:creator>
  <cp:lastModifiedBy>realchoky-home</cp:lastModifiedBy>
  <cp:revision>3</cp:revision>
  <dcterms:created xsi:type="dcterms:W3CDTF">2026-08-20T07:03:12Z</dcterms:created>
  <dcterms:modified xsi:type="dcterms:W3CDTF">2026-08-20T07:14:33Z</dcterms:modified>
</cp:coreProperties>
</file>