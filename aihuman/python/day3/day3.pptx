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embeddedFontLst>
    <p:embeddedFont>
      <p:font typeface="Inter" panose="02000503000000020004" pitchFamily="2" charset="0"/>
      <p:regular r:id="rId31"/>
      <p:bold r:id="rId32"/>
      <p:italic r:id="rId33"/>
      <p:boldItalic r:id="rId34"/>
    </p:embeddedFont>
    <p:embeddedFont>
      <p:font typeface="Calibri" panose="020F0502020204030204" pitchFamily="34" charset="0"/>
      <p:regular r:id="rId35"/>
      <p:bold r:id="rId36"/>
      <p:italic r:id="rId37"/>
      <p:boldItalic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맑은 고딕" panose="020B0503020000020004" pitchFamily="50" charset="-127"/>
      <p:regular r:id="rId43"/>
      <p:bold r:id="rId44"/>
    </p:embeddedFont>
    <p:embeddedFont>
      <p:font typeface="Inter Bold" panose="02000503000000020004" pitchFamily="2" charset="0"/>
      <p:regular r:id="rId45"/>
      <p:bold r:id="rId46"/>
    </p:embeddedFont>
    <p:embeddedFont>
      <p:font typeface="Inter Light" panose="02000503000000020004" pitchFamily="2" charset="0"/>
      <p:regular r:id="rId47"/>
      <p:italic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font" Target="fonts/font1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font" Target="fonts/font1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0159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5-2.svg"/><Relationship Id="rId5" Type="http://schemas.openxmlformats.org/officeDocument/2006/relationships/image" Target="../media/image-25-2.svg"/><Relationship Id="rId4" Type="http://schemas.openxmlformats.org/officeDocument/2006/relationships/image" Target="../media/image-25-2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74541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AI휴먼 · Day 3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257352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연산자 · 입출력 · 형변환</a:t>
            </a:r>
            <a:endParaRPr lang="ko-KR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391884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핵심 결과물: 콘솔 주문 계산기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3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학습 목표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09763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9407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966615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Python의 산술·비교·논리 연산자를 구분할 수 있다.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612529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643535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66938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input()으로 사용자에게 값을 입력받을 수 있다.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33152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334630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372148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input()의 결과가 문자열(str)이라는 점을 설명할 수 있다.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4018062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404906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407491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int(), float(), str()을 이용해 자료형을 변환할 수 있다.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72082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75183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77768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f-string으로 계산 결과를 읽기 좋게 출력할 수 있다.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542359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45460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48044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→ 처리 → 출력 흐름으로 간단한 계산 프로그램을 만들 수 있다.</a:t>
            </a:r>
            <a:endParaRPr lang="ko-KR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13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9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전날 학습 리뷰: 변수와 자료형</a:t>
            </a:r>
            <a:endParaRPr lang="ko-KR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123851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3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2 핵심 복습</a:t>
            </a:r>
            <a:endParaRPr lang="ko-KR" sz="2300" dirty="0"/>
          </a:p>
        </p:txBody>
      </p:sp>
      <p:sp>
        <p:nvSpPr>
          <p:cNvPr id="4" name="Shape 2"/>
          <p:cNvSpPr/>
          <p:nvPr/>
        </p:nvSpPr>
        <p:spPr>
          <a:xfrm>
            <a:off x="661475" y="1696938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0299" y="1845766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변수(Variable)</a:t>
            </a:r>
            <a:endParaRPr lang="ko-KR" sz="1450" dirty="0"/>
          </a:p>
        </p:txBody>
      </p:sp>
      <p:sp>
        <p:nvSpPr>
          <p:cNvPr id="6" name="Text 4"/>
          <p:cNvSpPr/>
          <p:nvPr/>
        </p:nvSpPr>
        <p:spPr>
          <a:xfrm>
            <a:off x="810299" y="2158603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값을 저장하기 위한 이름</a:t>
            </a:r>
            <a:endParaRPr lang="ko-KR" sz="1150" dirty="0"/>
          </a:p>
        </p:txBody>
      </p:sp>
      <p:sp>
        <p:nvSpPr>
          <p:cNvPr id="7" name="Shape 5"/>
          <p:cNvSpPr/>
          <p:nvPr/>
        </p:nvSpPr>
        <p:spPr>
          <a:xfrm>
            <a:off x="4329004" y="1696938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77829" y="1845766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자료형(Data Type)</a:t>
            </a:r>
            <a:endParaRPr lang="ko-KR" sz="1450" dirty="0"/>
          </a:p>
        </p:txBody>
      </p:sp>
      <p:sp>
        <p:nvSpPr>
          <p:cNvPr id="9" name="Text 7"/>
          <p:cNvSpPr/>
          <p:nvPr/>
        </p:nvSpPr>
        <p:spPr>
          <a:xfrm>
            <a:off x="4477829" y="2158603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값의 종류</a:t>
            </a:r>
            <a:endParaRPr lang="ko-KR" sz="1150" dirty="0"/>
          </a:p>
        </p:txBody>
      </p:sp>
      <p:sp>
        <p:nvSpPr>
          <p:cNvPr id="10" name="Shape 8"/>
          <p:cNvSpPr/>
          <p:nvPr/>
        </p:nvSpPr>
        <p:spPr>
          <a:xfrm>
            <a:off x="7996534" y="1696938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45358" y="1845766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문자열 str</a:t>
            </a:r>
            <a:endParaRPr lang="ko-KR" sz="1450" dirty="0"/>
          </a:p>
        </p:txBody>
      </p:sp>
      <p:sp>
        <p:nvSpPr>
          <p:cNvPr id="12" name="Text 10"/>
          <p:cNvSpPr/>
          <p:nvPr/>
        </p:nvSpPr>
        <p:spPr>
          <a:xfrm>
            <a:off x="8145358" y="2158603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"AI휴먼"</a:t>
            </a:r>
            <a:endParaRPr lang="ko-KR" sz="1150" dirty="0"/>
          </a:p>
        </p:txBody>
      </p:sp>
      <p:sp>
        <p:nvSpPr>
          <p:cNvPr id="13" name="Shape 11"/>
          <p:cNvSpPr/>
          <p:nvPr/>
        </p:nvSpPr>
        <p:spPr>
          <a:xfrm>
            <a:off x="661475" y="2667595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0299" y="28164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정수 int</a:t>
            </a:r>
            <a:endParaRPr lang="ko-KR" sz="1450" dirty="0"/>
          </a:p>
        </p:txBody>
      </p:sp>
      <p:sp>
        <p:nvSpPr>
          <p:cNvPr id="15" name="Text 13"/>
          <p:cNvSpPr/>
          <p:nvPr/>
        </p:nvSpPr>
        <p:spPr>
          <a:xfrm>
            <a:off x="810299" y="3129260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9004" y="2667595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77829" y="28164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실수 float</a:t>
            </a:r>
            <a:endParaRPr lang="ko-KR" sz="1450" dirty="0"/>
          </a:p>
        </p:txBody>
      </p:sp>
      <p:sp>
        <p:nvSpPr>
          <p:cNvPr id="18" name="Text 16"/>
          <p:cNvSpPr/>
          <p:nvPr/>
        </p:nvSpPr>
        <p:spPr>
          <a:xfrm>
            <a:off x="4477829" y="3129260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96534" y="2667595"/>
            <a:ext cx="3533587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45358" y="2816423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불리언 bool</a:t>
            </a:r>
            <a:endParaRPr lang="ko-KR" sz="1450" dirty="0"/>
          </a:p>
        </p:txBody>
      </p:sp>
      <p:sp>
        <p:nvSpPr>
          <p:cNvPr id="21" name="Text 19"/>
          <p:cNvSpPr/>
          <p:nvPr/>
        </p:nvSpPr>
        <p:spPr>
          <a:xfrm>
            <a:off x="8145358" y="3129260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/ False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61475" y="3638252"/>
            <a:ext cx="10868646" cy="836712"/>
          </a:xfrm>
          <a:prstGeom prst="roundRect">
            <a:avLst>
              <a:gd name="adj" fmla="val 16011"/>
            </a:avLst>
          </a:prstGeom>
          <a:solidFill>
            <a:srgbClr val="FFFFFF"/>
          </a:solidFill>
          <a:ln/>
          <a:effectLst>
            <a:outerShdw blurRad="2222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10299" y="3787080"/>
            <a:ext cx="1057099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type()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0299" y="4099917"/>
            <a:ext cx="1057099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값이나 변수의 자료형 확인</a:t>
            </a:r>
            <a:endParaRPr lang="ko-KR" sz="1150" dirty="0"/>
          </a:p>
        </p:txBody>
      </p:sp>
      <p:sp>
        <p:nvSpPr>
          <p:cNvPr id="25" name="Text 23"/>
          <p:cNvSpPr/>
          <p:nvPr/>
        </p:nvSpPr>
        <p:spPr>
          <a:xfrm>
            <a:off x="661475" y="4625677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짧은 확인 코드</a:t>
            </a:r>
            <a:endParaRPr lang="ko-KR" sz="1150" dirty="0"/>
          </a:p>
        </p:txBody>
      </p:sp>
      <p:sp>
        <p:nvSpPr>
          <p:cNvPr id="26" name="Shape 24"/>
          <p:cNvSpPr/>
          <p:nvPr/>
        </p:nvSpPr>
        <p:spPr>
          <a:xfrm>
            <a:off x="661475" y="5002609"/>
            <a:ext cx="10868745" cy="1250156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27" name="Text 25"/>
          <p:cNvSpPr/>
          <p:nvPr/>
        </p:nvSpPr>
        <p:spPr>
          <a:xfrm>
            <a:off x="840064" y="5151438"/>
            <a:ext cx="105115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"AI휴먼"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22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85.5</a:t>
            </a:r>
            <a:endParaRPr lang="ko-KR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1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print(type(name), type(age), type(score))</a:t>
            </a:r>
            <a:endParaRPr lang="ko-KR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7432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큰 흐름: 입력 → 처리 → 출력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2175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프로그램을 가장 단순하게 바라보는 방법</a:t>
            </a:r>
            <a:endParaRPr lang="ko-KR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2407"/>
            <a:ext cx="3622882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0991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입력(Input)</a:t>
            </a:r>
            <a:endParaRPr lang="ko-KR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456880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사용자에게 데이터를 받는다.</a:t>
            </a:r>
            <a:endParaRPr lang="ko-KR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272407"/>
            <a:ext cx="3622882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49651" y="30991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처리(Process)</a:t>
            </a:r>
            <a:endParaRPr lang="ko-KR" sz="1600" dirty="0"/>
          </a:p>
        </p:txBody>
      </p:sp>
      <p:sp>
        <p:nvSpPr>
          <p:cNvPr id="9" name="Text 5"/>
          <p:cNvSpPr/>
          <p:nvPr/>
        </p:nvSpPr>
        <p:spPr>
          <a:xfrm>
            <a:off x="4449651" y="3456880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연산과 형변환으로 데이터를 계산한다.</a:t>
            </a:r>
            <a:endParaRPr lang="ko-KR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272407"/>
            <a:ext cx="3622882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72533" y="3099197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출력(Output)</a:t>
            </a:r>
            <a:endParaRPr lang="ko-KR" sz="1600" dirty="0"/>
          </a:p>
        </p:txBody>
      </p:sp>
      <p:sp>
        <p:nvSpPr>
          <p:cNvPr id="12" name="Text 7"/>
          <p:cNvSpPr/>
          <p:nvPr/>
        </p:nvSpPr>
        <p:spPr>
          <a:xfrm>
            <a:off x="8072533" y="3456880"/>
            <a:ext cx="329229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사용자에게 보여준다.</a:t>
            </a:r>
            <a:endParaRPr lang="ko-KR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407283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14" name="Text 9"/>
          <p:cNvSpPr/>
          <p:nvPr/>
        </p:nvSpPr>
        <p:spPr>
          <a:xfrm>
            <a:off x="661475" y="4523482"/>
            <a:ext cx="10868745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입력: 가격 12000, 수량 3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처리: 12000 × 3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총액 36,000원</a:t>
            </a:r>
            <a:endParaRPr lang="ko-KR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0710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용어 정리</a:t>
            </a:r>
            <a:r>
              <a:rPr lang="ko-KR" altLang="en-US" sz="3250" b="1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: </a:t>
            </a:r>
            <a:r>
              <a:rPr lang="ko-KR" altLang="en-US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Operator</a:t>
            </a:r>
            <a:r>
              <a:rPr lang="en-US" altLang="ko-KR" sz="3250" b="1" smtClean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Operand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871887"/>
            <a:ext cx="5470785" cy="1878905"/>
          </a:xfrm>
          <a:prstGeom prst="roundRect">
            <a:avLst>
              <a:gd name="adj" fmla="val 1267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303718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Operator(연산자)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46094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값이나 변수에 특정 계산·비교·판단을 수행하는 기호 또는 키워드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389086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Operand(피연산자)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431462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연산의 대상이 되는 값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03718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예시: 10 + 3</a:t>
            </a:r>
            <a:endParaRPr lang="ko-KR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60948"/>
            <a:ext cx="523266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10: 피연산자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+: 연산자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3: 피연산자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결과: 13</a:t>
            </a:r>
            <a:endParaRPr lang="ko-KR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872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산술 연산자 ① 기본 사칙연산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8614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Python의 기본 산술 연산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22835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270718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130947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더하기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522835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4799" y="270718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44799" y="3130947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빼기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745210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19" y="392955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19" y="4353322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곱하기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3360455" y="3745210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44799" y="392955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4799" y="4353322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나누기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988322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240734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178425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연산의 결과는 일반적으로 float 형태가 된다.</a:t>
            </a:r>
            <a:endParaRPr lang="ko-KR" sz="1300" dirty="0"/>
          </a:p>
        </p:txBody>
      </p:sp>
      <p:sp>
        <p:nvSpPr>
          <p:cNvPr id="19" name="Text 16"/>
          <p:cNvSpPr/>
          <p:nvPr/>
        </p:nvSpPr>
        <p:spPr>
          <a:xfrm>
            <a:off x="6303904" y="248562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20" name="Shape 17"/>
          <p:cNvSpPr/>
          <p:nvPr/>
        </p:nvSpPr>
        <p:spPr>
          <a:xfrm>
            <a:off x="6303904" y="2936280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6502337" y="3101578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+ 3) # 13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print(10 - 3) # 7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* 3) # 30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/ 3) # 3.333...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161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산술 연산자 ② 몫·나머지·거듭제곱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42430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45819" y="232677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//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45819" y="2750542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몫(Floor Division)</a:t>
            </a:r>
            <a:endParaRPr lang="ko-KR" sz="1300" dirty="0"/>
          </a:p>
        </p:txBody>
      </p:sp>
      <p:sp>
        <p:nvSpPr>
          <p:cNvPr id="6" name="Shape 4"/>
          <p:cNvSpPr/>
          <p:nvPr/>
        </p:nvSpPr>
        <p:spPr>
          <a:xfrm>
            <a:off x="3360455" y="2142430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44799" y="2326779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44799" y="2750542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나머지(Modulo)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364805"/>
            <a:ext cx="523266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45819" y="3549154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**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5819" y="3972917"/>
            <a:ext cx="48639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거듭제곱(Power)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607917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활용 예</a:t>
            </a:r>
            <a:endParaRPr lang="ko-KR" sz="1300" dirty="0"/>
          </a:p>
        </p:txBody>
      </p:sp>
      <p:sp>
        <p:nvSpPr>
          <p:cNvPr id="13" name="Text 11"/>
          <p:cNvSpPr/>
          <p:nvPr/>
        </p:nvSpPr>
        <p:spPr>
          <a:xfrm>
            <a:off x="661475" y="5021362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10명을 3명씩 팀으로 묶으면 완전한 팀은 몇 팀? → 10 // 3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남는 사람은 몇 명? → 10 % 3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210522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255587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272117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// 3) # 3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print(10 % 3) # 1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print(2 ** 3) # 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230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연산자 우선순위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4973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수학과 비슷하게 연산 순서가 있다.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449215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99866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3065165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2 + 3 * 4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14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945731"/>
            <a:ext cx="5232666" cy="678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곱셈이 덧셈보다 먼저 수행된다.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괄호를 사용하면 의도를 분명하게 표현할 수 있다.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4809827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59907" y="4975126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(2 + 3) * 4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84844" y="2300387"/>
            <a:ext cx="5470785" cy="3555305"/>
          </a:xfrm>
          <a:prstGeom prst="roundRect">
            <a:avLst>
              <a:gd name="adj" fmla="val 6699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350139" y="246568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smtClean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권장 </a:t>
            </a: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원칙</a:t>
            </a:r>
            <a:endParaRPr lang="ko-KR" sz="1600" dirty="0"/>
          </a:p>
        </p:txBody>
      </p:sp>
      <p:sp>
        <p:nvSpPr>
          <p:cNvPr id="12" name="Text 10"/>
          <p:cNvSpPr/>
          <p:nvPr/>
        </p:nvSpPr>
        <p:spPr>
          <a:xfrm>
            <a:off x="6350139" y="288944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계산식이 길어지면 괄호를 사용해 읽기 쉽게 작성한다.</a:t>
            </a:r>
            <a:endParaRPr lang="ko-KR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29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연산자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9039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값을 비교하면 결과는 bool(True 또는 False)이 된다.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27077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5819" y="251142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==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293518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같다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327077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4799" y="251142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!=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44799" y="293518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다르다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549452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19" y="3733800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819" y="4157563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크다</a:t>
            </a:r>
            <a:endParaRPr lang="ko-KR" sz="1300" dirty="0"/>
          </a:p>
        </p:txBody>
      </p:sp>
      <p:sp>
        <p:nvSpPr>
          <p:cNvPr id="13" name="Shape 11"/>
          <p:cNvSpPr/>
          <p:nvPr/>
        </p:nvSpPr>
        <p:spPr>
          <a:xfrm>
            <a:off x="3360455" y="3549452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544799" y="3733800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4799" y="4157563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작다</a:t>
            </a:r>
            <a:endParaRPr lang="ko-KR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771827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5819" y="495617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&gt;=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19" y="537993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크거나 같다</a:t>
            </a:r>
            <a:endParaRPr lang="ko-KR" sz="1300" dirty="0"/>
          </a:p>
        </p:txBody>
      </p:sp>
      <p:sp>
        <p:nvSpPr>
          <p:cNvPr id="19" name="Shape 17"/>
          <p:cNvSpPr/>
          <p:nvPr/>
        </p:nvSpPr>
        <p:spPr>
          <a:xfrm>
            <a:off x="3360455" y="4771827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44799" y="4956175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&lt;=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44799" y="537993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작거나 같다</a:t>
            </a:r>
            <a:endParaRPr lang="ko-KR" sz="1300" dirty="0"/>
          </a:p>
        </p:txBody>
      </p:sp>
      <p:sp>
        <p:nvSpPr>
          <p:cNvPr id="22" name="Text 20"/>
          <p:cNvSpPr/>
          <p:nvPr/>
        </p:nvSpPr>
        <p:spPr>
          <a:xfrm>
            <a:off x="6303904" y="228987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23" name="Shape 21"/>
          <p:cNvSpPr/>
          <p:nvPr/>
        </p:nvSpPr>
        <p:spPr>
          <a:xfrm>
            <a:off x="6303904" y="2740521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24" name="Text 22"/>
          <p:cNvSpPr/>
          <p:nvPr/>
        </p:nvSpPr>
        <p:spPr>
          <a:xfrm>
            <a:off x="6502337" y="2905820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&gt; 5)  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== 5)  # False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 != 5)  # True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3904" y="4051002"/>
            <a:ext cx="5232666" cy="644823"/>
          </a:xfrm>
          <a:prstGeom prst="roundRect">
            <a:avLst>
              <a:gd name="adj" fmla="val 23084"/>
            </a:avLst>
          </a:prstGeom>
          <a:solidFill>
            <a:srgbClr val="FCF2B5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4303415"/>
            <a:ext cx="206667" cy="16529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841160" y="4241105"/>
            <a:ext cx="513970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는 대입, == 는 비교</a:t>
            </a:r>
            <a:endParaRPr lang="ko-KR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322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논리 연산자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0064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개의 True/False 값을 조합한다.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37334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6769" y="2802632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6769" y="3226395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둘 다 True일 때 True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637334"/>
            <a:ext cx="253368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5749" y="2802632"/>
            <a:ext cx="220309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25749" y="3226395"/>
            <a:ext cx="220309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하나라도 True이면 True</a:t>
            </a:r>
            <a:endParaRPr lang="ko-KR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821609"/>
            <a:ext cx="5232666" cy="1018977"/>
          </a:xfrm>
          <a:prstGeom prst="roundRect">
            <a:avLst>
              <a:gd name="adj" fmla="val 14608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6769" y="3986907"/>
            <a:ext cx="490207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6769" y="4410670"/>
            <a:ext cx="490207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True와 False를 반대로 변경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2600127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3050778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3216077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and True)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and False) # False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print(True or False)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print(not True) # False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66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+ 논리 연산 예시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324100"/>
            <a:ext cx="10868745" cy="1918295"/>
          </a:xfrm>
          <a:prstGeom prst="roundRect">
            <a:avLst>
              <a:gd name="adj" fmla="val 7760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489398"/>
            <a:ext cx="104718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23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&gt;= 20)                     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&gt;= 80)                    # True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 &gt;= 20 and score &gt;= 80)      # True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4428430"/>
            <a:ext cx="3512653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6769" y="4593729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연산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826769" y="4951413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True/False 생성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4339422" y="4428430"/>
            <a:ext cx="3512752" cy="952897"/>
          </a:xfrm>
          <a:prstGeom prst="roundRect">
            <a:avLst>
              <a:gd name="adj" fmla="val 15621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4716" y="4593729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논리 연산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4504716" y="4951413"/>
            <a:ext cx="318216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True/False 조합</a:t>
            </a:r>
            <a:endParaRPr lang="ko-KR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621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86767"/>
            <a:ext cx="629686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input(): 사용자 입력 받기</a:t>
            </a:r>
            <a:endParaRPr lang="ko-KR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1201539"/>
            <a:ext cx="690644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input()은 키보드로 입력한 값을 프로그램으로 가져오는 함수이다.</a:t>
            </a:r>
            <a:endParaRPr lang="ko-KR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1614587"/>
            <a:ext cx="6296860" cy="816967"/>
          </a:xfrm>
          <a:prstGeom prst="roundRect">
            <a:avLst>
              <a:gd name="adj" fmla="val 17309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849986" y="1771650"/>
            <a:ext cx="591983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input("이름을 입력하세요: ")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ko-KR" sz="1200" dirty="0"/>
          </a:p>
        </p:txBody>
      </p:sp>
      <p:sp>
        <p:nvSpPr>
          <p:cNvPr id="7" name="Text 4"/>
          <p:cNvSpPr/>
          <p:nvPr/>
        </p:nvSpPr>
        <p:spPr>
          <a:xfrm>
            <a:off x="661475" y="2599432"/>
            <a:ext cx="690644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실행 흐름</a:t>
            </a:r>
            <a:endParaRPr lang="ko-KR" sz="1200" dirty="0"/>
          </a:p>
        </p:txBody>
      </p:sp>
      <p:sp>
        <p:nvSpPr>
          <p:cNvPr id="8" name="Text 5"/>
          <p:cNvSpPr/>
          <p:nvPr/>
        </p:nvSpPr>
        <p:spPr>
          <a:xfrm>
            <a:off x="661475" y="3012480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1475" y="3260328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3376910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안내 문구 출력</a:t>
            </a:r>
            <a:endParaRPr lang="ko-KR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3889474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4137323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0"/>
          <p:cNvSpPr/>
          <p:nvPr/>
        </p:nvSpPr>
        <p:spPr>
          <a:xfrm>
            <a:off x="661475" y="4253905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사용자가 키보드 입력</a:t>
            </a:r>
            <a:endParaRPr lang="ko-KR" sz="1500" dirty="0"/>
          </a:p>
        </p:txBody>
      </p:sp>
      <p:sp>
        <p:nvSpPr>
          <p:cNvPr id="14" name="Text 11"/>
          <p:cNvSpPr/>
          <p:nvPr/>
        </p:nvSpPr>
        <p:spPr>
          <a:xfrm>
            <a:off x="661475" y="4766469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61475" y="5014317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5130899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 입력</a:t>
            </a:r>
            <a:endParaRPr lang="ko-KR" sz="1500" dirty="0"/>
          </a:p>
        </p:txBody>
      </p:sp>
      <p:sp>
        <p:nvSpPr>
          <p:cNvPr id="17" name="Text 14"/>
          <p:cNvSpPr/>
          <p:nvPr/>
        </p:nvSpPr>
        <p:spPr>
          <a:xfrm>
            <a:off x="661475" y="5643463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1475" y="5891312"/>
            <a:ext cx="6296860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6"/>
          <p:cNvSpPr/>
          <p:nvPr/>
        </p:nvSpPr>
        <p:spPr>
          <a:xfrm>
            <a:off x="661475" y="6007894"/>
            <a:ext cx="6296860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입력한 값이 변수에 저장</a:t>
            </a:r>
            <a:endParaRPr lang="ko-KR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51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매우 중요한 규칙: input() 결과는 str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254945"/>
            <a:ext cx="10868745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420243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input("나이: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565426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805138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377199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사용자가 22를 입력해도 결과는 문자열 "22"이다.</a:t>
            </a:r>
            <a:endParaRPr lang="ko-KR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572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왜 형변환이 필요한가?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87315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잘못된 예</a:t>
            </a:r>
            <a:endParaRPr lang="ko-KR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93181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09711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input("가격: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input("수량: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print(price * qty)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4229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문제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655741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두 변수 모두 str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 × 문자열 연산은 불가능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322016"/>
            <a:ext cx="5470785" cy="2978646"/>
          </a:xfrm>
          <a:prstGeom prst="roundRect">
            <a:avLst>
              <a:gd name="adj" fmla="val 799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248731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해결 방향</a:t>
            </a:r>
            <a:endParaRPr lang="ko-KR" sz="1600" dirty="0"/>
          </a:p>
        </p:txBody>
      </p:sp>
      <p:sp>
        <p:nvSpPr>
          <p:cNvPr id="10" name="Text 8"/>
          <p:cNvSpPr/>
          <p:nvPr/>
        </p:nvSpPr>
        <p:spPr>
          <a:xfrm>
            <a:off x="6350139" y="291107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 전에 숫자 자료형으로 변환한다.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350139" y="3361730"/>
            <a:ext cx="5140196" cy="1124446"/>
          </a:xfrm>
          <a:prstGeom prst="roundRect">
            <a:avLst>
              <a:gd name="adj" fmla="val 13238"/>
            </a:avLst>
          </a:prstGeom>
          <a:solidFill>
            <a:srgbClr val="282834"/>
          </a:solidFill>
          <a:ln/>
        </p:spPr>
      </p:sp>
      <p:sp>
        <p:nvSpPr>
          <p:cNvPr id="12" name="Text 10"/>
          <p:cNvSpPr/>
          <p:nvPr/>
        </p:nvSpPr>
        <p:spPr>
          <a:xfrm>
            <a:off x="6548571" y="3527028"/>
            <a:ext cx="4743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int(input("가격: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int(input("수량: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print(price * qty)</a:t>
            </a:r>
            <a:endParaRPr lang="ko-KR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4747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Type Casting: 형변환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9490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Casting(형변환): 값을 다른 자료형으로 변환하는 것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9438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자주 사용하는 함수</a:t>
            </a:r>
            <a:endParaRPr lang="ko-KR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145036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5819" y="332938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int(value)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5819" y="375314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정수로 변환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3360455" y="3145036"/>
            <a:ext cx="253368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44799" y="3329384"/>
            <a:ext cx="21649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float(value)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44799" y="3753148"/>
            <a:ext cx="216499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실수로 변환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367411"/>
            <a:ext cx="5232666" cy="1057077"/>
          </a:xfrm>
          <a:prstGeom prst="roundRect">
            <a:avLst>
              <a:gd name="adj" fmla="val 14081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D8D4D4"/>
            </a:solidFill>
            <a:prstDash val="solid"/>
          </a:ln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19" y="4551759"/>
            <a:ext cx="48639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str(value)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5819" y="4975523"/>
            <a:ext cx="486397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문자열로 변환</a:t>
            </a:r>
            <a:endParaRPr lang="ko-KR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269438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15" name="Shape 13"/>
          <p:cNvSpPr/>
          <p:nvPr/>
        </p:nvSpPr>
        <p:spPr>
          <a:xfrm>
            <a:off x="6303904" y="3145036"/>
            <a:ext cx="5232666" cy="2182912"/>
          </a:xfrm>
          <a:prstGeom prst="roundRect">
            <a:avLst>
              <a:gd name="adj" fmla="val 6819"/>
            </a:avLst>
          </a:prstGeom>
          <a:solidFill>
            <a:srgbClr val="F2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6502337" y="3310334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int("22")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= float("173.5")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= str(100)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print(type(age))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print(type(height))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print(type(message))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52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int()와 float() 선택 기준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1700014"/>
            <a:ext cx="5470785" cy="1878905"/>
          </a:xfrm>
          <a:prstGeom prst="roundRect">
            <a:avLst>
              <a:gd name="adj" fmla="val 1267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186531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정수 int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289076"/>
            <a:ext cx="514019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개수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나이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인원수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86531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실수 float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289076"/>
            <a:ext cx="523266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할인율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평균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키/몸무게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확률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376495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4215606"/>
            <a:ext cx="10868745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859907" y="4380905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int(input("수량: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discount_rate = float(input("할인율(%): "))</a:t>
            </a:r>
            <a:endParaRPr lang="ko-KR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5261471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01184"/>
            <a:ext cx="206667" cy="16529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98731" y="546804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</a:t>
            </a: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데이터의 의미에 맞는 자료형을 선택한다.</a:t>
            </a:r>
            <a:endParaRPr lang="ko-KR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1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형변환 오류 이해하기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6755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아래 코드는 오류가 발생한다.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818209"/>
            <a:ext cx="10868745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983508"/>
            <a:ext cx="1108146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int("삼만원")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764756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이유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4188520"/>
            <a:ext cx="523266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int()는 숫자로 해석할 수 있는 문자열을 정수로 변환한다.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"삼만원"은 정수로 해석할 수 없다.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924425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대표 오류: </a:t>
            </a:r>
            <a:r>
              <a:rPr lang="ko-KR" altLang="en-US" sz="13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ValueError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3599458"/>
            <a:ext cx="5470785" cy="1738412"/>
          </a:xfrm>
          <a:prstGeom prst="roundRect">
            <a:avLst>
              <a:gd name="adj" fmla="val 13700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3764756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목표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4188520"/>
            <a:ext cx="5140196" cy="587077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오류의 원인을 이해하고 정상 입력 규칙을 설계한다.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예외 처리(try-except)의 본격적인 구현은 이후 과정에서 학습한다.</a:t>
            </a:r>
            <a:endParaRPr lang="ko-KR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5113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print(): 결과 출력하기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985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print()는 값을 화면에 출력하는 함수이다.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35250"/>
            <a:ext cx="5232666" cy="1653679"/>
          </a:xfrm>
          <a:prstGeom prst="roundRect">
            <a:avLst>
              <a:gd name="adj" fmla="val 900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800548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"민준"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24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print(name, age)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474964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여러 값을 쉼표로 연결할 수 있다.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925616"/>
            <a:ext cx="5232666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59907" y="5090914"/>
            <a:ext cx="544538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print("이름:", name, "나이:", age)</a:t>
            </a:r>
            <a:endParaRPr lang="ko-KR" sz="1300" dirty="0"/>
          </a:p>
        </p:txBody>
      </p:sp>
      <p:sp>
        <p:nvSpPr>
          <p:cNvPr id="9" name="Shape 7"/>
          <p:cNvSpPr/>
          <p:nvPr/>
        </p:nvSpPr>
        <p:spPr>
          <a:xfrm>
            <a:off x="6184844" y="2449215"/>
            <a:ext cx="5470785" cy="3257649"/>
          </a:xfrm>
          <a:prstGeom prst="roundRect">
            <a:avLst>
              <a:gd name="adj" fmla="val 731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0139" y="2614513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f-string 활용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3038277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하지만 출력 형식을 세밀하게 구성하려면 f-string이 편리하다.</a:t>
            </a:r>
            <a:endParaRPr lang="ko-KR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2493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f-string 기본 문법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67235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f-string(Formatted String Literal): 문자열 안에 변수나 계산식을 쉽게 삽입하는 방법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30904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47434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"민준"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24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print(f"이름: {name}, 나이: {age}세")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61952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중괄호 { } 안에 변수와 간단한 계산식을 넣을 수 있다.</a:t>
            </a:r>
            <a:endParaRPr lang="ko-KR" sz="1300" dirty="0"/>
          </a:p>
        </p:txBody>
      </p:sp>
      <p:sp>
        <p:nvSpPr>
          <p:cNvPr id="7" name="Shape 5"/>
          <p:cNvSpPr/>
          <p:nvPr/>
        </p:nvSpPr>
        <p:spPr>
          <a:xfrm>
            <a:off x="6303904" y="3309045"/>
            <a:ext cx="5232666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6502337" y="3474343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12000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3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print(f"총액: {price * qty}원")</a:t>
            </a:r>
            <a:endParaRPr lang="ko-KR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505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숫자를 읽기 좋게 출력하기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9794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큰 숫자는 천 단위 쉼표를 사용하면 읽기 쉽다.</a:t>
            </a:r>
            <a:endParaRPr lang="ko-KR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234630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3399929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 = 1234567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print(f"총액: {amount:,}원")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4280495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총액: 1,234,567원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319742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실수 소수점 자리수 지정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3648075"/>
            <a:ext cx="52326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6502337" y="3813373"/>
            <a:ext cx="48358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12.3456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print(f"할인율: {rate:.1f}%")</a:t>
            </a:r>
            <a:endParaRPr lang="ko-KR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4693940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할인율: 12.3%</a:t>
            </a:r>
            <a:endParaRPr lang="ko-KR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348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① 주문 금액 계산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399605"/>
            <a:ext cx="5470785" cy="2823567"/>
          </a:xfrm>
          <a:prstGeom prst="roundRect">
            <a:avLst>
              <a:gd name="adj" fmla="val 843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564904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문제</a:t>
            </a:r>
            <a:endParaRPr lang="ko-KR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2988667"/>
            <a:ext cx="5140196" cy="1231999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 가격 입력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수량 입력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총액 계산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천 단위 쉼표로 출력</a:t>
            </a:r>
            <a:endParaRPr lang="ko-KR" sz="1300" dirty="0"/>
          </a:p>
        </p:txBody>
      </p:sp>
      <p:sp>
        <p:nvSpPr>
          <p:cNvPr id="6" name="Text 4"/>
          <p:cNvSpPr/>
          <p:nvPr/>
        </p:nvSpPr>
        <p:spPr>
          <a:xfrm>
            <a:off x="707710" y="4385965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흐름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707710" y="4809728"/>
            <a:ext cx="57497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 → int 형변환 → 곱셈 → f-string 출력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564904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코드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303904" y="3009404"/>
            <a:ext cx="5232666" cy="1389063"/>
          </a:xfrm>
          <a:prstGeom prst="roundRect">
            <a:avLst>
              <a:gd name="adj" fmla="val 10716"/>
            </a:avLst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6502337" y="3174702"/>
            <a:ext cx="4835801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int(input("가격: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int(input("수량: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price * qty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print(f"총액: {total:,}원")</a:t>
            </a:r>
            <a:endParaRPr lang="ko-KR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682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대표 실습 ② 할인 금액 계산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9690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620665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단가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수량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할인율(%)</a:t>
            </a:r>
            <a:endParaRPr lang="ko-KR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69550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</a:t>
            </a:r>
            <a:endParaRPr lang="ko-KR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4119265"/>
            <a:ext cx="523266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주문금액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할인금액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결제금액</a:t>
            </a:r>
            <a:endParaRPr lang="ko-KR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517763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아직 조건문 없이 순수 계산만 수행한다.</a:t>
            </a:r>
            <a:endParaRPr lang="ko-KR" sz="1300" dirty="0"/>
          </a:p>
        </p:txBody>
      </p:sp>
      <p:sp>
        <p:nvSpPr>
          <p:cNvPr id="8" name="Shape 6"/>
          <p:cNvSpPr/>
          <p:nvPr/>
        </p:nvSpPr>
        <p:spPr>
          <a:xfrm>
            <a:off x="6184844" y="2031603"/>
            <a:ext cx="5470785" cy="3559473"/>
          </a:xfrm>
          <a:prstGeom prst="roundRect">
            <a:avLst>
              <a:gd name="adj" fmla="val 669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50139" y="219690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계산</a:t>
            </a:r>
            <a:endParaRPr lang="ko-KR" sz="1600" dirty="0"/>
          </a:p>
        </p:txBody>
      </p:sp>
      <p:sp>
        <p:nvSpPr>
          <p:cNvPr id="10" name="Shape 8"/>
          <p:cNvSpPr/>
          <p:nvPr/>
        </p:nvSpPr>
        <p:spPr>
          <a:xfrm>
            <a:off x="6350139" y="2641402"/>
            <a:ext cx="5140196" cy="1124446"/>
          </a:xfrm>
          <a:prstGeom prst="roundRect">
            <a:avLst>
              <a:gd name="adj" fmla="val 13238"/>
            </a:avLst>
          </a:prstGeom>
          <a:solidFill>
            <a:srgbClr val="282834"/>
          </a:solidFill>
          <a:ln/>
        </p:spPr>
      </p:sp>
      <p:sp>
        <p:nvSpPr>
          <p:cNvPr id="11" name="Text 9"/>
          <p:cNvSpPr/>
          <p:nvPr/>
        </p:nvSpPr>
        <p:spPr>
          <a:xfrm>
            <a:off x="6548571" y="2806700"/>
            <a:ext cx="474333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= price * qty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= subtotal * discount_rate / 100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final_amount = subtotal - discount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63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주문 계산기 의사코드(Pseudocode)</a:t>
            </a:r>
            <a:endParaRPr lang="ko-KR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5106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Pseudocode(의사코드): 프로그래밍 언어 문법보다 처리 순서를 자연어에 가깝게 표현한 설계 문장</a:t>
            </a:r>
            <a:endParaRPr lang="ko-KR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0171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6365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984401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시작</a:t>
            </a:r>
            <a:endParaRPr 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342084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상품명을 입력받는다.</a:t>
            </a:r>
            <a:endParaRPr lang="ko-KR" sz="1300" dirty="0"/>
          </a:p>
        </p:txBody>
      </p:sp>
      <p:sp>
        <p:nvSpPr>
          <p:cNvPr id="8" name="Text 6"/>
          <p:cNvSpPr/>
          <p:nvPr/>
        </p:nvSpPr>
        <p:spPr>
          <a:xfrm>
            <a:off x="6178495" y="2601714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863652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6178495" y="2984401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</a:t>
            </a:r>
            <a:endParaRPr lang="ko-KR" sz="1600" dirty="0"/>
          </a:p>
        </p:txBody>
      </p:sp>
      <p:sp>
        <p:nvSpPr>
          <p:cNvPr id="11" name="Text 9"/>
          <p:cNvSpPr/>
          <p:nvPr/>
        </p:nvSpPr>
        <p:spPr>
          <a:xfrm>
            <a:off x="6178495" y="3342084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단가를 입력받아 정수로 변환한다. 수량을 입력받아 정수로 변환한다. 할인율을 입력받아 실수로 변환한다.</a:t>
            </a:r>
            <a:endParaRPr lang="ko-KR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45433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처리</a:t>
            </a:r>
            <a:endParaRPr lang="ko-KR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4901009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주문금액 = 단가 × 수량 / 할인금액 = 주문금액 × 할인율 ÷ 100 / 결제금액 = 주문금액 - 할인금액</a:t>
            </a:r>
            <a:endParaRPr lang="ko-KR" sz="1300" dirty="0"/>
          </a:p>
        </p:txBody>
      </p:sp>
      <p:sp>
        <p:nvSpPr>
          <p:cNvPr id="16" name="Text 14"/>
          <p:cNvSpPr/>
          <p:nvPr/>
        </p:nvSpPr>
        <p:spPr>
          <a:xfrm>
            <a:off x="6178495" y="416063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4422577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178495" y="4543326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및 종료</a:t>
            </a:r>
            <a:endParaRPr lang="ko-KR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490100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결과를 보기 좋게 출력한다.</a:t>
            </a:r>
            <a:endParaRPr lang="ko-KR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1998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 코드로 옮기기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967409"/>
            <a:ext cx="10868745" cy="3770610"/>
          </a:xfrm>
          <a:prstGeom prst="roundRect">
            <a:avLst>
              <a:gd name="adj" fmla="val 3948"/>
            </a:avLst>
          </a:prstGeom>
          <a:solidFill>
            <a:srgbClr val="F2F2F2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2132707"/>
            <a:ext cx="10471880" cy="344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= input("상품명: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int(input("단가: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int(input("수량: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discount_rate = float(input("할인율(%):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subtotal = price * qty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 = subtotal * discount_rate / 100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final_amount = subtotal - discount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print(f"상품명: {product}")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print(f"주문금액: {subtotal:,.0f}원")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print(f"할인금액: {discount:,.0f}원")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print(f"결제금액: {final_amount:,.0f}원")</a:t>
            </a:r>
            <a:endParaRPr lang="ko-KR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1113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자주 발생하는 오류 3가지</a:t>
            </a:r>
            <a:endParaRPr lang="ko-KR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61475" y="2658566"/>
            <a:ext cx="3512653" cy="2388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22017" y="2842915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1</a:t>
            </a:r>
            <a:endParaRPr lang="ko-KR" sz="1600" dirty="0"/>
          </a:p>
        </p:txBody>
      </p:sp>
      <p:sp>
        <p:nvSpPr>
          <p:cNvPr id="5" name="Shape 2"/>
          <p:cNvSpPr/>
          <p:nvPr/>
        </p:nvSpPr>
        <p:spPr>
          <a:xfrm>
            <a:off x="922017" y="3287415"/>
            <a:ext cx="3067767" cy="1124446"/>
          </a:xfrm>
          <a:prstGeom prst="roundRect">
            <a:avLst>
              <a:gd name="adj" fmla="val 13238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1120449" y="3452713"/>
            <a:ext cx="267090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input("가격: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input("수량: ")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print(price * qty)</a:t>
            </a:r>
            <a:endParaRPr lang="ko-KR" sz="1300" dirty="0"/>
          </a:p>
        </p:txBody>
      </p:sp>
      <p:sp>
        <p:nvSpPr>
          <p:cNvPr id="7" name="Text 4"/>
          <p:cNvSpPr/>
          <p:nvPr/>
        </p:nvSpPr>
        <p:spPr>
          <a:xfrm>
            <a:off x="922017" y="4597896"/>
            <a:ext cx="306776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문자열을 숫자로 변환하지 않음</a:t>
            </a:r>
            <a:endParaRPr lang="ko-KR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4339422" y="2658566"/>
            <a:ext cx="3512752" cy="23882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99964" y="2842915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2</a:t>
            </a:r>
            <a:endParaRPr lang="ko-KR" sz="1600" dirty="0"/>
          </a:p>
        </p:txBody>
      </p:sp>
      <p:sp>
        <p:nvSpPr>
          <p:cNvPr id="10" name="Shape 6"/>
          <p:cNvSpPr/>
          <p:nvPr/>
        </p:nvSpPr>
        <p:spPr>
          <a:xfrm>
            <a:off x="4599964" y="3287415"/>
            <a:ext cx="3067866" cy="859830"/>
          </a:xfrm>
          <a:prstGeom prst="roundRect">
            <a:avLst>
              <a:gd name="adj" fmla="val 17312"/>
            </a:avLst>
          </a:prstGeom>
          <a:solidFill>
            <a:srgbClr val="F2F2F2"/>
          </a:solidFill>
          <a:ln/>
        </p:spPr>
      </p:sp>
      <p:sp>
        <p:nvSpPr>
          <p:cNvPr id="11" name="Text 7"/>
          <p:cNvSpPr/>
          <p:nvPr/>
        </p:nvSpPr>
        <p:spPr>
          <a:xfrm>
            <a:off x="4798396" y="3452713"/>
            <a:ext cx="267100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int(input("가격: "))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사용자가 abc 입력</a:t>
            </a:r>
            <a:endParaRPr lang="ko-KR" sz="1300" dirty="0"/>
          </a:p>
        </p:txBody>
      </p:sp>
      <p:sp>
        <p:nvSpPr>
          <p:cNvPr id="12" name="Text 8"/>
          <p:cNvSpPr/>
          <p:nvPr/>
        </p:nvSpPr>
        <p:spPr>
          <a:xfrm>
            <a:off x="4599964" y="4333280"/>
            <a:ext cx="306786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ValueError 발생</a:t>
            </a:r>
            <a:endParaRPr lang="ko-KR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8017468" y="2658566"/>
            <a:ext cx="3512653" cy="238829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78010" y="2842915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오류 3</a:t>
            </a:r>
            <a:endParaRPr lang="ko-KR" sz="1600" dirty="0"/>
          </a:p>
        </p:txBody>
      </p:sp>
      <p:sp>
        <p:nvSpPr>
          <p:cNvPr id="15" name="Shape 10"/>
          <p:cNvSpPr/>
          <p:nvPr/>
        </p:nvSpPr>
        <p:spPr>
          <a:xfrm>
            <a:off x="8278010" y="3287415"/>
            <a:ext cx="3067767" cy="595213"/>
          </a:xfrm>
          <a:prstGeom prst="roundRect">
            <a:avLst>
              <a:gd name="adj" fmla="val 25008"/>
            </a:avLst>
          </a:prstGeom>
          <a:solidFill>
            <a:srgbClr val="F2F2F2"/>
          </a:solidFill>
          <a:ln/>
        </p:spPr>
      </p:sp>
      <p:sp>
        <p:nvSpPr>
          <p:cNvPr id="16" name="Text 11"/>
          <p:cNvSpPr/>
          <p:nvPr/>
        </p:nvSpPr>
        <p:spPr>
          <a:xfrm>
            <a:off x="8476443" y="3452713"/>
            <a:ext cx="267090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print(f"총액: total원")</a:t>
            </a:r>
            <a:endParaRPr lang="ko-KR" sz="1300" dirty="0"/>
          </a:p>
        </p:txBody>
      </p:sp>
      <p:sp>
        <p:nvSpPr>
          <p:cNvPr id="17" name="Text 12"/>
          <p:cNvSpPr/>
          <p:nvPr/>
        </p:nvSpPr>
        <p:spPr>
          <a:xfrm>
            <a:off x="8278010" y="4068663"/>
            <a:ext cx="3067767" cy="628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변수 total이 중괄호 안에 없음</a:t>
            </a:r>
            <a:endParaRPr lang="ko-KR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수정: </a:t>
            </a:r>
            <a:r>
              <a:rPr lang="ko-KR" alt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print(f"총액: {total}원")</a:t>
            </a:r>
            <a:endParaRPr lang="ko-KR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472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0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디버깅 습관: type()과 중간값 출력</a:t>
            </a:r>
            <a:endParaRPr lang="ko-KR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89856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계산 결과가 이상할 때 확인 순서</a:t>
            </a:r>
            <a:endParaRPr lang="ko-KR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970782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2218630"/>
            <a:ext cx="524268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33521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입력값 확인</a:t>
            </a:r>
            <a:endParaRPr lang="ko-KR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2847777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3095625"/>
            <a:ext cx="524268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661475" y="3212207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자료형 확인</a:t>
            </a:r>
            <a:endParaRPr lang="ko-KR" sz="1500" dirty="0"/>
          </a:p>
        </p:txBody>
      </p:sp>
      <p:sp>
        <p:nvSpPr>
          <p:cNvPr id="10" name="Text 8"/>
          <p:cNvSpPr/>
          <p:nvPr/>
        </p:nvSpPr>
        <p:spPr>
          <a:xfrm>
            <a:off x="661475" y="3724771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972620"/>
            <a:ext cx="524268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661475" y="4089202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중간 계산값 확인</a:t>
            </a:r>
            <a:endParaRPr lang="ko-KR" sz="1500" dirty="0"/>
          </a:p>
        </p:txBody>
      </p:sp>
      <p:sp>
        <p:nvSpPr>
          <p:cNvPr id="13" name="Text 11"/>
          <p:cNvSpPr/>
          <p:nvPr/>
        </p:nvSpPr>
        <p:spPr>
          <a:xfrm>
            <a:off x="661475" y="4601766"/>
            <a:ext cx="314218" cy="1963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4849614"/>
            <a:ext cx="524268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966196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5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최종 출력 확인</a:t>
            </a:r>
            <a:endParaRPr lang="ko-KR" sz="1500" dirty="0"/>
          </a:p>
        </p:txBody>
      </p:sp>
      <p:sp>
        <p:nvSpPr>
          <p:cNvPr id="16" name="Shape 14"/>
          <p:cNvSpPr/>
          <p:nvPr/>
        </p:nvSpPr>
        <p:spPr>
          <a:xfrm>
            <a:off x="661475" y="5497413"/>
            <a:ext cx="5242687" cy="592237"/>
          </a:xfrm>
          <a:prstGeom prst="roundRect">
            <a:avLst>
              <a:gd name="adj" fmla="val 23877"/>
            </a:avLst>
          </a:prstGeom>
          <a:solidFill>
            <a:srgbClr val="E1E1EA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534" y="5726113"/>
            <a:ext cx="196349" cy="15706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71943" y="5670947"/>
            <a:ext cx="5184745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smtClean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</a:t>
            </a:r>
            <a:r>
              <a:rPr lang="ko-KR" altLang="en-US" sz="12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()는 가장 쉬운 디버깅 도구이다.</a:t>
            </a:r>
            <a:endParaRPr lang="ko-KR" sz="1200" dirty="0"/>
          </a:p>
        </p:txBody>
      </p:sp>
      <p:sp>
        <p:nvSpPr>
          <p:cNvPr id="19" name="Text 16"/>
          <p:cNvSpPr/>
          <p:nvPr/>
        </p:nvSpPr>
        <p:spPr>
          <a:xfrm>
            <a:off x="6293883" y="1937246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ko-KR" altLang="en-US" sz="12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예시</a:t>
            </a:r>
            <a:endParaRPr lang="ko-KR" sz="1200" dirty="0"/>
          </a:p>
        </p:txBody>
      </p:sp>
      <p:sp>
        <p:nvSpPr>
          <p:cNvPr id="20" name="Shape 17"/>
          <p:cNvSpPr/>
          <p:nvPr/>
        </p:nvSpPr>
        <p:spPr>
          <a:xfrm>
            <a:off x="6293883" y="2350294"/>
            <a:ext cx="5242687" cy="157122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/>
        </p:spPr>
      </p:sp>
      <p:sp>
        <p:nvSpPr>
          <p:cNvPr id="21" name="Text 18"/>
          <p:cNvSpPr/>
          <p:nvPr/>
        </p:nvSpPr>
        <p:spPr>
          <a:xfrm>
            <a:off x="6482394" y="2507357"/>
            <a:ext cx="4865665" cy="1257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 = int(input("가격: "))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qty = int(input("수량: "))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print("price type:", type(price))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print("qty type:", type(qty))</a:t>
            </a:r>
            <a:endParaRPr lang="ko-KR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ko-KR" alt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print("중간 계산:", price * qty)</a:t>
            </a:r>
            <a:endParaRPr lang="ko-KR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67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오늘의 핵심 정리</a:t>
            </a:r>
            <a:endParaRPr lang="ko-KR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860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3485" y="15171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1542951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연산자는 값을 계산·비교·판단한다.</a:t>
            </a:r>
            <a:endParaRPr lang="ko-KR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188865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3485" y="221987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98830" y="2245717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input()의 결과는 항상 str이다.</a:t>
            </a:r>
            <a:endParaRPr lang="ko-KR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2891631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3485" y="29226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2948484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숫자 계산 전에는 int() 또는 float() 형변환이 필요하다.</a:t>
            </a:r>
            <a:endParaRPr lang="ko-KR" sz="1600" dirty="0"/>
          </a:p>
        </p:txBody>
      </p:sp>
      <p:sp>
        <p:nvSpPr>
          <p:cNvPr id="12" name="Shape 10"/>
          <p:cNvSpPr/>
          <p:nvPr/>
        </p:nvSpPr>
        <p:spPr>
          <a:xfrm>
            <a:off x="661475" y="3594398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3485" y="36254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98830" y="3651250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비교 연산의 결과는 bool이다.</a:t>
            </a:r>
            <a:endParaRPr lang="ko-KR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297164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3485" y="43281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98830" y="4354016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f-string은 변수와 계산 결과를 읽기 좋게 출력한다.</a:t>
            </a:r>
            <a:endParaRPr lang="ko-KR" sz="1600" dirty="0"/>
          </a:p>
        </p:txBody>
      </p:sp>
      <p:sp>
        <p:nvSpPr>
          <p:cNvPr id="18" name="Shape 16"/>
          <p:cNvSpPr/>
          <p:nvPr/>
        </p:nvSpPr>
        <p:spPr>
          <a:xfrm>
            <a:off x="661475" y="4999930"/>
            <a:ext cx="372061" cy="372070"/>
          </a:xfrm>
          <a:prstGeom prst="roundRect">
            <a:avLst>
              <a:gd name="adj" fmla="val 40007"/>
            </a:avLst>
          </a:prstGeom>
          <a:solidFill>
            <a:srgbClr val="FFFFFF"/>
          </a:solidFill>
          <a:ln/>
          <a:effectLst>
            <a:outerShdw blurRad="247650" dist="127" dir="16200000" algn="bl" rotWithShape="0">
              <a:srgbClr val="333333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3485" y="50309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98830" y="5056783"/>
            <a:ext cx="1033139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3C393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프로그램은 입력 → 처리 → 출력 흐름으로 설계하면 이해하기 쉽다.</a:t>
            </a:r>
            <a:endParaRPr lang="ko-KR" sz="1600" dirty="0"/>
          </a:p>
        </p:txBody>
      </p:sp>
      <p:sp>
        <p:nvSpPr>
          <p:cNvPr id="21" name="Shape 19"/>
          <p:cNvSpPr/>
          <p:nvPr/>
        </p:nvSpPr>
        <p:spPr>
          <a:xfrm>
            <a:off x="661475" y="5558036"/>
            <a:ext cx="10868745" cy="661293"/>
          </a:xfrm>
          <a:prstGeom prst="roundRect">
            <a:avLst>
              <a:gd name="adj" fmla="val 22509"/>
            </a:avLst>
          </a:prstGeom>
          <a:solidFill>
            <a:srgbClr val="E1E1EA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797748"/>
            <a:ext cx="206667" cy="16529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198731" y="576460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결과물: 콘솔 주문 계산기</a:t>
            </a:r>
            <a:endParaRPr lang="ko-KR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29074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40841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25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다음 시간 예고: 조건문</a:t>
            </a:r>
            <a:endParaRPr lang="ko-KR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991221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4 주제: 조건문 if / elif / else</a:t>
            </a:r>
            <a:endParaRPr lang="ko-KR" sz="2600" dirty="0"/>
          </a:p>
        </p:txBody>
      </p:sp>
      <p:sp>
        <p:nvSpPr>
          <p:cNvPr id="5" name="Shape 2"/>
          <p:cNvSpPr/>
          <p:nvPr/>
        </p:nvSpPr>
        <p:spPr>
          <a:xfrm>
            <a:off x="5114301" y="2652713"/>
            <a:ext cx="3184842" cy="2796877"/>
          </a:xfrm>
          <a:prstGeom prst="roundRect">
            <a:avLst>
              <a:gd name="adj" fmla="val 8515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279595" y="2818011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연결점</a:t>
            </a:r>
            <a:endParaRPr lang="ko-KR" sz="1600" dirty="0"/>
          </a:p>
        </p:txBody>
      </p:sp>
      <p:sp>
        <p:nvSpPr>
          <p:cNvPr id="7" name="Text 4"/>
          <p:cNvSpPr/>
          <p:nvPr/>
        </p:nvSpPr>
        <p:spPr>
          <a:xfrm>
            <a:off x="5279595" y="3241774"/>
            <a:ext cx="2854254" cy="111631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 lnSpcReduction="1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비교 연산: score &gt;= 80 → True/False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논리 연산: age &gt;= 20 and score &gt;= 80 → True/False</a:t>
            </a:r>
            <a:endParaRPr lang="ko-KR" sz="1300" dirty="0"/>
          </a:p>
        </p:txBody>
      </p:sp>
      <p:sp>
        <p:nvSpPr>
          <p:cNvPr id="8" name="Text 5"/>
          <p:cNvSpPr/>
          <p:nvPr/>
        </p:nvSpPr>
        <p:spPr>
          <a:xfrm>
            <a:off x="5279595" y="4506913"/>
            <a:ext cx="285425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다음 시간에는 "조건이 True이면 A를 하고, 아니면 B를 한다" 와 같은 선택 구조를 코드로 구현한다.</a:t>
            </a:r>
            <a:endParaRPr lang="ko-KR" sz="1300" dirty="0"/>
          </a:p>
        </p:txBody>
      </p:sp>
      <p:sp>
        <p:nvSpPr>
          <p:cNvPr id="9" name="Text 6"/>
          <p:cNvSpPr/>
          <p:nvPr/>
        </p:nvSpPr>
        <p:spPr>
          <a:xfrm>
            <a:off x="8589847" y="2818011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00" b="1" dirty="0">
                <a:solidFill>
                  <a:srgbClr val="1B1B2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오늘 마무리 질문</a:t>
            </a:r>
            <a:endParaRPr lang="ko-KR" sz="1600" dirty="0"/>
          </a:p>
        </p:txBody>
      </p:sp>
      <p:sp>
        <p:nvSpPr>
          <p:cNvPr id="10" name="Text 7"/>
          <p:cNvSpPr/>
          <p:nvPr/>
        </p:nvSpPr>
        <p:spPr>
          <a:xfrm>
            <a:off x="8589847" y="3241774"/>
            <a:ext cx="2946723" cy="1174155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input() 결과는 왜 형변환이 필요한가?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와 == 의 차이는 무엇인가?</a:t>
            </a:r>
            <a:endParaRPr lang="ko-KR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ko-KR" altLang="en-US" sz="1300" dirty="0">
                <a:solidFill>
                  <a:srgbClr val="3C393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주문 계산기의 입력 → 처리 → 출력은 각각 무엇인가?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1642</Words>
  <Application>Microsoft Office PowerPoint</Application>
  <PresentationFormat>와이드스크린</PresentationFormat>
  <Paragraphs>383</Paragraphs>
  <Slides>28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Inter</vt:lpstr>
      <vt:lpstr>Calibri</vt:lpstr>
      <vt:lpstr>Consolas</vt:lpstr>
      <vt:lpstr>맑은 고딕</vt:lpstr>
      <vt:lpstr>Inter Bold</vt:lpstr>
      <vt:lpstr>Inter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realchoky-home</dc:creator>
  <cp:lastModifiedBy>realchoky-home</cp:lastModifiedBy>
  <cp:revision>3</cp:revision>
  <dcterms:created xsi:type="dcterms:W3CDTF">2026-08-21T07:30:18Z</dcterms:created>
  <dcterms:modified xsi:type="dcterms:W3CDTF">2026-08-21T07:37:43Z</dcterms:modified>
</cp:coreProperties>
</file>