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embeddedFontLst>
    <p:embeddedFont>
      <p:font typeface="Inter Light" panose="02000503000000020004" pitchFamily="2" charset="0"/>
      <p:regular r:id="rId31"/>
      <p:italic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맑은 고딕" panose="020B0503020000020004" pitchFamily="50" charset="-127"/>
      <p:regular r:id="rId41"/>
      <p:bold r:id="rId42"/>
    </p:embeddedFont>
    <p:embeddedFont>
      <p:font typeface="Inter" panose="02000503000000020004" pitchFamily="2" charset="0"/>
      <p:regular r:id="rId43"/>
      <p:bold r:id="rId44"/>
      <p:italic r:id="rId45"/>
      <p:boldItalic r:id="rId46"/>
    </p:embeddedFont>
    <p:embeddedFont>
      <p:font typeface="Inter Bold" panose="02000503000000020004" pitchFamily="2" charset="0"/>
      <p:regular r:id="rId47"/>
      <p:bold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022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2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2.svg"/><Relationship Id="rId5" Type="http://schemas.openxmlformats.org/officeDocument/2006/relationships/image" Target="../media/image-5-2.svg"/><Relationship Id="rId10" Type="http://schemas.openxmlformats.org/officeDocument/2006/relationships/image" Target="../media/image-5-2.sv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2.svg"/><Relationship Id="rId5" Type="http://schemas.openxmlformats.org/officeDocument/2006/relationships/image" Target="../media/image-7-2.svg"/><Relationship Id="rId4" Type="http://schemas.openxmlformats.org/officeDocument/2006/relationships/image" Target="../media/image-7-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2.svg"/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2.svg"/><Relationship Id="rId5" Type="http://schemas.openxmlformats.org/officeDocument/2006/relationships/image" Target="../media/image-8-2.svg"/><Relationship Id="rId4" Type="http://schemas.openxmlformats.org/officeDocument/2006/relationships/image" Target="../media/image-8-2.sv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-7-2.svg"/><Relationship Id="rId4" Type="http://schemas.openxmlformats.org/officeDocument/2006/relationships/image" Target="../media/image-7-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2.svg"/><Relationship Id="rId5" Type="http://schemas.openxmlformats.org/officeDocument/2006/relationships/image" Target="../media/image-7-2.svg"/><Relationship Id="rId4" Type="http://schemas.openxmlformats.org/officeDocument/2006/relationships/image" Target="../media/image-7-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2.svg"/><Relationship Id="rId5" Type="http://schemas.openxmlformats.org/officeDocument/2006/relationships/image" Target="../media/image-7-2.svg"/><Relationship Id="rId4" Type="http://schemas.openxmlformats.org/officeDocument/2006/relationships/image" Target="../media/image-7-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4-2.svg"/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4-2.svg"/><Relationship Id="rId5" Type="http://schemas.openxmlformats.org/officeDocument/2006/relationships/image" Target="../media/image-24-2.svg"/><Relationship Id="rId10" Type="http://schemas.openxmlformats.org/officeDocument/2006/relationships/image" Target="../media/image-24-2.svg"/><Relationship Id="rId4" Type="http://schemas.openxmlformats.org/officeDocument/2006/relationships/image" Target="../media/image-24-2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6651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AI휴먼 — Day 8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549327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클래스와 객체 이해 및 </a:t>
            </a:r>
            <a:endParaRPr lang="en-US" altLang="ko-KR" sz="2600" b="1" dirty="0" smtClean="0">
              <a:solidFill>
                <a:srgbClr val="1B1B27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기초 </a:t>
            </a: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문법 통합 미니 프로그램</a:t>
            </a:r>
            <a:endParaRPr lang="ko-KR" sz="2600" dirty="0"/>
          </a:p>
        </p:txBody>
      </p:sp>
      <p:sp>
        <p:nvSpPr>
          <p:cNvPr id="5" name="Shape 2"/>
          <p:cNvSpPr/>
          <p:nvPr/>
        </p:nvSpPr>
        <p:spPr>
          <a:xfrm>
            <a:off x="5114301" y="3624263"/>
            <a:ext cx="3184842" cy="1267123"/>
          </a:xfrm>
          <a:prstGeom prst="roundRect">
            <a:avLst>
              <a:gd name="adj" fmla="val 1879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279595" y="3789561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키워드</a:t>
            </a:r>
            <a:endParaRPr lang="ko-KR" sz="1600" dirty="0"/>
          </a:p>
        </p:txBody>
      </p:sp>
      <p:sp>
        <p:nvSpPr>
          <p:cNvPr id="7" name="Text 4"/>
          <p:cNvSpPr/>
          <p:nvPr/>
        </p:nvSpPr>
        <p:spPr>
          <a:xfrm>
            <a:off x="5279595" y="4213324"/>
            <a:ext cx="285425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Class, Object, Instance, </a:t>
            </a:r>
            <a:endParaRPr lang="en-US" sz="13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Method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89847" y="3789561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최종 결과물</a:t>
            </a:r>
            <a:endParaRPr lang="ko-KR" sz="1600" dirty="0"/>
          </a:p>
        </p:txBody>
      </p:sp>
      <p:sp>
        <p:nvSpPr>
          <p:cNvPr id="9" name="Text 6"/>
          <p:cNvSpPr/>
          <p:nvPr/>
        </p:nvSpPr>
        <p:spPr>
          <a:xfrm>
            <a:off x="8589847" y="4213324"/>
            <a:ext cx="29467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클래스를 활용한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성적 관리 미니 프로그램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23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 목표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0976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9407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966615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클래스(Class)와 객체(Object)의 관계를 설명할 수 있습니다.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612529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64353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669381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__init__() 메서드와 self의 역할을 이해할 수 있습니다.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33152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334630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37214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속성(Attribute)과 메서드(Method)를 가진 클래스를 작성할 수 있습니다.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61475" y="4018062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40490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407491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하나의 클래스로 여러 객체를 생성할 수 있습니다.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472082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7518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777680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객체를 리스트에 저장하고 반복문으로 처리할 수 있습니다.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54235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3485" y="545460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8830" y="5480447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조건문, 반복문, 함수, 파일 처리와 클래스를 하나의 프로그램에 통합할 수 있습니다.</a:t>
            </a:r>
            <a:endParaRPr lang="ko-K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72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7일차 복습: 파일·예외·모듈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6004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지난 시간 핵심 개념</a:t>
            </a:r>
            <a:endParaRPr lang="ko-KR" sz="2600" dirty="0"/>
          </a:p>
        </p:txBody>
      </p:sp>
      <p:sp>
        <p:nvSpPr>
          <p:cNvPr id="4" name="Shape 2"/>
          <p:cNvSpPr/>
          <p:nvPr/>
        </p:nvSpPr>
        <p:spPr>
          <a:xfrm>
            <a:off x="661475" y="2421533"/>
            <a:ext cx="2593216" cy="1255613"/>
          </a:xfrm>
          <a:prstGeom prst="roundRect">
            <a:avLst>
              <a:gd name="adj" fmla="val 118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5819" y="2605881"/>
            <a:ext cx="22245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I/O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2963565"/>
            <a:ext cx="222452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파일 읽기와 쓰기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3419985" y="2421533"/>
            <a:ext cx="2593216" cy="1255613"/>
          </a:xfrm>
          <a:prstGeom prst="roundRect">
            <a:avLst>
              <a:gd name="adj" fmla="val 118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04329" y="2605881"/>
            <a:ext cx="22245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04329" y="2963565"/>
            <a:ext cx="222452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실행 중 발생하는 오류 상황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6178495" y="2421533"/>
            <a:ext cx="2593216" cy="1255613"/>
          </a:xfrm>
          <a:prstGeom prst="roundRect">
            <a:avLst>
              <a:gd name="adj" fmla="val 118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2838" y="2605881"/>
            <a:ext cx="22245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try-except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2838" y="2963565"/>
            <a:ext cx="222452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오류가 발생해도 프로그램이 중단되지 않도록 처리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8937005" y="2421533"/>
            <a:ext cx="2593216" cy="1255613"/>
          </a:xfrm>
          <a:prstGeom prst="roundRect">
            <a:avLst>
              <a:gd name="adj" fmla="val 118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21348" y="2605881"/>
            <a:ext cx="222452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21348" y="2963565"/>
            <a:ext cx="222452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기능을 파일 단위로 나누어 재사용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3842445"/>
            <a:ext cx="10868745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19" y="4026793"/>
            <a:ext cx="105000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19" y="4384477"/>
            <a:ext cx="105000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다른 모듈의 기능을 가져오는 명령 연결</a:t>
            </a:r>
            <a:endParaRPr lang="ko-KR" sz="1300" dirty="0"/>
          </a:p>
        </p:txBody>
      </p:sp>
      <p:sp>
        <p:nvSpPr>
          <p:cNvPr id="19" name="Shape 17"/>
          <p:cNvSpPr/>
          <p:nvPr/>
        </p:nvSpPr>
        <p:spPr>
          <a:xfrm>
            <a:off x="661475" y="5019477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D9D9D9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259189"/>
            <a:ext cx="206667" cy="16529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98731" y="522605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연결 질문: 데이터와 기능을 하나의 단위로 묶어서 관리할 수는 없을까?</a:t>
            </a:r>
            <a:endParaRPr lang="ko-KR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902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왜 클래스가 필요한가?</a:t>
            </a:r>
            <a:endParaRPr lang="ko-KR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73287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1명 정보를 변수로 관리한다면?</a:t>
            </a:r>
            <a:endParaRPr lang="ko-KR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786334"/>
            <a:ext cx="10868745" cy="1319808"/>
          </a:xfrm>
          <a:prstGeom prst="roundRect">
            <a:avLst>
              <a:gd name="adj" fmla="val 10714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49986" y="1943398"/>
            <a:ext cx="10491723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name1 = "김민수"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score1 = 85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name2 = "이서연"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score2 = 92</a:t>
            </a:r>
            <a:endParaRPr lang="ko-KR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3274020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수가 늘어나면 변수도 계속 늘어납니다.</a:t>
            </a:r>
            <a:endParaRPr lang="ko-KR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3743027"/>
            <a:ext cx="10868745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문제점</a:t>
            </a:r>
            <a:endParaRPr lang="ko-KR" sz="2450" dirty="0"/>
          </a:p>
        </p:txBody>
      </p:sp>
      <p:sp>
        <p:nvSpPr>
          <p:cNvPr id="8" name="Shape 6"/>
          <p:cNvSpPr/>
          <p:nvPr/>
        </p:nvSpPr>
        <p:spPr>
          <a:xfrm>
            <a:off x="661475" y="4359573"/>
            <a:ext cx="3523368" cy="1139527"/>
          </a:xfrm>
          <a:prstGeom prst="roundRect">
            <a:avLst>
              <a:gd name="adj" fmla="val 12409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8534" y="4516636"/>
            <a:ext cx="32092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분산</a:t>
            </a:r>
            <a:endParaRPr lang="ko-KR" sz="1500" dirty="0"/>
          </a:p>
        </p:txBody>
      </p:sp>
      <p:sp>
        <p:nvSpPr>
          <p:cNvPr id="10" name="Text 8"/>
          <p:cNvSpPr/>
          <p:nvPr/>
        </p:nvSpPr>
        <p:spPr>
          <a:xfrm>
            <a:off x="818534" y="4851698"/>
            <a:ext cx="3209249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데이터가 흩어집니다.</a:t>
            </a:r>
            <a:endParaRPr lang="ko-KR" sz="1200" dirty="0"/>
          </a:p>
        </p:txBody>
      </p:sp>
      <p:sp>
        <p:nvSpPr>
          <p:cNvPr id="11" name="Shape 9"/>
          <p:cNvSpPr/>
          <p:nvPr/>
        </p:nvSpPr>
        <p:spPr>
          <a:xfrm>
            <a:off x="4334064" y="4359573"/>
            <a:ext cx="3523467" cy="1139527"/>
          </a:xfrm>
          <a:prstGeom prst="roundRect">
            <a:avLst>
              <a:gd name="adj" fmla="val 12409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91124" y="4516636"/>
            <a:ext cx="32093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관계 불명확</a:t>
            </a:r>
            <a:endParaRPr lang="ko-KR" sz="1500" dirty="0"/>
          </a:p>
        </p:txBody>
      </p:sp>
      <p:sp>
        <p:nvSpPr>
          <p:cNvPr id="13" name="Text 11"/>
          <p:cNvSpPr/>
          <p:nvPr/>
        </p:nvSpPr>
        <p:spPr>
          <a:xfrm>
            <a:off x="4491124" y="4851698"/>
            <a:ext cx="3209349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이름과 점수의 관계가 코드만 보아서는 명확하지 않을 수 있습니다.</a:t>
            </a:r>
            <a:endParaRPr lang="ko-KR" sz="1200" dirty="0"/>
          </a:p>
        </p:txBody>
      </p:sp>
      <p:sp>
        <p:nvSpPr>
          <p:cNvPr id="14" name="Shape 12"/>
          <p:cNvSpPr/>
          <p:nvPr/>
        </p:nvSpPr>
        <p:spPr>
          <a:xfrm>
            <a:off x="8006753" y="4359573"/>
            <a:ext cx="3523368" cy="1139527"/>
          </a:xfrm>
          <a:prstGeom prst="roundRect">
            <a:avLst>
              <a:gd name="adj" fmla="val 12409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63812" y="4516636"/>
            <a:ext cx="3209249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기능 분리</a:t>
            </a:r>
            <a:endParaRPr lang="ko-KR" sz="1500" dirty="0"/>
          </a:p>
        </p:txBody>
      </p:sp>
      <p:sp>
        <p:nvSpPr>
          <p:cNvPr id="16" name="Text 14"/>
          <p:cNvSpPr/>
          <p:nvPr/>
        </p:nvSpPr>
        <p:spPr>
          <a:xfrm>
            <a:off x="8163812" y="4851698"/>
            <a:ext cx="3209249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관련 기능도 따로 관리해야 합니다.</a:t>
            </a:r>
            <a:endParaRPr lang="ko-KR" sz="1200" dirty="0"/>
          </a:p>
        </p:txBody>
      </p:sp>
      <p:sp>
        <p:nvSpPr>
          <p:cNvPr id="17" name="Shape 15"/>
          <p:cNvSpPr/>
          <p:nvPr/>
        </p:nvSpPr>
        <p:spPr>
          <a:xfrm>
            <a:off x="661475" y="5666978"/>
            <a:ext cx="10868745" cy="607120"/>
          </a:xfrm>
          <a:prstGeom prst="roundRect">
            <a:avLst>
              <a:gd name="adj" fmla="val 23292"/>
            </a:avLst>
          </a:prstGeom>
          <a:solidFill>
            <a:srgbClr val="E1E1EA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4" y="5882977"/>
            <a:ext cx="196349" cy="15706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71943" y="5855395"/>
            <a:ext cx="1081080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클래스는 관련 데이터와 기능을 하나의 설계도로 묶는 방법입니다.</a:t>
            </a:r>
            <a:endParaRPr lang="ko-KR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386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용어 5가지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741289"/>
            <a:ext cx="3512653" cy="9909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1925637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 (클래스)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2283321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객체를 만들기 위한 설계도</a:t>
            </a:r>
            <a:endParaRPr lang="ko-KR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1741289"/>
            <a:ext cx="3512752" cy="9909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9964" y="1925637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 (객체)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4599964" y="2283321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 안에서 데이터와 기능을 가진 대상</a:t>
            </a:r>
            <a:endParaRPr lang="ko-KR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1741289"/>
            <a:ext cx="3512653" cy="9909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010" y="1925637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Instance (인스턴스)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278010" y="2283321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클래스로 실제 생성된 객체</a:t>
            </a:r>
            <a:endParaRPr lang="ko-KR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2897584"/>
            <a:ext cx="3512653" cy="9909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2017" y="3081933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Attribute (속성)</a:t>
            </a:r>
            <a:endParaRPr lang="ko-KR" sz="1600" dirty="0"/>
          </a:p>
        </p:txBody>
      </p:sp>
      <p:sp>
        <p:nvSpPr>
          <p:cNvPr id="14" name="Text 8"/>
          <p:cNvSpPr/>
          <p:nvPr/>
        </p:nvSpPr>
        <p:spPr>
          <a:xfrm>
            <a:off x="922017" y="3439616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객체가 가지는 데이터</a:t>
            </a:r>
            <a:endParaRPr lang="ko-KR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39422" y="2897584"/>
            <a:ext cx="3512752" cy="99099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99964" y="3081933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 (메서드)</a:t>
            </a:r>
            <a:endParaRPr lang="ko-KR" sz="1600" dirty="0"/>
          </a:p>
        </p:txBody>
      </p:sp>
      <p:sp>
        <p:nvSpPr>
          <p:cNvPr id="17" name="Text 10"/>
          <p:cNvSpPr/>
          <p:nvPr/>
        </p:nvSpPr>
        <p:spPr>
          <a:xfrm>
            <a:off x="4599964" y="3439616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객체가 수행하는 기능</a:t>
            </a:r>
            <a:endParaRPr lang="ko-KR" sz="1300" dirty="0"/>
          </a:p>
        </p:txBody>
      </p:sp>
      <p:sp>
        <p:nvSpPr>
          <p:cNvPr id="18" name="Text 11"/>
          <p:cNvSpPr/>
          <p:nvPr/>
        </p:nvSpPr>
        <p:spPr>
          <a:xfrm>
            <a:off x="661475" y="413662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2600" dirty="0"/>
          </a:p>
        </p:txBody>
      </p:sp>
      <p:sp>
        <p:nvSpPr>
          <p:cNvPr id="19" name="Text 12"/>
          <p:cNvSpPr/>
          <p:nvPr/>
        </p:nvSpPr>
        <p:spPr>
          <a:xfrm>
            <a:off x="661475" y="4798120"/>
            <a:ext cx="10868745" cy="116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클래스 → student1, student2 객체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속성 → name, score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메서드 → show(), grade()</a:t>
            </a:r>
            <a:endParaRPr lang="ko-KR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41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클래스와 객체를 현실 세계로 이해하기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718891"/>
            <a:ext cx="5470785" cy="2184896"/>
          </a:xfrm>
          <a:prstGeom prst="roundRect">
            <a:avLst>
              <a:gd name="adj" fmla="val 1090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88419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붕어빵 틀 = 클래스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307953"/>
            <a:ext cx="5140196" cy="109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붕어빵 = 객체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붕어빵 틀은 여러 개의 붕어빵을 만들 수 있습니다.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클래스도 여러 학생 객체를 만들 수 있습니다.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88419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[개념 그림] Student 클래스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303904" y="3328690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02337" y="3493988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클래스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student1: 이름=김민수, 점수=85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student2: 이름=이서연, 점수=92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student3: 이름=박지훈, 점수=76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899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객체지향 </a:t>
            </a:r>
            <a:r>
              <a:rPr lang="ko-KR" altLang="en-US" sz="3250" b="1" dirty="0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프로그래밍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2180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OOP </a:t>
            </a:r>
            <a:r>
              <a:rPr 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</a:t>
            </a:r>
            <a:r>
              <a:rPr lang="en-US" sz="2600" b="1" dirty="0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Object-Oriented Programming)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318085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</a:t>
            </a:r>
            <a:r>
              <a:rPr lang="ko-KR" altLang="en-US" sz="2600" b="1" dirty="0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컨셉</a:t>
            </a:r>
            <a:endParaRPr lang="ko-KR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3485" y="3850481"/>
            <a:ext cx="248041" cy="2480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830" y="3842345"/>
            <a:ext cx="294771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프로그램을 여러 객체의 조합으로 바라봅니다.</a:t>
            </a:r>
            <a:endParaRPr lang="ko-KR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415223" y="3850481"/>
            <a:ext cx="248041" cy="248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90568" y="3842345"/>
            <a:ext cx="294781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객체는 자신의 데이터와 기능을 함께 가질 수 있습니다.</a:t>
            </a:r>
            <a:endParaRPr lang="ko-KR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107060" y="3850481"/>
            <a:ext cx="248041" cy="248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82406" y="3842345"/>
            <a:ext cx="294781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관련 코드를 하나의 단위로 묶어 관리하기 쉽습니다.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924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가장 기본적인 클래스 문법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756668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921966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86454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설명</a:t>
            </a:r>
            <a:endParaRPr lang="ko-KR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42425" y="3506986"/>
            <a:ext cx="5350039" cy="66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4868" y="3526036"/>
            <a:ext cx="51275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4868" y="3883720"/>
            <a:ext cx="51275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클래스를 정의하는 키워드</a:t>
            </a:r>
            <a:endParaRPr lang="ko-KR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180082" y="3506986"/>
            <a:ext cx="5350138" cy="660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2525" y="3526036"/>
            <a:ext cx="51276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02525" y="3883720"/>
            <a:ext cx="51276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클래스 이름</a:t>
            </a:r>
            <a:endParaRPr lang="ko-KR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42425" y="4459982"/>
            <a:ext cx="5350039" cy="660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4868" y="4479032"/>
            <a:ext cx="51275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콜론(:)</a:t>
            </a:r>
            <a:endParaRPr lang="ko-KR" sz="1600" dirty="0"/>
          </a:p>
        </p:txBody>
      </p:sp>
      <p:sp>
        <p:nvSpPr>
          <p:cNvPr id="14" name="Text 9"/>
          <p:cNvSpPr/>
          <p:nvPr/>
        </p:nvSpPr>
        <p:spPr>
          <a:xfrm>
            <a:off x="864868" y="4836716"/>
            <a:ext cx="51275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줄부터 클래스 내부 코드</a:t>
            </a:r>
            <a:endParaRPr lang="ko-KR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180082" y="4459982"/>
            <a:ext cx="5350138" cy="660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2525" y="4479032"/>
            <a:ext cx="51276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02525" y="4836716"/>
            <a:ext cx="51276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아직 구현할 코드가 없을 때 사용하는 빈 문장</a:t>
            </a:r>
            <a:endParaRPr lang="ko-KR" sz="1300" dirty="0"/>
          </a:p>
        </p:txBody>
      </p:sp>
      <p:sp>
        <p:nvSpPr>
          <p:cNvPr id="18" name="Shape 12"/>
          <p:cNvSpPr/>
          <p:nvPr/>
        </p:nvSpPr>
        <p:spPr>
          <a:xfrm>
            <a:off x="661475" y="5287367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69" y="5527080"/>
            <a:ext cx="206667" cy="16529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98731" y="549394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클래스 이름은 </a:t>
            </a:r>
            <a:r>
              <a:rPr lang="ko-KR" altLang="en-US" sz="13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관례적으로</a:t>
            </a:r>
            <a:r>
              <a:rPr lang="ko-KR" altLang="en-US" sz="13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첫 글자를 대문자로 작성합니다.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844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__init__() 메서드란?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2587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__init__()는 객체를 만들 때 자동으로 실행되는 </a:t>
            </a:r>
            <a:r>
              <a:rPr lang="ko-KR" altLang="en-US" sz="1300" dirty="0" err="1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생성자</a:t>
            </a:r>
            <a:r>
              <a:rPr lang="en-US" altLang="ko-KR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(Constructor)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입니다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76525"/>
            <a:ext cx="10868745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841823"/>
            <a:ext cx="1047188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score):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self.score = score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31363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역할</a:t>
            </a:r>
            <a:endParaRPr lang="ko-KR" sz="2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3485" y="4983262"/>
            <a:ext cx="248041" cy="2480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8830" y="4975126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객체가 처음 가질 값을 설정합니다.</a:t>
            </a:r>
            <a:endParaRPr lang="ko-KR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261142" y="4983262"/>
            <a:ext cx="248041" cy="2480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36487" y="4975126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이름과 점수를 객체 내부 속성으로 저장합니다.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878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self는 무엇인가?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8621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err="1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self는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메모리에 </a:t>
            </a: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생성된 객체 자신을 가리킵니다.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36862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202160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self.name = name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self.score = score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2415" y="3082727"/>
            <a:ext cx="5470785" cy="1002506"/>
          </a:xfrm>
          <a:prstGeom prst="roundRect">
            <a:avLst>
              <a:gd name="adj" fmla="val 2375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7710" y="324802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오른쪽 name, score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3671788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__init__()가 전달받은 값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324802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왼쪽 self.name, self.score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3671788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 내부에 저장되는 속성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661475" y="433328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2600" dirty="0"/>
          </a:p>
        </p:txBody>
      </p:sp>
      <p:sp>
        <p:nvSpPr>
          <p:cNvPr id="12" name="Shape 10"/>
          <p:cNvSpPr/>
          <p:nvPr/>
        </p:nvSpPr>
        <p:spPr>
          <a:xfrm>
            <a:off x="661475" y="4994771"/>
            <a:ext cx="10868745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59907" y="5160070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student1 = Student("김민수", 85)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student1.name → "김민수"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student1.score → 85</a:t>
            </a:r>
            <a:endParaRPr lang="ko-K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705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객체 생성하기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6448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클래스를 정의한 후 다음과 같이 객체를 생성합니다.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15133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180431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student1 = Student("김민수", 85)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student2 = Student("이서연", 92)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06099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 Student 클래스로 만들어졌지만 각 객체는 서로 다른 데이터를 가질 수 있습니다.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3511649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3676948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print(student1.name)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print(student2.score)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61952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</a:t>
            </a:r>
            <a:endParaRPr lang="ko-KR" sz="2600" dirty="0"/>
          </a:p>
        </p:txBody>
      </p:sp>
      <p:sp>
        <p:nvSpPr>
          <p:cNvPr id="10" name="Shape 8"/>
          <p:cNvSpPr/>
          <p:nvPr/>
        </p:nvSpPr>
        <p:spPr>
          <a:xfrm>
            <a:off x="661475" y="5281017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59907" y="5446316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김민수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ko-KR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248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속성(Attribute) 이해하기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7991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속성은 객체가 저장하는 데이터입니다.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430562"/>
            <a:ext cx="10868745" cy="2447528"/>
          </a:xfrm>
          <a:prstGeom prst="roundRect">
            <a:avLst>
              <a:gd name="adj" fmla="val 608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595860"/>
            <a:ext cx="1047188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score):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self.score = score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Student("김민수", 85)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print(student.name)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print(student.score)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5064125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303838"/>
            <a:ext cx="206667" cy="1652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8731" y="5270698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속성은 점(.) 연산자를 사용해 접근합니다. 형식: 객체이름.속성이름</a:t>
            </a:r>
            <a:endParaRPr lang="ko-K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78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메서드(Method) 만들기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1529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메서드는 클래스 내부에 정의된 함수입니다.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165945"/>
            <a:ext cx="10868745" cy="2976761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331244"/>
            <a:ext cx="10471880" cy="264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score):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self.score = score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show(self):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print(self.name, self.score)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Student("김민수", 85)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student.show()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5328741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568454"/>
            <a:ext cx="206667" cy="1652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8731" y="5535315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메서드 호출 형식: 객체이름.메서드이름()</a:t>
            </a:r>
            <a:endParaRPr lang="ko-KR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703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일반 함수와 메서드의 차이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9711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일반 함수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741613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906911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get_grade(score):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"PASS" if score &gt;= 80 else "RETRY"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29711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메서드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303904" y="2741613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02337" y="2906911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grade(self):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"PASS" if self.score &gt;= 80 else "RETRY"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30014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차이점</a:t>
            </a:r>
            <a:endParaRPr lang="ko-KR" sz="2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3485" y="4969768"/>
            <a:ext cx="248041" cy="2480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98830" y="4961632"/>
            <a:ext cx="294771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함수는 독립적으로 호출합니다.</a:t>
            </a:r>
            <a:endParaRPr lang="ko-KR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415223" y="4969768"/>
            <a:ext cx="248041" cy="2480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0568" y="4961632"/>
            <a:ext cx="294781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메서드는 특정 객체를 통해 호출합니다.</a:t>
            </a:r>
            <a:endParaRPr lang="ko-KR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107060" y="4969768"/>
            <a:ext cx="248041" cy="2480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82406" y="4961632"/>
            <a:ext cx="294781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메서드는 self를 통해 객체의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속성을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사용할 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319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조건문을 메서드에 넣기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40620"/>
            <a:ext cx="10868745" cy="2976761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105918"/>
            <a:ext cx="10471880" cy="264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name, score):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self.score = score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grade(self):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self.score &gt;= 80: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"PASS"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"RETRY"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5103416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343128"/>
            <a:ext cx="206667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731" y="5309989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 데이터와 판단 기능을 하나의 클래스 안에서 관리할 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362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show()와 grade() 함께 사용하기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571055"/>
            <a:ext cx="10868745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736354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show(self):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print(f"이름: {self.name}, 점수: {self.score}, 결과: {self.grade()}")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94354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</a:t>
            </a:r>
            <a:endParaRPr lang="ko-KR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3485" y="4613176"/>
            <a:ext cx="248041" cy="2480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830" y="4605040"/>
            <a:ext cx="294771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메서드 안에서 다른 메서드를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호출할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 있습니다.</a:t>
            </a:r>
            <a:endParaRPr lang="ko-KR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415223" y="4613176"/>
            <a:ext cx="248041" cy="248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90568" y="4605040"/>
            <a:ext cx="294781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self.grade()는 현재 학생 객체의 점수로 합격 여부를 계산합니다.</a:t>
            </a:r>
            <a:endParaRPr lang="ko-KR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107060" y="4613176"/>
            <a:ext cx="248041" cy="248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82406" y="4605040"/>
            <a:ext cx="294781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관련 기능을 한 클래스 내부에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모을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780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객체를 리스트에 저장하기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205236"/>
            <a:ext cx="10868745" cy="2447528"/>
          </a:xfrm>
          <a:prstGeom prst="roundRect">
            <a:avLst>
              <a:gd name="adj" fmla="val 6082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370534"/>
            <a:ext cx="10471880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Student("김민수", 85),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Student("이서연", 92),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Student("박지훈", 76)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student in students: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student.show()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4838799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078512"/>
            <a:ext cx="206667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731" y="5045373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연결: List + for + Object + Method — 지금까지 배운 문법이 하나의 흐름으로 연결됩니다.</a:t>
            </a:r>
            <a:endParaRPr lang="ko-KR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883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합격자만 출력하기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86260"/>
            <a:ext cx="10868745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151559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student in students: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student.score &gt;= 80: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student.show()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29674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또는 메서드를 활용하면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747393"/>
            <a:ext cx="10868745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859907" y="3912691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student in students: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student.grade() == "PASS":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student.show()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5057874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297587"/>
            <a:ext cx="206667" cy="1652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98731" y="5264448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번째 방식은 합격 기준 판단을 Student 클래스 내부에 모을 수 있다는 장점이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01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평균 점수 계산하기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337594"/>
            <a:ext cx="10868745" cy="2182912"/>
          </a:xfrm>
          <a:prstGeom prst="roundRect">
            <a:avLst>
              <a:gd name="adj" fmla="val 6819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502892"/>
            <a:ext cx="10471880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student in students: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student.score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= total / len(students)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print(f"평균: {average:.1f}")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4706541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946253"/>
            <a:ext cx="206667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731" y="491311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클래스를 사용해도 기존의 리스트, 반복문, 산술 연산 문법은 그대로 사용합니다.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143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프로그램 구조: 입력 → 처리 → 출력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468860"/>
            <a:ext cx="3512653" cy="192028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6769" y="2634159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 (Input)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826769" y="2991842"/>
            <a:ext cx="3182064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이름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점수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2468860"/>
            <a:ext cx="3512752" cy="192028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04716" y="2634159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처리 (Process)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4504716" y="2991842"/>
            <a:ext cx="3182163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객체 생성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리스트 저장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grade()로 합격 여부 판단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평균 계산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2468860"/>
            <a:ext cx="3512653" cy="1920280"/>
          </a:xfrm>
          <a:prstGeom prst="roundRect">
            <a:avLst>
              <a:gd name="adj" fmla="val 7752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2762" y="2634159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 (Output)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8182762" y="2991842"/>
            <a:ext cx="3182064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학생 목록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합격자 목록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평균 점수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 파일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575175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814888"/>
            <a:ext cx="206667" cy="16529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98731" y="4781748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클래스는 처리 단계의 구조를 더 명확하게 만드는 도구로 사용할 수 있습니다.</a:t>
            </a:r>
            <a:endParaRPr lang="ko-KR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502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미니 프로그램 의사코드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069802"/>
            <a:ext cx="5470785" cy="3483173"/>
          </a:xfrm>
          <a:prstGeom prst="roundRect">
            <a:avLst>
              <a:gd name="adj" fmla="val 683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23510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[의사코드] — 클래스 정의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658864"/>
            <a:ext cx="5140196" cy="274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클래스를 정의한다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이름과 점수를 속성으로 저장한다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 메서드를 정의한다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점수가 80 이상이면 PASS 반환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아니면 RETRY 반환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메서드를 정의한다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이름, 점수, 결과를 출력한다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23510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[의사코드] — 실행 흐름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658864"/>
            <a:ext cx="5232666" cy="2745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객체 여러 개를 생성한다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객체들을 리스트에 저장한다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리스트를 반복하면서 전체 학생 정보를 출력한다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리스트를 반복하면서 PASS 학생만 출력한다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점수의 평균을 계산한다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결과를 화면에 출력한다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필요하면 텍스트 파일로 저장한다</a:t>
            </a:r>
            <a:endParaRPr lang="ko-KR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682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함수와 클래스를 함께 사용하기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784251"/>
            <a:ext cx="10868745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949549"/>
            <a:ext cx="1047188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show_pass_students(students):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student in students: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student.grade() == "PASS":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student.show()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42136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역할 분리</a:t>
            </a:r>
            <a:endParaRPr lang="ko-KR" sz="2600" dirty="0"/>
          </a:p>
        </p:txBody>
      </p:sp>
      <p:sp>
        <p:nvSpPr>
          <p:cNvPr id="6" name="Shape 4"/>
          <p:cNvSpPr/>
          <p:nvPr/>
        </p:nvSpPr>
        <p:spPr>
          <a:xfrm>
            <a:off x="661475" y="4082852"/>
            <a:ext cx="5351725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5819" y="4267200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클래스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845819" y="4624884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학생 1명의 데이터와 기능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4082852"/>
            <a:ext cx="5351725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62838" y="4267200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show_pass_students() 함수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62838" y="4624884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학생 객체를 처리하는 기능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5259884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499596"/>
            <a:ext cx="206667" cy="16529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98731" y="5466457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이렇게 나누면 코드의 역할이 더 명확해집니다.</a:t>
            </a:r>
            <a:endParaRPr lang="ko-KR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63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예외 처리와 클래스 연결하기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8381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사용자가 점수를 입력할 때 숫자가 아닌 값을 입력할 수 있습니다.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734469"/>
            <a:ext cx="10868745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899767"/>
            <a:ext cx="1047188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int(input("점수: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print("점수는 숫자로 입력해야 합니다.")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30956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 다음에 정상적인 값으로 Student 객체를 생성할 수 있습니다.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760218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999930"/>
            <a:ext cx="206667" cy="1652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8731" y="496679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지난 시간의 try-except가 클래스 기반 프로그램에서도 그대로 사용됩니다.</a:t>
            </a:r>
            <a:endParaRPr lang="ko-KR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77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자주 발생하는 오류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415183"/>
            <a:ext cx="3512653" cy="1354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59953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1. self 누락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2957215"/>
            <a:ext cx="3067767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잘못된 예: </a:t>
            </a:r>
            <a:r>
              <a:rPr lang="ko-KR" alt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show():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수정: </a:t>
            </a:r>
            <a:r>
              <a:rPr lang="ko-KR" alt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show(self):</a:t>
            </a:r>
            <a:endParaRPr lang="ko-KR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2415183"/>
            <a:ext cx="3512752" cy="13548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9964" y="2599531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2. 속성 이름 오타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4599964" y="2957215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self.score로 저장했는데 self.scores로 접근하면 오류 발생</a:t>
            </a:r>
            <a:endParaRPr lang="ko-KR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2415183"/>
            <a:ext cx="3512653" cy="13548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010" y="259953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3. 들여쓰기 오류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278010" y="2957215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메서드는 class 내부에 </a:t>
            </a:r>
            <a:endParaRPr lang="en-US" altLang="ko-KR" sz="1300" dirty="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 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기준으로 들여쓰기</a:t>
            </a:r>
            <a:endParaRPr lang="ko-KR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3935313"/>
            <a:ext cx="3512653" cy="13548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2017" y="4119662"/>
            <a:ext cx="306776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4. 객체 생성 시 인수 개수 불일치</a:t>
            </a:r>
            <a:endParaRPr lang="ko-KR" sz="1600" dirty="0"/>
          </a:p>
        </p:txBody>
      </p:sp>
      <p:sp>
        <p:nvSpPr>
          <p:cNvPr id="14" name="Text 8"/>
          <p:cNvSpPr/>
          <p:nvPr/>
        </p:nvSpPr>
        <p:spPr>
          <a:xfrm>
            <a:off x="922017" y="4735810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Student("김민수") → score 인수가 부족함</a:t>
            </a:r>
            <a:endParaRPr lang="ko-KR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39422" y="3935313"/>
            <a:ext cx="3512752" cy="13548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99964" y="4119662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5. 메서드를 괄호 없이 사용</a:t>
            </a:r>
            <a:endParaRPr lang="ko-KR" sz="1600" dirty="0"/>
          </a:p>
        </p:txBody>
      </p:sp>
      <p:sp>
        <p:nvSpPr>
          <p:cNvPr id="17" name="Text 10"/>
          <p:cNvSpPr/>
          <p:nvPr/>
        </p:nvSpPr>
        <p:spPr>
          <a:xfrm>
            <a:off x="4599964" y="4477345"/>
            <a:ext cx="3067866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student.show → 메서드 객체 자체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student.show() → 메서드 실행</a:t>
            </a:r>
            <a:endParaRPr lang="ko-KR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29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디버깅 순서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3037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792313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913063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 메시지의 마지막 줄을 확인합니다.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4339422" y="253037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792313"/>
            <a:ext cx="351275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4339422" y="2913063"/>
            <a:ext cx="351275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오류가 발생한 줄 번호를 찾습니다.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8017468" y="253037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792313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8017468" y="2913063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변수명과 속성명의 오타를 확인합니다.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346700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728938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849688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self가 필요한 위치에 들어갔는지 확인합니다.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4339422" y="346700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39422" y="3728938"/>
            <a:ext cx="351275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4339422" y="3849688"/>
            <a:ext cx="351275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 생성 시 전달한 값의 개수를 확인합니다.</a:t>
            </a:r>
            <a:endParaRPr lang="ko-KR" sz="1300" dirty="0"/>
          </a:p>
        </p:txBody>
      </p:sp>
      <p:sp>
        <p:nvSpPr>
          <p:cNvPr id="18" name="Text 16"/>
          <p:cNvSpPr/>
          <p:nvPr/>
        </p:nvSpPr>
        <p:spPr>
          <a:xfrm>
            <a:off x="8017468" y="346700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17468" y="3728938"/>
            <a:ext cx="351265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8017468" y="3849688"/>
            <a:ext cx="351265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메서드 호출에 괄호가 있는지 확인합니다.</a:t>
            </a:r>
            <a:endParaRPr lang="ko-KR" sz="1300" dirty="0"/>
          </a:p>
        </p:txBody>
      </p:sp>
      <p:sp>
        <p:nvSpPr>
          <p:cNvPr id="21" name="Text 19"/>
          <p:cNvSpPr/>
          <p:nvPr/>
        </p:nvSpPr>
        <p:spPr>
          <a:xfrm>
            <a:off x="661475" y="440362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1475" y="4665563"/>
            <a:ext cx="1086864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4786313"/>
            <a:ext cx="108686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번에 전체를 고치기보다 오류 1개씩 수정합니다.</a:t>
            </a:r>
            <a:endParaRPr lang="ko-KR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88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대표 실습 흐름</a:t>
            </a:r>
            <a:endParaRPr lang="ko-KR" sz="3250" dirty="0"/>
          </a:p>
        </p:txBody>
      </p:sp>
      <p:sp>
        <p:nvSpPr>
          <p:cNvPr id="4" name="Text 2"/>
          <p:cNvSpPr/>
          <p:nvPr/>
        </p:nvSpPr>
        <p:spPr>
          <a:xfrm>
            <a:off x="661475" y="137655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163849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75923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클래스 정의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178495" y="137655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163849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178495" y="175923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__init__()으로 name, score 속성 저장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231317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2575115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2695864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grade() 메서드 작성</a:t>
            </a:r>
            <a:endParaRPr lang="ko-KR" sz="1300" dirty="0"/>
          </a:p>
        </p:txBody>
      </p:sp>
      <p:sp>
        <p:nvSpPr>
          <p:cNvPr id="13" name="Text 11"/>
          <p:cNvSpPr/>
          <p:nvPr/>
        </p:nvSpPr>
        <p:spPr>
          <a:xfrm>
            <a:off x="6178495" y="231317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8495" y="2575115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178495" y="2695864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show() 메서드 작성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324980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351174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63248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객체 여러 개 생성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6178495" y="324980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8495" y="351174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178495" y="363248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리스트에 객체 저장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661475" y="418642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1475" y="4448365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4569114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반복문으로 전체 출력</a:t>
            </a:r>
            <a:endParaRPr lang="ko-KR" sz="1300" dirty="0"/>
          </a:p>
        </p:txBody>
      </p:sp>
      <p:sp>
        <p:nvSpPr>
          <p:cNvPr id="25" name="Text 23"/>
          <p:cNvSpPr/>
          <p:nvPr/>
        </p:nvSpPr>
        <p:spPr>
          <a:xfrm>
            <a:off x="6178495" y="418642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8495" y="4448365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6178495" y="4569114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조건문으로 합격자 출력</a:t>
            </a:r>
            <a:endParaRPr lang="ko-KR" sz="1300" dirty="0"/>
          </a:p>
        </p:txBody>
      </p:sp>
      <p:sp>
        <p:nvSpPr>
          <p:cNvPr id="28" name="Text 26"/>
          <p:cNvSpPr/>
          <p:nvPr/>
        </p:nvSpPr>
        <p:spPr>
          <a:xfrm>
            <a:off x="661475" y="512305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09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1475" y="538499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550573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평균 계산</a:t>
            </a:r>
            <a:endParaRPr lang="ko-KR" sz="1300" dirty="0"/>
          </a:p>
        </p:txBody>
      </p:sp>
      <p:sp>
        <p:nvSpPr>
          <p:cNvPr id="31" name="Text 29"/>
          <p:cNvSpPr/>
          <p:nvPr/>
        </p:nvSpPr>
        <p:spPr>
          <a:xfrm>
            <a:off x="6178495" y="512305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8495" y="5384990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3" name="Text 31"/>
          <p:cNvSpPr/>
          <p:nvPr/>
        </p:nvSpPr>
        <p:spPr>
          <a:xfrm>
            <a:off x="6178495" y="550573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결과를 텍스트 파일로 저장</a:t>
            </a:r>
            <a:endParaRPr lang="ko-KR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26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과제 구조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630091"/>
            <a:ext cx="3512653" cy="1597819"/>
          </a:xfrm>
          <a:prstGeom prst="roundRect">
            <a:avLst>
              <a:gd name="adj" fmla="val 9316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6769" y="2795389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6769" y="3153073"/>
            <a:ext cx="3182064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클래스 생성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 2개 생성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속성 출력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2630091"/>
            <a:ext cx="3512752" cy="1597819"/>
          </a:xfrm>
          <a:prstGeom prst="roundRect">
            <a:avLst>
              <a:gd name="adj" fmla="val 9316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04716" y="2795389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04716" y="3153073"/>
            <a:ext cx="3182163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show()와 grade() 메서드 추가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객체를 리스트로 관리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2630091"/>
            <a:ext cx="3512653" cy="1597819"/>
          </a:xfrm>
          <a:prstGeom prst="roundRect">
            <a:avLst>
              <a:gd name="adj" fmla="val 9316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2762" y="2795389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2762" y="3153073"/>
            <a:ext cx="3182064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합격자만 필터링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평균 계산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 파일 저장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413945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4653657"/>
            <a:ext cx="206667" cy="16529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98731" y="4620518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난이도는 기능을 하나씩 추가하는 방식으로 올라갑니다.</a:t>
            </a:r>
            <a:endParaRPr lang="ko-KR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545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핵심 정리와 다음 학습 연결</a:t>
            </a:r>
            <a:endParaRPr lang="ko-KR" sz="3050" dirty="0"/>
          </a:p>
        </p:txBody>
      </p:sp>
      <p:sp>
        <p:nvSpPr>
          <p:cNvPr id="4" name="Shape 2"/>
          <p:cNvSpPr/>
          <p:nvPr/>
        </p:nvSpPr>
        <p:spPr>
          <a:xfrm>
            <a:off x="661475" y="1350302"/>
            <a:ext cx="353508" cy="353516"/>
          </a:xfrm>
          <a:prstGeom prst="roundRect">
            <a:avLst>
              <a:gd name="adj" fmla="val 40002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0360" y="1379720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164204" y="1404277"/>
            <a:ext cx="1036601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클래스는 객체를 만들기 위한 설계도입니다.</a:t>
            </a:r>
            <a:endParaRPr lang="ko-KR" sz="1500" dirty="0"/>
          </a:p>
        </p:txBody>
      </p:sp>
      <p:sp>
        <p:nvSpPr>
          <p:cNvPr id="7" name="Shape 5"/>
          <p:cNvSpPr/>
          <p:nvPr/>
        </p:nvSpPr>
        <p:spPr>
          <a:xfrm>
            <a:off x="661475" y="2002268"/>
            <a:ext cx="353508" cy="353516"/>
          </a:xfrm>
          <a:prstGeom prst="roundRect">
            <a:avLst>
              <a:gd name="adj" fmla="val 40002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0360" y="2031687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164204" y="2056243"/>
            <a:ext cx="1036601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객체는 클래스로부터 실제 생성된 대상입니다.</a:t>
            </a:r>
            <a:endParaRPr lang="ko-KR" sz="1500" dirty="0"/>
          </a:p>
        </p:txBody>
      </p:sp>
      <p:sp>
        <p:nvSpPr>
          <p:cNvPr id="10" name="Shape 8"/>
          <p:cNvSpPr/>
          <p:nvPr/>
        </p:nvSpPr>
        <p:spPr>
          <a:xfrm>
            <a:off x="661475" y="2654235"/>
            <a:ext cx="353508" cy="353516"/>
          </a:xfrm>
          <a:prstGeom prst="roundRect">
            <a:avLst>
              <a:gd name="adj" fmla="val 40002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0360" y="2683653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164204" y="2708210"/>
            <a:ext cx="1036601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속성은 객체의 데이터입니다.</a:t>
            </a:r>
            <a:endParaRPr lang="ko-KR" sz="1500" dirty="0"/>
          </a:p>
        </p:txBody>
      </p:sp>
      <p:sp>
        <p:nvSpPr>
          <p:cNvPr id="13" name="Shape 11"/>
          <p:cNvSpPr/>
          <p:nvPr/>
        </p:nvSpPr>
        <p:spPr>
          <a:xfrm>
            <a:off x="661475" y="3306201"/>
            <a:ext cx="353508" cy="353516"/>
          </a:xfrm>
          <a:prstGeom prst="roundRect">
            <a:avLst>
              <a:gd name="adj" fmla="val 40002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0360" y="3335620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164204" y="3360176"/>
            <a:ext cx="1036601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메서드는 객체가 수행하는 기능입니다.</a:t>
            </a:r>
            <a:endParaRPr lang="ko-KR" sz="1500" dirty="0"/>
          </a:p>
        </p:txBody>
      </p:sp>
      <p:sp>
        <p:nvSpPr>
          <p:cNvPr id="16" name="Shape 14"/>
          <p:cNvSpPr/>
          <p:nvPr/>
        </p:nvSpPr>
        <p:spPr>
          <a:xfrm>
            <a:off x="661475" y="3958168"/>
            <a:ext cx="353508" cy="353516"/>
          </a:xfrm>
          <a:prstGeom prst="roundRect">
            <a:avLst>
              <a:gd name="adj" fmla="val 40002"/>
            </a:avLst>
          </a:prstGeom>
          <a:solidFill>
            <a:srgbClr val="FFFFFF"/>
          </a:solidFill>
          <a:ln/>
          <a:effectLst>
            <a:outerShdw blurRad="2349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0360" y="3987586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1164204" y="4012143"/>
            <a:ext cx="1036601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리스트와 반복문을 이용하면 여러 객체를 한 번에 처리할 수 있습니다.</a:t>
            </a:r>
            <a:endParaRPr lang="ko-KR" sz="1500" dirty="0"/>
          </a:p>
        </p:txBody>
      </p:sp>
      <p:sp>
        <p:nvSpPr>
          <p:cNvPr id="19" name="Text 17"/>
          <p:cNvSpPr/>
          <p:nvPr/>
        </p:nvSpPr>
        <p:spPr>
          <a:xfrm>
            <a:off x="661475" y="4751653"/>
            <a:ext cx="10868745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 학습: NumPy</a:t>
            </a:r>
            <a:endParaRPr lang="ko-KR" sz="2450" dirty="0"/>
          </a:p>
        </p:txBody>
      </p:sp>
      <p:sp>
        <p:nvSpPr>
          <p:cNvPr id="20" name="Text 18"/>
          <p:cNvSpPr/>
          <p:nvPr/>
        </p:nvSpPr>
        <p:spPr>
          <a:xfrm>
            <a:off x="661475" y="5368198"/>
            <a:ext cx="10868745" cy="658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300"/>
              </a:spcAft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오늘은 Student 객체 여러 개를 리스트로 관리했습니다.</a:t>
            </a:r>
            <a:endParaRPr lang="ko-KR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시간에는 숫자 데이터를 배열(Array)로 효율적으로 처리하는 NumPy를 학습합니다.</a:t>
            </a:r>
            <a:endParaRPr lang="ko-K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1618</Words>
  <Application>Microsoft Office PowerPoint</Application>
  <PresentationFormat>와이드스크린</PresentationFormat>
  <Paragraphs>368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Inter Light</vt:lpstr>
      <vt:lpstr>Calibri</vt:lpstr>
      <vt:lpstr>Consolas</vt:lpstr>
      <vt:lpstr>맑은 고딕</vt:lpstr>
      <vt:lpstr>Inter</vt:lpstr>
      <vt:lpstr>Inter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Administrator</dc:creator>
  <cp:lastModifiedBy>Windows 사용자</cp:lastModifiedBy>
  <cp:revision>3</cp:revision>
  <dcterms:created xsi:type="dcterms:W3CDTF">2026-08-28T07:35:15Z</dcterms:created>
  <dcterms:modified xsi:type="dcterms:W3CDTF">2026-08-28T07:41:31Z</dcterms:modified>
</cp:coreProperties>
</file>