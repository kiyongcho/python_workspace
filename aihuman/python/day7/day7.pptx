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embeddedFontLst>
    <p:embeddedFont>
      <p:font typeface="Inter Bold" panose="02000503000000020004" pitchFamily="2" charset="0"/>
      <p:regular r:id="rId29"/>
      <p:bold r:id="rId30"/>
    </p:embeddedFont>
    <p:embeddedFont>
      <p:font typeface="Inter" panose="02000503000000020004" pitchFamily="2" charset="0"/>
      <p:regular r:id="rId31"/>
      <p:bold r:id="rId32"/>
      <p:italic r:id="rId33"/>
      <p:boldItalic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Inter Light" panose="02000503000000020004" pitchFamily="2" charset="0"/>
      <p:regular r:id="rId43"/>
      <p:italic r:id="rId44"/>
    </p:embeddedFont>
    <p:embeddedFont>
      <p:font typeface="맑은 고딕" panose="020B0503020000020004" pitchFamily="50" charset="-127"/>
      <p:regular r:id="rId45"/>
      <p:bold r:id="rId4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9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96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6-2.svg"/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2.svg"/><Relationship Id="rId11" Type="http://schemas.openxmlformats.org/officeDocument/2006/relationships/image" Target="../media/image4.png"/><Relationship Id="rId5" Type="http://schemas.openxmlformats.org/officeDocument/2006/relationships/image" Target="../media/image-6-2.svg"/><Relationship Id="rId10" Type="http://schemas.openxmlformats.org/officeDocument/2006/relationships/image" Target="../media/image-6-2.svg"/><Relationship Id="rId4" Type="http://schemas.openxmlformats.org/officeDocument/2006/relationships/image" Target="../media/image-6-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6-2.svg"/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2.svg"/><Relationship Id="rId5" Type="http://schemas.openxmlformats.org/officeDocument/2006/relationships/image" Target="../media/image-6-2.svg"/><Relationship Id="rId10" Type="http://schemas.openxmlformats.org/officeDocument/2006/relationships/image" Target="../media/image-6-2.svg"/><Relationship Id="rId4" Type="http://schemas.openxmlformats.org/officeDocument/2006/relationships/image" Target="../media/image-6-2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21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12776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AI휴먼 과정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995587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7일차 | Python 프로그래밍</a:t>
            </a:r>
            <a:endParaRPr lang="ko-KR" sz="2600" dirty="0"/>
          </a:p>
        </p:txBody>
      </p:sp>
      <p:sp>
        <p:nvSpPr>
          <p:cNvPr id="5" name="Text 2"/>
          <p:cNvSpPr/>
          <p:nvPr/>
        </p:nvSpPr>
        <p:spPr>
          <a:xfrm>
            <a:off x="661475" y="2475111"/>
            <a:ext cx="629686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강의주제: 파일 입출력 · 예외 처리 · 모듈과 import</a:t>
            </a:r>
            <a:endParaRPr lang="ko-KR" sz="1950" dirty="0"/>
          </a:p>
        </p:txBody>
      </p:sp>
      <p:sp>
        <p:nvSpPr>
          <p:cNvPr id="6" name="Shape 3"/>
          <p:cNvSpPr/>
          <p:nvPr/>
        </p:nvSpPr>
        <p:spPr>
          <a:xfrm>
            <a:off x="661475" y="3033216"/>
            <a:ext cx="6296860" cy="1255613"/>
          </a:xfrm>
          <a:prstGeom prst="roundRect">
            <a:avLst>
              <a:gd name="adj" fmla="val 1185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5819" y="3217565"/>
            <a:ext cx="59281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핵심 질문</a:t>
            </a:r>
            <a:endParaRPr lang="ko-KR" sz="1600" dirty="0"/>
          </a:p>
        </p:txBody>
      </p:sp>
      <p:sp>
        <p:nvSpPr>
          <p:cNvPr id="8" name="Text 5"/>
          <p:cNvSpPr/>
          <p:nvPr/>
        </p:nvSpPr>
        <p:spPr>
          <a:xfrm>
            <a:off x="845819" y="3575248"/>
            <a:ext cx="592817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프로그램이 데이터를 파일에 저장하고, 오류 상황에서도 안전하게 계속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동작하게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하려면 어떻게 해야 할까요?</a:t>
            </a:r>
            <a:endParaRPr lang="ko-KR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4454128"/>
            <a:ext cx="6296860" cy="990997"/>
          </a:xfrm>
          <a:prstGeom prst="roundRect">
            <a:avLst>
              <a:gd name="adj" fmla="val 150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5819" y="4638477"/>
            <a:ext cx="59281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산출물</a:t>
            </a:r>
            <a:endParaRPr lang="ko-KR" sz="1600" dirty="0"/>
          </a:p>
        </p:txBody>
      </p:sp>
      <p:sp>
        <p:nvSpPr>
          <p:cNvPr id="11" name="Text 8"/>
          <p:cNvSpPr/>
          <p:nvPr/>
        </p:nvSpPr>
        <p:spPr>
          <a:xfrm>
            <a:off x="845819" y="4996160"/>
            <a:ext cx="592817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안전한 파일 처리 프로그램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6900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9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학습목표</a:t>
            </a:r>
            <a:endParaRPr lang="ko-KR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29928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수업이 끝나면 다음 작업을 직접 구현할 수 있습니다.</a:t>
            </a:r>
            <a:endParaRPr lang="ko-KR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706860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30272" y="1755180"/>
            <a:ext cx="1039994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텍스트 파일을 생성하고 내용을 저장할 수 있습니다.</a:t>
            </a:r>
            <a:endParaRPr lang="ko-KR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2309614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30272" y="2357934"/>
            <a:ext cx="1039994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전체 또는 여러 줄을 읽을 수 있습니다.</a:t>
            </a:r>
            <a:endParaRPr lang="ko-KR" sz="1150" dirty="0"/>
          </a:p>
        </p:txBody>
      </p:sp>
      <p:sp>
        <p:nvSpPr>
          <p:cNvPr id="8" name="Shape 6"/>
          <p:cNvSpPr/>
          <p:nvPr/>
        </p:nvSpPr>
        <p:spPr>
          <a:xfrm>
            <a:off x="661475" y="2912368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30272" y="2960688"/>
            <a:ext cx="1039994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open()을 사용해 파일을 안전하게 열고 닫을 수 있습니다.</a:t>
            </a:r>
            <a:endParaRPr lang="ko-KR" sz="1150" dirty="0"/>
          </a:p>
        </p:txBody>
      </p:sp>
      <p:sp>
        <p:nvSpPr>
          <p:cNvPr id="10" name="Shape 8"/>
          <p:cNvSpPr/>
          <p:nvPr/>
        </p:nvSpPr>
        <p:spPr>
          <a:xfrm>
            <a:off x="661475" y="3515122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30272" y="3563441"/>
            <a:ext cx="1039994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try-except로 파일 오류와 값 변환 오류를 처리할 수 있습니다.</a:t>
            </a:r>
            <a:endParaRPr lang="ko-KR" sz="1150" dirty="0"/>
          </a:p>
        </p:txBody>
      </p:sp>
      <p:sp>
        <p:nvSpPr>
          <p:cNvPr id="12" name="Shape 10"/>
          <p:cNvSpPr/>
          <p:nvPr/>
        </p:nvSpPr>
        <p:spPr>
          <a:xfrm>
            <a:off x="661475" y="4117876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30272" y="4166195"/>
            <a:ext cx="1039994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else, finally의 실행 시점을 설명할 수 있습니다.</a:t>
            </a:r>
            <a:endParaRPr lang="ko-KR" sz="1150" dirty="0"/>
          </a:p>
        </p:txBody>
      </p:sp>
      <p:sp>
        <p:nvSpPr>
          <p:cNvPr id="14" name="Shape 12"/>
          <p:cNvSpPr/>
          <p:nvPr/>
        </p:nvSpPr>
        <p:spPr>
          <a:xfrm>
            <a:off x="661475" y="4720630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30272" y="4768949"/>
            <a:ext cx="1039994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표준 라이브러리의 모듈을 import하여 기능을 재사용할 수 있습니다.</a:t>
            </a:r>
            <a:endParaRPr lang="ko-KR" sz="1150" dirty="0"/>
          </a:p>
        </p:txBody>
      </p:sp>
      <p:sp>
        <p:nvSpPr>
          <p:cNvPr id="16" name="Shape 14"/>
          <p:cNvSpPr/>
          <p:nvPr/>
        </p:nvSpPr>
        <p:spPr>
          <a:xfrm>
            <a:off x="661475" y="5323384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30272" y="5371703"/>
            <a:ext cx="1039994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모듈로 CSV 파일을 읽고 쓸 수 있습니다.</a:t>
            </a:r>
            <a:endParaRPr lang="ko-KR" sz="1150" dirty="0"/>
          </a:p>
        </p:txBody>
      </p:sp>
      <p:sp>
        <p:nvSpPr>
          <p:cNvPr id="18" name="Shape 16"/>
          <p:cNvSpPr/>
          <p:nvPr/>
        </p:nvSpPr>
        <p:spPr>
          <a:xfrm>
            <a:off x="661475" y="5926138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30272" y="5974457"/>
            <a:ext cx="1039994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처리 로직을 함수로 분리하여 유지보수하기 쉬운 프로그램을 만들 수 있습니다.</a:t>
            </a:r>
            <a:endParaRPr lang="ko-KR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105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6일차 복습: 함수와 오늘 내용의 연결</a:t>
            </a:r>
            <a:endParaRPr lang="ko-KR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108670"/>
            <a:ext cx="10868745" cy="39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6일차 핵심 흐름</a:t>
            </a:r>
            <a:endParaRPr lang="ko-KR" sz="2450" dirty="0"/>
          </a:p>
        </p:txBody>
      </p:sp>
      <p:sp>
        <p:nvSpPr>
          <p:cNvPr id="4" name="Shape 2"/>
          <p:cNvSpPr/>
          <p:nvPr/>
        </p:nvSpPr>
        <p:spPr>
          <a:xfrm>
            <a:off x="661475" y="1725216"/>
            <a:ext cx="5359762" cy="894358"/>
          </a:xfrm>
          <a:prstGeom prst="roundRect">
            <a:avLst>
              <a:gd name="adj" fmla="val 15811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18534" y="1882279"/>
            <a:ext cx="50456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함수(Function)</a:t>
            </a:r>
            <a:endParaRPr lang="ko-KR" sz="1500" dirty="0"/>
          </a:p>
        </p:txBody>
      </p:sp>
      <p:sp>
        <p:nvSpPr>
          <p:cNvPr id="6" name="Text 4"/>
          <p:cNvSpPr/>
          <p:nvPr/>
        </p:nvSpPr>
        <p:spPr>
          <a:xfrm>
            <a:off x="818534" y="2217341"/>
            <a:ext cx="504564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특정 작업을 이름 붙여 재사용하는 코드 단위</a:t>
            </a:r>
            <a:endParaRPr lang="ko-KR" sz="1200" dirty="0"/>
          </a:p>
        </p:txBody>
      </p:sp>
      <p:sp>
        <p:nvSpPr>
          <p:cNvPr id="7" name="Shape 5"/>
          <p:cNvSpPr/>
          <p:nvPr/>
        </p:nvSpPr>
        <p:spPr>
          <a:xfrm>
            <a:off x="6170458" y="1725216"/>
            <a:ext cx="5359762" cy="894358"/>
          </a:xfrm>
          <a:prstGeom prst="roundRect">
            <a:avLst>
              <a:gd name="adj" fmla="val 15811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27517" y="1882279"/>
            <a:ext cx="50456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매개변수(Parameter)</a:t>
            </a:r>
            <a:endParaRPr lang="ko-KR" sz="1500" dirty="0"/>
          </a:p>
        </p:txBody>
      </p:sp>
      <p:sp>
        <p:nvSpPr>
          <p:cNvPr id="9" name="Text 7"/>
          <p:cNvSpPr/>
          <p:nvPr/>
        </p:nvSpPr>
        <p:spPr>
          <a:xfrm>
            <a:off x="6327517" y="2217341"/>
            <a:ext cx="504564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함수가 받을 값을 정의하는 변수</a:t>
            </a:r>
            <a:endParaRPr lang="ko-KR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2768798"/>
            <a:ext cx="5359762" cy="894358"/>
          </a:xfrm>
          <a:prstGeom prst="roundRect">
            <a:avLst>
              <a:gd name="adj" fmla="val 15811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534" y="2925862"/>
            <a:ext cx="50456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인수(Argument)</a:t>
            </a:r>
            <a:endParaRPr lang="ko-KR" sz="1500" dirty="0"/>
          </a:p>
        </p:txBody>
      </p:sp>
      <p:sp>
        <p:nvSpPr>
          <p:cNvPr id="12" name="Text 10"/>
          <p:cNvSpPr/>
          <p:nvPr/>
        </p:nvSpPr>
        <p:spPr>
          <a:xfrm>
            <a:off x="818534" y="3260923"/>
            <a:ext cx="504564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함수를 호출할 때 실제로 전달하는 값</a:t>
            </a:r>
            <a:endParaRPr lang="ko-KR" sz="1200" dirty="0"/>
          </a:p>
        </p:txBody>
      </p:sp>
      <p:sp>
        <p:nvSpPr>
          <p:cNvPr id="13" name="Shape 11"/>
          <p:cNvSpPr/>
          <p:nvPr/>
        </p:nvSpPr>
        <p:spPr>
          <a:xfrm>
            <a:off x="6170458" y="2768798"/>
            <a:ext cx="5359762" cy="894358"/>
          </a:xfrm>
          <a:prstGeom prst="roundRect">
            <a:avLst>
              <a:gd name="adj" fmla="val 15811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27517" y="2925862"/>
            <a:ext cx="50456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반환값(Return Value)</a:t>
            </a:r>
            <a:endParaRPr lang="ko-KR" sz="1500" dirty="0"/>
          </a:p>
        </p:txBody>
      </p:sp>
      <p:sp>
        <p:nvSpPr>
          <p:cNvPr id="15" name="Text 13"/>
          <p:cNvSpPr/>
          <p:nvPr/>
        </p:nvSpPr>
        <p:spPr>
          <a:xfrm>
            <a:off x="6327517" y="3260923"/>
            <a:ext cx="504564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실행 결과를 호출한 곳으로 돌려주는 값</a:t>
            </a:r>
            <a:endParaRPr lang="ko-KR" sz="1200" dirty="0"/>
          </a:p>
        </p:txBody>
      </p:sp>
      <p:sp>
        <p:nvSpPr>
          <p:cNvPr id="16" name="Text 14"/>
          <p:cNvSpPr/>
          <p:nvPr/>
        </p:nvSpPr>
        <p:spPr>
          <a:xfrm>
            <a:off x="661475" y="3831034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오늘은 함수를 파일 처리와 결합합니다.</a:t>
            </a:r>
            <a:endParaRPr lang="ko-KR" sz="1200" dirty="0"/>
          </a:p>
        </p:txBody>
      </p:sp>
      <p:sp>
        <p:nvSpPr>
          <p:cNvPr id="17" name="Shape 15"/>
          <p:cNvSpPr/>
          <p:nvPr/>
        </p:nvSpPr>
        <p:spPr>
          <a:xfrm>
            <a:off x="661475" y="4244082"/>
            <a:ext cx="10868745" cy="1068388"/>
          </a:xfrm>
          <a:prstGeom prst="roundRect">
            <a:avLst>
              <a:gd name="adj" fmla="val 13236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849986" y="4401145"/>
            <a:ext cx="10491723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read_text(path):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open(path, "r", encoding="utf-8") as file: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file.read()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1475" y="5536307"/>
            <a:ext cx="10868745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관점</a:t>
            </a:r>
            <a:endParaRPr lang="ko-KR" sz="1850" dirty="0"/>
          </a:p>
        </p:txBody>
      </p:sp>
      <p:sp>
        <p:nvSpPr>
          <p:cNvPr id="20" name="Text 18"/>
          <p:cNvSpPr/>
          <p:nvPr/>
        </p:nvSpPr>
        <p:spPr>
          <a:xfrm>
            <a:off x="661475" y="6054626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파일을 여는 코드, 읽는 코드, 오류를 처리하는 코드를 각각 역할별로 나누면 프로그램을 이해하고 수정하기 쉬워집니다.</a:t>
            </a:r>
            <a:endParaRPr lang="ko-KR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3138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파일(File)이 필요한 이유</a:t>
            </a:r>
            <a:endParaRPr lang="ko-KR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332309"/>
            <a:ext cx="114783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프로그램의 변수는 실행이 끝나면 사라집니다.</a:t>
            </a:r>
            <a:endParaRPr lang="ko-KR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831082"/>
            <a:ext cx="10868745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</a:t>
            </a:r>
            <a:endParaRPr lang="ko-KR" sz="1900" dirty="0"/>
          </a:p>
        </p:txBody>
      </p:sp>
      <p:sp>
        <p:nvSpPr>
          <p:cNvPr id="5" name="Shape 3"/>
          <p:cNvSpPr/>
          <p:nvPr/>
        </p:nvSpPr>
        <p:spPr>
          <a:xfrm>
            <a:off x="661475" y="2376587"/>
            <a:ext cx="10868745" cy="846336"/>
          </a:xfrm>
          <a:prstGeom prst="roundRect">
            <a:avLst>
              <a:gd name="adj" fmla="val 1731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2539305"/>
            <a:ext cx="1047803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"홍길동"</a:t>
            </a:r>
            <a:endParaRPr lang="ko-KR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ko-KR" sz="1250" dirty="0"/>
          </a:p>
        </p:txBody>
      </p:sp>
      <p:sp>
        <p:nvSpPr>
          <p:cNvPr id="7" name="Text 5"/>
          <p:cNvSpPr/>
          <p:nvPr/>
        </p:nvSpPr>
        <p:spPr>
          <a:xfrm>
            <a:off x="661475" y="3403203"/>
            <a:ext cx="114783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 종료 후에도 값을 남기려면 파일이나 데이터베이스 같은 저장 공간이 필요합니다.</a:t>
            </a:r>
            <a:endParaRPr lang="ko-KR" sz="1250" dirty="0"/>
          </a:p>
        </p:txBody>
      </p:sp>
      <p:sp>
        <p:nvSpPr>
          <p:cNvPr id="8" name="Text 6"/>
          <p:cNvSpPr/>
          <p:nvPr/>
        </p:nvSpPr>
        <p:spPr>
          <a:xfrm>
            <a:off x="661475" y="4002187"/>
            <a:ext cx="523584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파일 사용 사례</a:t>
            </a:r>
            <a:endParaRPr lang="ko-KR" sz="1900" dirty="0"/>
          </a:p>
        </p:txBody>
      </p:sp>
      <p:sp>
        <p:nvSpPr>
          <p:cNvPr id="9" name="Text 7"/>
          <p:cNvSpPr/>
          <p:nvPr/>
        </p:nvSpPr>
        <p:spPr>
          <a:xfrm>
            <a:off x="661475" y="4467622"/>
            <a:ext cx="5235841" cy="1831082"/>
          </a:xfrm>
          <a:prstGeom prst="rect">
            <a:avLst/>
          </a:prstGeom>
          <a:noFill/>
          <a:ln/>
        </p:spPr>
        <p:txBody>
          <a:bodyPr wrap="square" lIns="0" tIns="65123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 기록 저장</a:t>
            </a:r>
            <a:endParaRPr lang="ko-KR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고객 문의 로그 저장</a:t>
            </a:r>
            <a:endParaRPr lang="ko-KR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데이터 분석</a:t>
            </a:r>
            <a:endParaRPr lang="ko-KR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설정값 저장</a:t>
            </a:r>
            <a:endParaRPr lang="ko-KR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실행 결과 리포트 저장</a:t>
            </a:r>
            <a:endParaRPr lang="ko-KR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서비스의 입력/출력 기록 저장</a:t>
            </a:r>
            <a:endParaRPr lang="ko-KR" sz="1250" dirty="0"/>
          </a:p>
        </p:txBody>
      </p:sp>
      <p:sp>
        <p:nvSpPr>
          <p:cNvPr id="10" name="Shape 8"/>
          <p:cNvSpPr/>
          <p:nvPr/>
        </p:nvSpPr>
        <p:spPr>
          <a:xfrm>
            <a:off x="6183555" y="3841948"/>
            <a:ext cx="5470190" cy="2512814"/>
          </a:xfrm>
          <a:prstGeom prst="roundRect">
            <a:avLst>
              <a:gd name="adj" fmla="val 933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46269" y="4002187"/>
            <a:ext cx="5144760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개념</a:t>
            </a:r>
            <a:endParaRPr lang="ko-KR" sz="1900" dirty="0"/>
          </a:p>
        </p:txBody>
      </p:sp>
      <p:sp>
        <p:nvSpPr>
          <p:cNvPr id="12" name="Text 10"/>
          <p:cNvSpPr/>
          <p:nvPr/>
        </p:nvSpPr>
        <p:spPr>
          <a:xfrm>
            <a:off x="6346269" y="4467622"/>
            <a:ext cx="5144760" cy="572988"/>
          </a:xfrm>
          <a:prstGeom prst="rect">
            <a:avLst/>
          </a:prstGeom>
          <a:noFill/>
          <a:ln/>
        </p:spPr>
        <p:txBody>
          <a:bodyPr wrap="square" lIns="0" tIns="65123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메모리: 실행 중 임시 저장</a:t>
            </a:r>
            <a:endParaRPr lang="ko-KR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파일: 실행이 끝나도 남는 영구 저장</a:t>
            </a:r>
            <a:endParaRPr lang="ko-KR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195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1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I/O란?</a:t>
            </a:r>
            <a:endParaRPr lang="ko-KR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1014597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I/O = File Input / Output = 파일 입출력</a:t>
            </a:r>
            <a:endParaRPr lang="ko-KR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268313"/>
            <a:ext cx="5399449" cy="566539"/>
          </a:xfrm>
          <a:prstGeom prst="roundRect">
            <a:avLst>
              <a:gd name="adj" fmla="val 17078"/>
            </a:avLst>
          </a:prstGeom>
          <a:solidFill>
            <a:srgbClr val="FFFFFF"/>
          </a:solidFill>
          <a:ln/>
          <a:effectLst>
            <a:outerShdw blurRad="1600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926" y="1375767"/>
            <a:ext cx="518454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8926" y="1585516"/>
            <a:ext cx="5184546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파일의 데이터를 프로그램으로 읽어오는 것</a:t>
            </a:r>
            <a:endParaRPr lang="ko-KR" sz="1200" dirty="0"/>
          </a:p>
        </p:txBody>
      </p:sp>
      <p:sp>
        <p:nvSpPr>
          <p:cNvPr id="7" name="Shape 5"/>
          <p:cNvSpPr/>
          <p:nvPr/>
        </p:nvSpPr>
        <p:spPr>
          <a:xfrm>
            <a:off x="6130772" y="1268313"/>
            <a:ext cx="5399449" cy="566539"/>
          </a:xfrm>
          <a:prstGeom prst="roundRect">
            <a:avLst>
              <a:gd name="adj" fmla="val 17078"/>
            </a:avLst>
          </a:prstGeom>
          <a:solidFill>
            <a:srgbClr val="FFFFFF"/>
          </a:solidFill>
          <a:ln/>
          <a:effectLst>
            <a:outerShdw blurRad="1600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38223" y="1375767"/>
            <a:ext cx="518454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38223" y="1585516"/>
            <a:ext cx="5184546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프로그램의 데이터를 파일에 저장하는 것</a:t>
            </a:r>
            <a:endParaRPr lang="ko-KR" sz="1200" dirty="0"/>
          </a:p>
        </p:txBody>
      </p:sp>
      <p:sp>
        <p:nvSpPr>
          <p:cNvPr id="10" name="Text 8"/>
          <p:cNvSpPr/>
          <p:nvPr/>
        </p:nvSpPr>
        <p:spPr>
          <a:xfrm>
            <a:off x="661475" y="1939627"/>
            <a:ext cx="1086874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전체 흐름</a:t>
            </a:r>
            <a:endParaRPr lang="ko-KR" sz="12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697" y="2087496"/>
            <a:ext cx="7006454" cy="302140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064093" y="4360896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쓰기(Output)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3064093" y="3786754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프로그램</a:t>
            </a:r>
            <a:endParaRPr lang="ko-KR" sz="1250" dirty="0"/>
          </a:p>
        </p:txBody>
      </p:sp>
      <p:sp>
        <p:nvSpPr>
          <p:cNvPr id="14" name="Text 11"/>
          <p:cNvSpPr/>
          <p:nvPr/>
        </p:nvSpPr>
        <p:spPr>
          <a:xfrm>
            <a:off x="3064093" y="3226905"/>
            <a:ext cx="1589523" cy="19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읽기(Input)</a:t>
            </a:r>
            <a:endParaRPr lang="ko-KR" sz="1250" dirty="0"/>
          </a:p>
        </p:txBody>
      </p:sp>
      <p:sp>
        <p:nvSpPr>
          <p:cNvPr id="15" name="Text 12"/>
          <p:cNvSpPr/>
          <p:nvPr/>
        </p:nvSpPr>
        <p:spPr>
          <a:xfrm>
            <a:off x="3064093" y="2603195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파일</a:t>
            </a:r>
            <a:endParaRPr lang="ko-KR" sz="1250" dirty="0"/>
          </a:p>
        </p:txBody>
      </p:sp>
      <p:sp>
        <p:nvSpPr>
          <p:cNvPr id="16" name="Text 13"/>
          <p:cNvSpPr/>
          <p:nvPr/>
        </p:nvSpPr>
        <p:spPr>
          <a:xfrm>
            <a:off x="661475" y="4989714"/>
            <a:ext cx="1086874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대표 함수</a:t>
            </a:r>
            <a:endParaRPr lang="ko-KR" sz="1250" dirty="0"/>
          </a:p>
        </p:txBody>
      </p:sp>
      <p:sp>
        <p:nvSpPr>
          <p:cNvPr id="17" name="Shape 14"/>
          <p:cNvSpPr/>
          <p:nvPr/>
        </p:nvSpPr>
        <p:spPr>
          <a:xfrm>
            <a:off x="661475" y="5296002"/>
            <a:ext cx="10868745" cy="386953"/>
          </a:xfrm>
          <a:prstGeom prst="roundRect">
            <a:avLst>
              <a:gd name="adj" fmla="val 25004"/>
            </a:avLst>
          </a:prstGeom>
          <a:solidFill>
            <a:srgbClr val="F2F2F2"/>
          </a:solidFill>
          <a:ln/>
        </p:spPr>
      </p:sp>
      <p:sp>
        <p:nvSpPr>
          <p:cNvPr id="18" name="Text 15"/>
          <p:cNvSpPr/>
          <p:nvPr/>
        </p:nvSpPr>
        <p:spPr>
          <a:xfrm>
            <a:off x="790456" y="5403456"/>
            <a:ext cx="1122036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open("파일경로", "모드", encoding="utf-8")</a:t>
            </a:r>
            <a:endParaRPr lang="ko-KR" sz="1200" dirty="0"/>
          </a:p>
        </p:txBody>
      </p:sp>
      <p:sp>
        <p:nvSpPr>
          <p:cNvPr id="19" name="Text 16"/>
          <p:cNvSpPr/>
          <p:nvPr/>
        </p:nvSpPr>
        <p:spPr>
          <a:xfrm>
            <a:off x="661475" y="5761537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객체를 통해 read(), write() 등의 작업을 수행합니다.</a:t>
            </a:r>
            <a:endParaRPr lang="ko-KR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62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open() 함수의 기본 구조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390055"/>
            <a:ext cx="10868745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1555353"/>
            <a:ext cx="1047188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open("memo.txt", "r", encoding="utf-8")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= file.read()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file.close()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2762548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각 요소의 의미</a:t>
            </a:r>
            <a:endParaRPr lang="ko-KR" sz="1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3320653"/>
            <a:ext cx="3512653" cy="9909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2017" y="3505002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"memo.txt"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2017" y="3862685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열 파일의 경로</a:t>
            </a:r>
            <a:endParaRPr lang="ko-KR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9422" y="3320653"/>
            <a:ext cx="3512752" cy="990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9964" y="3505002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"r"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99964" y="3862685"/>
            <a:ext cx="306786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읽기 모드(Read)</a:t>
            </a:r>
            <a:endParaRPr lang="ko-KR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17468" y="3320653"/>
            <a:ext cx="3512653" cy="9909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8010" y="3505002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encoding="utf-8"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78010" y="3862685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문자 인코딩 지정</a:t>
            </a:r>
            <a:endParaRPr lang="ko-KR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4476948"/>
            <a:ext cx="3512653" cy="99099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2017" y="4661297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file.read()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22017" y="5018980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내용 읽기</a:t>
            </a:r>
            <a:endParaRPr lang="ko-KR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339422" y="4476948"/>
            <a:ext cx="3512752" cy="99099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99964" y="4661297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file.close()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4599964" y="5018980"/>
            <a:ext cx="306786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닫기</a:t>
            </a:r>
            <a:endParaRPr lang="ko-KR" sz="1300" dirty="0"/>
          </a:p>
        </p:txBody>
      </p:sp>
      <p:sp>
        <p:nvSpPr>
          <p:cNvPr id="21" name="Shape 14"/>
          <p:cNvSpPr/>
          <p:nvPr/>
        </p:nvSpPr>
        <p:spPr>
          <a:xfrm>
            <a:off x="661475" y="5653980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FCF2B5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769" y="5893693"/>
            <a:ext cx="206667" cy="16529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98731" y="586055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주의점: 파일을 열었다면 닫아야 합니다. 예외가 발생하면 close()가 실행되지 않을 수 있습니다. 실무에서는 with open() 사용을 권장합니다.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337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파일 열기 모드 정리</a:t>
            </a:r>
            <a:endParaRPr lang="ko-KR" sz="3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419721"/>
          <a:ext cx="10868745" cy="2209645"/>
        </p:xfrm>
        <a:graphic>
          <a:graphicData uri="http://schemas.openxmlformats.org/drawingml/2006/table">
            <a:tbl>
              <a:tblPr/>
              <a:tblGrid>
                <a:gridCol w="163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모드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영문 의미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파일이 없을 때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기존 내용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설명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오류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유지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읽기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write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생성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덮어씀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새로 쓰기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append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생성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뒤에 추가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이어 쓰기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exclusive create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생성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이미 있으면 오류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새 파일 생성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3865959"/>
            <a:ext cx="10868745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</a:t>
            </a:r>
            <a:endParaRPr lang="ko-KR" sz="1850" dirty="0"/>
          </a:p>
        </p:txBody>
      </p:sp>
      <p:sp>
        <p:nvSpPr>
          <p:cNvPr id="5" name="Shape 2"/>
          <p:cNvSpPr/>
          <p:nvPr/>
        </p:nvSpPr>
        <p:spPr>
          <a:xfrm>
            <a:off x="661475" y="4384278"/>
            <a:ext cx="10868745" cy="1068388"/>
          </a:xfrm>
          <a:prstGeom prst="roundRect">
            <a:avLst>
              <a:gd name="adj" fmla="val 13236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849986" y="4541341"/>
            <a:ext cx="10491723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open("memo.txt", "r", encoding="utf-8")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open("memo.txt", "w", encoding="utf-8")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open("memo.txt", "a", encoding="utf-8")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1475" y="5620544"/>
            <a:ext cx="10868745" cy="607120"/>
          </a:xfrm>
          <a:prstGeom prst="roundRect">
            <a:avLst>
              <a:gd name="adj" fmla="val 23292"/>
            </a:avLst>
          </a:prstGeom>
          <a:solidFill>
            <a:srgbClr val="FCF2B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4" y="5836543"/>
            <a:ext cx="196349" cy="1570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1943" y="5808960"/>
            <a:ext cx="1081080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모드는 기존 내용을 지울 수 있으므로 파일 경로와 목적을 확인해야 합니다.</a:t>
            </a:r>
            <a:endParaRPr lang="ko-KR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018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with open()을 사용하는 이유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12999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권장 방식</a:t>
            </a:r>
            <a:endParaRPr lang="ko-KR" sz="1950" dirty="0"/>
          </a:p>
        </p:txBody>
      </p:sp>
      <p:sp>
        <p:nvSpPr>
          <p:cNvPr id="4" name="Shape 2"/>
          <p:cNvSpPr/>
          <p:nvPr/>
        </p:nvSpPr>
        <p:spPr>
          <a:xfrm>
            <a:off x="661475" y="2171105"/>
            <a:ext cx="10868745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336403"/>
            <a:ext cx="1047188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open("memo.txt", "r", encoding="utf-8") as file: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file.read()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print(content)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481586"/>
            <a:ext cx="3512653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6769" y="3646884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자동 닫기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4004568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블록이 끝나면 파일을 자동으로 닫습니다.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4339422" y="3481586"/>
            <a:ext cx="3512752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4716" y="3646884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간결한 코드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4504716" y="4004568"/>
            <a:ext cx="31821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코드가 간결합니다.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8017468" y="3481586"/>
            <a:ext cx="3512653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2762" y="3646884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안전한 자원 정리</a:t>
            </a:r>
            <a:endParaRPr lang="ko-KR" sz="1600" dirty="0"/>
          </a:p>
        </p:txBody>
      </p:sp>
      <p:sp>
        <p:nvSpPr>
          <p:cNvPr id="14" name="Text 12"/>
          <p:cNvSpPr/>
          <p:nvPr/>
        </p:nvSpPr>
        <p:spPr>
          <a:xfrm>
            <a:off x="8182762" y="4004568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오류가 발생해도 자원 정리가 안전합니다.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661475" y="4682530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개념</a:t>
            </a:r>
            <a:endParaRPr lang="ko-KR" sz="1950" dirty="0"/>
          </a:p>
        </p:txBody>
      </p:sp>
      <p:sp>
        <p:nvSpPr>
          <p:cNvPr id="16" name="Text 14"/>
          <p:cNvSpPr/>
          <p:nvPr/>
        </p:nvSpPr>
        <p:spPr>
          <a:xfrm>
            <a:off x="661475" y="5240635"/>
            <a:ext cx="10868745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with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자원을 안전하게 관리하는 컨텍스트 관리자(Context Manager) 문법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 file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열린 파일 객체를 file이라는 변수로 사용</a:t>
            </a:r>
            <a:endParaRPr lang="ko-KR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8078"/>
            <a:ext cx="10868745" cy="48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파일 쓰기: write()</a:t>
            </a:r>
            <a:endParaRPr lang="ko-KR" sz="3000" dirty="0"/>
          </a:p>
        </p:txBody>
      </p:sp>
      <p:sp>
        <p:nvSpPr>
          <p:cNvPr id="3" name="Shape 1"/>
          <p:cNvSpPr/>
          <p:nvPr/>
        </p:nvSpPr>
        <p:spPr>
          <a:xfrm>
            <a:off x="661475" y="1270595"/>
            <a:ext cx="10868745" cy="1051520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47009" y="1425178"/>
            <a:ext cx="10497676" cy="74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= "AI휴먼 7일차 파일 입출력 학습"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open("memo.txt", "w", encoding="utf-8") as file: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file.write(message)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2539008"/>
            <a:ext cx="108687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특징</a:t>
            </a:r>
            <a:endParaRPr lang="ko-KR" sz="1800" dirty="0"/>
          </a:p>
        </p:txBody>
      </p:sp>
      <p:sp>
        <p:nvSpPr>
          <p:cNvPr id="6" name="Text 4"/>
          <p:cNvSpPr/>
          <p:nvPr/>
        </p:nvSpPr>
        <p:spPr>
          <a:xfrm>
            <a:off x="661475" y="2929438"/>
            <a:ext cx="10868745" cy="819448"/>
          </a:xfrm>
          <a:prstGeom prst="rect">
            <a:avLst/>
          </a:prstGeom>
          <a:noFill/>
          <a:ln/>
        </p:spPr>
        <p:txBody>
          <a:bodyPr wrap="square" lIns="0" tIns="61867" rIns="0" bIns="0" rtlCol="0" anchor="t">
            <a:normAutofit/>
          </a:bodyPr>
          <a:lstStyle/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write()는 문자열을 저장합니다.</a:t>
            </a:r>
            <a:endParaRPr lang="ko-KR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줄바꿈이 필요하면 \n을 직접 넣습니다.</a:t>
            </a:r>
            <a:endParaRPr lang="ko-KR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숫자는 문자열로 변환해야 합니다.</a:t>
            </a:r>
            <a:endParaRPr lang="ko-KR" sz="1200" dirty="0"/>
          </a:p>
        </p:txBody>
      </p:sp>
      <p:sp>
        <p:nvSpPr>
          <p:cNvPr id="7" name="Shape 5"/>
          <p:cNvSpPr/>
          <p:nvPr/>
        </p:nvSpPr>
        <p:spPr>
          <a:xfrm>
            <a:off x="661475" y="3911605"/>
            <a:ext cx="10868745" cy="804069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47009" y="4066187"/>
            <a:ext cx="10497676" cy="494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90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file.write(str(score))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1475" y="4965818"/>
            <a:ext cx="108687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여러 줄 저장</a:t>
            </a:r>
            <a:endParaRPr lang="ko-KR" sz="1800" dirty="0"/>
          </a:p>
        </p:txBody>
      </p:sp>
      <p:sp>
        <p:nvSpPr>
          <p:cNvPr id="10" name="Shape 8"/>
          <p:cNvSpPr/>
          <p:nvPr/>
        </p:nvSpPr>
        <p:spPr>
          <a:xfrm>
            <a:off x="661475" y="5372873"/>
            <a:ext cx="10868745" cy="804069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47009" y="5527456"/>
            <a:ext cx="10497676" cy="494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file.write("이름: 홍길동\n")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file.write("점수: 90\n")</a:t>
            </a:r>
            <a:endParaRPr lang="ko-KR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172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파일 이어 쓰기: append 모드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3915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기존 기록 뒤에 새로운 내용을 추가할 때 a 모드를 사용합니다.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589808"/>
            <a:ext cx="10868745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755106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open("study_log.txt", "a", encoding="utf-8") as file: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file.write("7일차: 파일 입출력 학습 완료\n")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800971"/>
            <a:ext cx="523266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활용 사례</a:t>
            </a:r>
            <a:endParaRPr lang="ko-KR" sz="1950" dirty="0"/>
          </a:p>
        </p:txBody>
      </p:sp>
      <p:sp>
        <p:nvSpPr>
          <p:cNvPr id="7" name="Text 5"/>
          <p:cNvSpPr/>
          <p:nvPr/>
        </p:nvSpPr>
        <p:spPr>
          <a:xfrm>
            <a:off x="661475" y="4276328"/>
            <a:ext cx="5232666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 일지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 실행 로그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주문 처리 기록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오류 기록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184844" y="3635673"/>
            <a:ext cx="5470785" cy="1930499"/>
          </a:xfrm>
          <a:prstGeom prst="roundRect">
            <a:avLst>
              <a:gd name="adj" fmla="val 1233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50139" y="3800971"/>
            <a:ext cx="514019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w와 a 비교</a:t>
            </a:r>
            <a:endParaRPr lang="ko-KR" sz="1950" dirty="0"/>
          </a:p>
        </p:txBody>
      </p:sp>
      <p:sp>
        <p:nvSpPr>
          <p:cNvPr id="10" name="Text 8"/>
          <p:cNvSpPr/>
          <p:nvPr/>
        </p:nvSpPr>
        <p:spPr>
          <a:xfrm>
            <a:off x="6350139" y="4276328"/>
            <a:ext cx="514019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</a:t>
            </a: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새 문서처럼 다시 작성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</a:t>
            </a: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기존 문서 뒤에 계속 기록</a:t>
            </a:r>
            <a:endParaRPr lang="ko-KR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255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파일 읽기: read(), readline(), readlines()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589980"/>
            <a:ext cx="3512653" cy="1408410"/>
          </a:xfrm>
          <a:prstGeom prst="roundRect">
            <a:avLst>
              <a:gd name="adj" fmla="val 1056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5819" y="1774329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전체 읽기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845819" y="2218829"/>
            <a:ext cx="3143965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44251" y="2384127"/>
            <a:ext cx="274710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= file.read()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1589980"/>
            <a:ext cx="3512752" cy="1408410"/>
          </a:xfrm>
          <a:prstGeom prst="roundRect">
            <a:avLst>
              <a:gd name="adj" fmla="val 1056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3766" y="1774329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한 줄 읽기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4523766" y="2218829"/>
            <a:ext cx="3144064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4722198" y="2384127"/>
            <a:ext cx="274719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= file.readline()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17468" y="1589980"/>
            <a:ext cx="3512653" cy="1408410"/>
          </a:xfrm>
          <a:prstGeom prst="roundRect">
            <a:avLst>
              <a:gd name="adj" fmla="val 1056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01812" y="1774329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모든 줄을 리스트로 읽기</a:t>
            </a:r>
            <a:endParaRPr lang="ko-KR" sz="1600" dirty="0"/>
          </a:p>
        </p:txBody>
      </p:sp>
      <p:sp>
        <p:nvSpPr>
          <p:cNvPr id="13" name="Shape 11"/>
          <p:cNvSpPr/>
          <p:nvPr/>
        </p:nvSpPr>
        <p:spPr>
          <a:xfrm>
            <a:off x="8201812" y="2218829"/>
            <a:ext cx="3143965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8400245" y="2384127"/>
            <a:ext cx="274710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= file.readlines()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1475" y="3246437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 결과</a:t>
            </a:r>
            <a:endParaRPr lang="ko-KR" sz="1950" dirty="0"/>
          </a:p>
        </p:txBody>
      </p:sp>
      <p:sp>
        <p:nvSpPr>
          <p:cNvPr id="16" name="Shape 14"/>
          <p:cNvSpPr/>
          <p:nvPr/>
        </p:nvSpPr>
        <p:spPr>
          <a:xfrm>
            <a:off x="661475" y="3605036"/>
            <a:ext cx="10868745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859907" y="3770334"/>
            <a:ext cx="110814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["홍길동,90\n", "김영희,85\n"]</a:t>
            </a:r>
            <a:endParaRPr lang="ko-KR" sz="1300" dirty="0"/>
          </a:p>
        </p:txBody>
      </p:sp>
      <p:sp>
        <p:nvSpPr>
          <p:cNvPr id="18" name="Text 16"/>
          <p:cNvSpPr/>
          <p:nvPr/>
        </p:nvSpPr>
        <p:spPr>
          <a:xfrm>
            <a:off x="661475" y="4647803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선택 기준</a:t>
            </a:r>
            <a:endParaRPr lang="ko-KR" sz="1950" dirty="0"/>
          </a:p>
        </p:txBody>
      </p:sp>
      <p:sp>
        <p:nvSpPr>
          <p:cNvPr id="19" name="Text 17"/>
          <p:cNvSpPr/>
          <p:nvPr/>
        </p:nvSpPr>
        <p:spPr>
          <a:xfrm>
            <a:off x="661475" y="5006404"/>
            <a:ext cx="10868745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작은 파일 전체 처리: read()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줄씩 단계 처리: readline() 또는 반복문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줄 단위 리스트 필요: readlines()</a:t>
            </a:r>
            <a:endParaRPr lang="ko-KR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193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파일 객체를 반복문으로 읽기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2935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큰 파일은 한 번에 모두 메모리에 올리지 않고 한 줄씩 처리할 수 있습니다.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780010"/>
            <a:ext cx="10868745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945309"/>
            <a:ext cx="1047188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open("scores.txt", "r", encoding="utf-8") as file: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line in file: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print(line.strip())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255790"/>
            <a:ext cx="523266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strip()의 역할</a:t>
            </a:r>
            <a:endParaRPr lang="ko-KR" sz="1950" dirty="0"/>
          </a:p>
        </p:txBody>
      </p:sp>
      <p:sp>
        <p:nvSpPr>
          <p:cNvPr id="7" name="Text 5"/>
          <p:cNvSpPr/>
          <p:nvPr/>
        </p:nvSpPr>
        <p:spPr>
          <a:xfrm>
            <a:off x="661475" y="4731147"/>
            <a:ext cx="523266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문자열 앞뒤의 공백 제거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줄 끝의 \n 제거에 자주 사용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184844" y="4090491"/>
            <a:ext cx="5470785" cy="1285577"/>
          </a:xfrm>
          <a:prstGeom prst="roundRect">
            <a:avLst>
              <a:gd name="adj" fmla="val 1852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50139" y="4255790"/>
            <a:ext cx="514019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장점</a:t>
            </a:r>
            <a:endParaRPr lang="ko-KR" sz="1950" dirty="0"/>
          </a:p>
        </p:txBody>
      </p:sp>
      <p:sp>
        <p:nvSpPr>
          <p:cNvPr id="10" name="Text 8"/>
          <p:cNvSpPr/>
          <p:nvPr/>
        </p:nvSpPr>
        <p:spPr>
          <a:xfrm>
            <a:off x="6350139" y="4731147"/>
            <a:ext cx="514019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코드가 단순합니다.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큰 파일 처리 시 메모리 사용량을 줄일 수 있습니다.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8553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9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파일 경로(Path)의 이해</a:t>
            </a:r>
            <a:endParaRPr lang="ko-KR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88554"/>
            <a:ext cx="5252807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상대 경로</a:t>
            </a:r>
            <a:endParaRPr lang="ko-KR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1660079"/>
            <a:ext cx="5252807" cy="535781"/>
          </a:xfrm>
          <a:prstGeom prst="roundRect">
            <a:avLst>
              <a:gd name="adj" fmla="val 25004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40064" y="1800596"/>
            <a:ext cx="550521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./data/memo.txt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2346574"/>
            <a:ext cx="586239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현재 프로그램 위치를 기준으로 찾습니다.</a:t>
            </a:r>
            <a:endParaRPr lang="ko-KR" sz="1150" dirty="0"/>
          </a:p>
        </p:txBody>
      </p:sp>
      <p:sp>
        <p:nvSpPr>
          <p:cNvPr id="7" name="Text 5"/>
          <p:cNvSpPr/>
          <p:nvPr/>
        </p:nvSpPr>
        <p:spPr>
          <a:xfrm>
            <a:off x="661475" y="2831431"/>
            <a:ext cx="5252807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절대 경로 예시</a:t>
            </a:r>
            <a:endParaRPr lang="ko-KR" sz="1750" dirty="0"/>
          </a:p>
        </p:txBody>
      </p:sp>
      <p:sp>
        <p:nvSpPr>
          <p:cNvPr id="8" name="Shape 6"/>
          <p:cNvSpPr/>
          <p:nvPr/>
        </p:nvSpPr>
        <p:spPr>
          <a:xfrm>
            <a:off x="661475" y="3261147"/>
            <a:ext cx="5252807" cy="535781"/>
          </a:xfrm>
          <a:prstGeom prst="roundRect">
            <a:avLst>
              <a:gd name="adj" fmla="val 25004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40064" y="3409975"/>
            <a:ext cx="550521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C:/workspace/project/data/memo.txt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83763" y="1288554"/>
            <a:ext cx="5252807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pathlib 사용</a:t>
            </a:r>
            <a:endParaRPr lang="ko-KR" sz="1750" dirty="0"/>
          </a:p>
        </p:txBody>
      </p:sp>
      <p:sp>
        <p:nvSpPr>
          <p:cNvPr id="11" name="Text 9"/>
          <p:cNvSpPr/>
          <p:nvPr/>
        </p:nvSpPr>
        <p:spPr>
          <a:xfrm>
            <a:off x="6283763" y="1701502"/>
            <a:ext cx="586239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Python에서는 pathlib을 사용하면 운영체제에 따른 경로 차이를 줄일 수 있습니다.</a:t>
            </a:r>
            <a:endParaRPr lang="ko-KR" sz="1150" dirty="0"/>
          </a:p>
        </p:txBody>
      </p:sp>
      <p:sp>
        <p:nvSpPr>
          <p:cNvPr id="12" name="Shape 10"/>
          <p:cNvSpPr/>
          <p:nvPr/>
        </p:nvSpPr>
        <p:spPr>
          <a:xfrm>
            <a:off x="6283763" y="2078434"/>
            <a:ext cx="5252807" cy="1012031"/>
          </a:xfrm>
          <a:prstGeom prst="roundRect">
            <a:avLst>
              <a:gd name="adj" fmla="val 13237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462352" y="2227263"/>
            <a:ext cx="489562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Path("data") / "memo.txt"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print(path)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1475" y="4082058"/>
            <a:ext cx="10868745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용어</a:t>
            </a:r>
            <a:endParaRPr lang="ko-KR" sz="1750" dirty="0"/>
          </a:p>
        </p:txBody>
      </p:sp>
      <p:sp>
        <p:nvSpPr>
          <p:cNvPr id="15" name="Shape 13"/>
          <p:cNvSpPr/>
          <p:nvPr/>
        </p:nvSpPr>
        <p:spPr>
          <a:xfrm>
            <a:off x="661475" y="4561979"/>
            <a:ext cx="5367402" cy="836712"/>
          </a:xfrm>
          <a:prstGeom prst="roundRect">
            <a:avLst>
              <a:gd name="adj" fmla="val 16011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0299" y="4710807"/>
            <a:ext cx="50697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Path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10299" y="5023644"/>
            <a:ext cx="506975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또는 폴더의 위치</a:t>
            </a:r>
            <a:endParaRPr lang="ko-KR" sz="1150" dirty="0"/>
          </a:p>
        </p:txBody>
      </p:sp>
      <p:sp>
        <p:nvSpPr>
          <p:cNvPr id="18" name="Shape 16"/>
          <p:cNvSpPr/>
          <p:nvPr/>
        </p:nvSpPr>
        <p:spPr>
          <a:xfrm>
            <a:off x="6162818" y="4561979"/>
            <a:ext cx="5367402" cy="836712"/>
          </a:xfrm>
          <a:prstGeom prst="roundRect">
            <a:avLst>
              <a:gd name="adj" fmla="val 16011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11643" y="4710807"/>
            <a:ext cx="50697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Directory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11643" y="5023644"/>
            <a:ext cx="506975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폴더</a:t>
            </a:r>
            <a:endParaRPr lang="ko-KR" sz="1150" dirty="0"/>
          </a:p>
        </p:txBody>
      </p:sp>
      <p:sp>
        <p:nvSpPr>
          <p:cNvPr id="21" name="Shape 19"/>
          <p:cNvSpPr/>
          <p:nvPr/>
        </p:nvSpPr>
        <p:spPr>
          <a:xfrm>
            <a:off x="661475" y="5532636"/>
            <a:ext cx="5367402" cy="836712"/>
          </a:xfrm>
          <a:prstGeom prst="roundRect">
            <a:avLst>
              <a:gd name="adj" fmla="val 16011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0299" y="5681464"/>
            <a:ext cx="50697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Relative Path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10299" y="5994301"/>
            <a:ext cx="506975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상대 경로</a:t>
            </a:r>
            <a:endParaRPr lang="ko-KR" sz="1150" dirty="0"/>
          </a:p>
        </p:txBody>
      </p:sp>
      <p:sp>
        <p:nvSpPr>
          <p:cNvPr id="24" name="Shape 22"/>
          <p:cNvSpPr/>
          <p:nvPr/>
        </p:nvSpPr>
        <p:spPr>
          <a:xfrm>
            <a:off x="6162818" y="5532636"/>
            <a:ext cx="5367402" cy="836712"/>
          </a:xfrm>
          <a:prstGeom prst="roundRect">
            <a:avLst>
              <a:gd name="adj" fmla="val 16011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11643" y="5681464"/>
            <a:ext cx="50697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Absolute Path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311643" y="5994301"/>
            <a:ext cx="506975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절대 경로</a:t>
            </a:r>
            <a:endParaRPr lang="ko-KR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549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Exception이란?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16421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Exception = 예외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 실행 중 예상하지 못한 문제가 발생한 상태입니다.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446238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대표 예외</a:t>
            </a:r>
            <a:endParaRPr lang="ko-KR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854715"/>
            <a:ext cx="3512653" cy="990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2017" y="3039063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FileNotFoundError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2017" y="3396747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파일이 없음</a:t>
            </a:r>
            <a:endParaRPr lang="ko-KR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9422" y="2854715"/>
            <a:ext cx="3512752" cy="9909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99964" y="3039063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ValueError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99964" y="3396747"/>
            <a:ext cx="306786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값의 형식이 잘못됨</a:t>
            </a:r>
            <a:endParaRPr lang="ko-KR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17468" y="2854715"/>
            <a:ext cx="3512653" cy="9909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78010" y="3039063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ZeroDivisionError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278010" y="3396747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0으로 나눔</a:t>
            </a:r>
            <a:endParaRPr lang="ko-KR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4011010"/>
            <a:ext cx="3512653" cy="99099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2017" y="4195359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PermissionError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922017" y="4553042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접근 권한 문제</a:t>
            </a:r>
            <a:endParaRPr lang="ko-KR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339422" y="4011010"/>
            <a:ext cx="3512752" cy="99099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99964" y="4195359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UnicodeDecodeError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4599964" y="4553042"/>
            <a:ext cx="306786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문자 인코딩 문제</a:t>
            </a:r>
            <a:endParaRPr lang="ko-KR" sz="1300" dirty="0"/>
          </a:p>
        </p:txBody>
      </p:sp>
      <p:sp>
        <p:nvSpPr>
          <p:cNvPr id="20" name="Text 13"/>
          <p:cNvSpPr/>
          <p:nvPr/>
        </p:nvSpPr>
        <p:spPr>
          <a:xfrm>
            <a:off x="661475" y="5399683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예외 처리 목적</a:t>
            </a:r>
            <a:endParaRPr lang="ko-KR" sz="1950" dirty="0"/>
          </a:p>
        </p:txBody>
      </p:sp>
      <p:sp>
        <p:nvSpPr>
          <p:cNvPr id="21" name="Text 14"/>
          <p:cNvSpPr/>
          <p:nvPr/>
        </p:nvSpPr>
        <p:spPr>
          <a:xfrm>
            <a:off x="661475" y="579153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오류를 숨기는 것이 아니라, 예상 가능한 문제에 대해 사용자가 이해할 수 있는 대응을 제공하는 것입니다.</a:t>
            </a:r>
            <a:endParaRPr lang="ko-KR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672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try-except 기본 구조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504156"/>
            <a:ext cx="10868745" cy="2182912"/>
          </a:xfrm>
          <a:prstGeom prst="roundRect">
            <a:avLst>
              <a:gd name="adj" fmla="val 6819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1669455"/>
            <a:ext cx="10471880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오류가 발생할 수 있는 코드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open("memo.txt", "r", encoding="utf-8") as file: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print(file.read())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FileNotFoundError: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해당 오류가 발생했을 때 실행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print("파일을 찾을 수 없습니다.")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935115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실행 흐름</a:t>
            </a:r>
            <a:endParaRPr lang="ko-KR" sz="1950" dirty="0"/>
          </a:p>
        </p:txBody>
      </p:sp>
      <p:sp>
        <p:nvSpPr>
          <p:cNvPr id="6" name="Text 4"/>
          <p:cNvSpPr/>
          <p:nvPr/>
        </p:nvSpPr>
        <p:spPr>
          <a:xfrm>
            <a:off x="661475" y="449322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4755158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4875907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블록 실행</a:t>
            </a:r>
            <a:endParaRPr lang="ko-KR" sz="1300" dirty="0"/>
          </a:p>
        </p:txBody>
      </p:sp>
      <p:sp>
        <p:nvSpPr>
          <p:cNvPr id="9" name="Text 7"/>
          <p:cNvSpPr/>
          <p:nvPr/>
        </p:nvSpPr>
        <p:spPr>
          <a:xfrm>
            <a:off x="6178495" y="449322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8495" y="4755158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6178495" y="4875907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오류가 없으면 except를 건너뜀</a:t>
            </a:r>
            <a:endParaRPr lang="ko-KR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542984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5691783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5812532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지정한 예외가 발생하면 해당 except 실행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6178495" y="542984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495" y="5691783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178495" y="5812532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프로그램이 다음 코드로 계속 진행</a:t>
            </a:r>
            <a:endParaRPr lang="ko-KR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8509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여러 예외를 구분해서 처리하기</a:t>
            </a:r>
            <a:endParaRPr lang="ko-KR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286669"/>
            <a:ext cx="10868745" cy="1405632"/>
          </a:xfrm>
          <a:prstGeom prst="roundRect">
            <a:avLst>
              <a:gd name="adj" fmla="val 9001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30143" y="1427163"/>
            <a:ext cx="10531410" cy="1124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"abc"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number = int(text)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print("숫자로 변환할 수 없습니다.")</a:t>
            </a:r>
            <a:endParaRPr lang="ko-KR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2871490"/>
            <a:ext cx="1086874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파일 처리 예시</a:t>
            </a:r>
            <a:endParaRPr lang="ko-KR" sz="1650" dirty="0"/>
          </a:p>
        </p:txBody>
      </p:sp>
      <p:sp>
        <p:nvSpPr>
          <p:cNvPr id="6" name="Shape 4"/>
          <p:cNvSpPr/>
          <p:nvPr/>
        </p:nvSpPr>
        <p:spPr>
          <a:xfrm>
            <a:off x="661475" y="3314204"/>
            <a:ext cx="10868745" cy="1855490"/>
          </a:xfrm>
          <a:prstGeom prst="roundRect">
            <a:avLst>
              <a:gd name="adj" fmla="val 6819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30143" y="3454698"/>
            <a:ext cx="10531410" cy="1574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open("data.txt", "r", encoding="utf-8") as file: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 = int(file.read())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FileNotFoundError: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print("파일이 없습니다.")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print("파일 내용이 숫자가 아닙니다.")</a:t>
            </a:r>
            <a:endParaRPr lang="ko-KR" sz="1100" dirty="0"/>
          </a:p>
        </p:txBody>
      </p:sp>
      <p:sp>
        <p:nvSpPr>
          <p:cNvPr id="8" name="Text 6"/>
          <p:cNvSpPr/>
          <p:nvPr/>
        </p:nvSpPr>
        <p:spPr>
          <a:xfrm>
            <a:off x="661475" y="5348883"/>
            <a:ext cx="1086874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원칙</a:t>
            </a:r>
            <a:endParaRPr lang="ko-KR" sz="1650" dirty="0"/>
          </a:p>
        </p:txBody>
      </p:sp>
      <p:sp>
        <p:nvSpPr>
          <p:cNvPr id="9" name="Text 7"/>
          <p:cNvSpPr/>
          <p:nvPr/>
        </p:nvSpPr>
        <p:spPr>
          <a:xfrm>
            <a:off x="661475" y="5791597"/>
            <a:ext cx="10868745" cy="457895"/>
          </a:xfrm>
          <a:prstGeom prst="rect">
            <a:avLst/>
          </a:prstGeom>
          <a:noFill/>
          <a:ln/>
        </p:spPr>
        <p:txBody>
          <a:bodyPr wrap="square" lIns="0" tIns="56233" rIns="0" bIns="0" rtlCol="0" anchor="t">
            <a:normAutofit lnSpcReduction="10000"/>
          </a:bodyPr>
          <a:lstStyle/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예상 가능한 예외는 구체적인 타입으로 처리합니다.</a:t>
            </a:r>
            <a:endParaRPr lang="ko-KR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모든 오류를 무조건 except: 하나로 처리하면 원인 파악이 어려워집니다.</a:t>
            </a:r>
            <a:endParaRPr lang="ko-KR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37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else와 finally</a:t>
            </a:r>
            <a:endParaRPr lang="ko-KR" sz="2600" dirty="0"/>
          </a:p>
        </p:txBody>
      </p:sp>
      <p:sp>
        <p:nvSpPr>
          <p:cNvPr id="4" name="Shape 2"/>
          <p:cNvSpPr/>
          <p:nvPr/>
        </p:nvSpPr>
        <p:spPr>
          <a:xfrm>
            <a:off x="661475" y="1105367"/>
            <a:ext cx="10868745" cy="2209701"/>
          </a:xfrm>
          <a:prstGeom prst="roundRect">
            <a:avLst>
              <a:gd name="adj" fmla="val 608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20221" y="1237627"/>
            <a:ext cx="10551253" cy="169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number = int("100")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print("변환 실패")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print("변환 성공:", number)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print("작업 종료")</a:t>
            </a:r>
            <a:endParaRPr lang="ko-KR" sz="1200" dirty="0"/>
          </a:p>
        </p:txBody>
      </p:sp>
      <p:sp>
        <p:nvSpPr>
          <p:cNvPr id="6" name="Shape 4"/>
          <p:cNvSpPr/>
          <p:nvPr/>
        </p:nvSpPr>
        <p:spPr>
          <a:xfrm>
            <a:off x="661475" y="3382314"/>
            <a:ext cx="5381490" cy="725190"/>
          </a:xfrm>
          <a:prstGeom prst="roundRect">
            <a:avLst>
              <a:gd name="adj" fmla="val 16421"/>
            </a:avLst>
          </a:prstGeom>
          <a:solidFill>
            <a:srgbClr val="FFFFFF"/>
          </a:solidFill>
          <a:ln/>
          <a:effectLst>
            <a:outerShdw blurRad="1981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3730" y="3514573"/>
            <a:ext cx="51169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3730" y="3784746"/>
            <a:ext cx="51169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먼저 실행</a:t>
            </a:r>
            <a:endParaRPr lang="ko-KR" sz="1200" dirty="0"/>
          </a:p>
        </p:txBody>
      </p:sp>
      <p:sp>
        <p:nvSpPr>
          <p:cNvPr id="9" name="Shape 7"/>
          <p:cNvSpPr/>
          <p:nvPr/>
        </p:nvSpPr>
        <p:spPr>
          <a:xfrm>
            <a:off x="6148730" y="3382314"/>
            <a:ext cx="5381490" cy="725190"/>
          </a:xfrm>
          <a:prstGeom prst="roundRect">
            <a:avLst>
              <a:gd name="adj" fmla="val 16421"/>
            </a:avLst>
          </a:prstGeom>
          <a:solidFill>
            <a:srgbClr val="FFFFFF"/>
          </a:solidFill>
          <a:ln/>
          <a:effectLst>
            <a:outerShdw blurRad="1981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80985" y="3514573"/>
            <a:ext cx="51169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except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80985" y="3784746"/>
            <a:ext cx="51169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발생 시 실행</a:t>
            </a:r>
            <a:endParaRPr lang="ko-KR" sz="1200" dirty="0"/>
          </a:p>
        </p:txBody>
      </p:sp>
      <p:sp>
        <p:nvSpPr>
          <p:cNvPr id="12" name="Shape 10"/>
          <p:cNvSpPr/>
          <p:nvPr/>
        </p:nvSpPr>
        <p:spPr>
          <a:xfrm>
            <a:off x="661475" y="4213271"/>
            <a:ext cx="5381490" cy="725190"/>
          </a:xfrm>
          <a:prstGeom prst="roundRect">
            <a:avLst>
              <a:gd name="adj" fmla="val 16421"/>
            </a:avLst>
          </a:prstGeom>
          <a:solidFill>
            <a:srgbClr val="FFFFFF"/>
          </a:solidFill>
          <a:ln/>
          <a:effectLst>
            <a:outerShdw blurRad="1981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3730" y="4345530"/>
            <a:ext cx="51169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3730" y="4615703"/>
            <a:ext cx="51169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예외가 발생하지 않았을 때 실행</a:t>
            </a:r>
            <a:endParaRPr lang="ko-KR" sz="1200" dirty="0"/>
          </a:p>
        </p:txBody>
      </p:sp>
      <p:sp>
        <p:nvSpPr>
          <p:cNvPr id="15" name="Shape 13"/>
          <p:cNvSpPr/>
          <p:nvPr/>
        </p:nvSpPr>
        <p:spPr>
          <a:xfrm>
            <a:off x="6148730" y="4213271"/>
            <a:ext cx="5381490" cy="725190"/>
          </a:xfrm>
          <a:prstGeom prst="roundRect">
            <a:avLst>
              <a:gd name="adj" fmla="val 16421"/>
            </a:avLst>
          </a:prstGeom>
          <a:solidFill>
            <a:srgbClr val="FFFFFF"/>
          </a:solidFill>
          <a:ln/>
          <a:effectLst>
            <a:outerShdw blurRad="1981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80985" y="4345530"/>
            <a:ext cx="51169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80985" y="4615703"/>
            <a:ext cx="51169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발생 여부와 관계없이 마지막에 실행</a:t>
            </a:r>
            <a:endParaRPr lang="ko-KR" sz="1200" dirty="0"/>
          </a:p>
        </p:txBody>
      </p:sp>
      <p:sp>
        <p:nvSpPr>
          <p:cNvPr id="18" name="Text 16"/>
          <p:cNvSpPr/>
          <p:nvPr/>
        </p:nvSpPr>
        <p:spPr>
          <a:xfrm>
            <a:off x="661475" y="5097211"/>
            <a:ext cx="1086874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활용</a:t>
            </a:r>
            <a:endParaRPr lang="ko-KR" sz="1550" dirty="0"/>
          </a:p>
        </p:txBody>
      </p:sp>
      <p:sp>
        <p:nvSpPr>
          <p:cNvPr id="19" name="Text 17"/>
          <p:cNvSpPr/>
          <p:nvPr/>
        </p:nvSpPr>
        <p:spPr>
          <a:xfrm>
            <a:off x="661475" y="5504008"/>
            <a:ext cx="10868745" cy="645517"/>
          </a:xfrm>
          <a:prstGeom prst="rect">
            <a:avLst/>
          </a:prstGeom>
          <a:noFill/>
          <a:ln/>
        </p:spPr>
        <p:txBody>
          <a:bodyPr wrap="square" lIns="0" tIns="52925" rIns="0" bIns="0" rtlCol="0" anchor="t">
            <a:normAutofit fontScale="92500" lnSpcReduction="10000"/>
          </a:bodyPr>
          <a:lstStyle/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성공 메시지 출력</a:t>
            </a:r>
            <a:endParaRPr lang="ko-KR" sz="12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 기록</a:t>
            </a:r>
            <a:endParaRPr lang="ko-KR" sz="12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연결/자원 정리</a:t>
            </a:r>
            <a:endParaRPr lang="ko-KR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0074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예외 객체의 메시지 확인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4817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오류 원인을 기록해야 할 때 예외 객체를 받을 수 있습니다.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498824"/>
            <a:ext cx="10868745" cy="1653679"/>
          </a:xfrm>
          <a:prstGeom prst="roundRect">
            <a:avLst>
              <a:gd name="adj" fmla="val 900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664123"/>
            <a:ext cx="1047188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open("unknown.txt", "r", encoding="utf-8") as file: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print(file.read())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FileNotFoundError as error: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print("오류:", error)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542415" y="4338538"/>
            <a:ext cx="5470785" cy="1318716"/>
          </a:xfrm>
          <a:prstGeom prst="roundRect">
            <a:avLst>
              <a:gd name="adj" fmla="val 1806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7710" y="4503837"/>
            <a:ext cx="514019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 error의 의미</a:t>
            </a:r>
            <a:endParaRPr lang="ko-KR" sz="1950" dirty="0"/>
          </a:p>
        </p:txBody>
      </p:sp>
      <p:sp>
        <p:nvSpPr>
          <p:cNvPr id="8" name="Text 6"/>
          <p:cNvSpPr/>
          <p:nvPr/>
        </p:nvSpPr>
        <p:spPr>
          <a:xfrm>
            <a:off x="707710" y="4979194"/>
            <a:ext cx="514019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발생한 예외 객체를 변수에 저장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 오류 메시지를 확인 가능</a:t>
            </a:r>
            <a:endParaRPr lang="ko-KR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4503837"/>
            <a:ext cx="523266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주의</a:t>
            </a:r>
            <a:endParaRPr lang="ko-KR" sz="1950" dirty="0"/>
          </a:p>
        </p:txBody>
      </p:sp>
      <p:sp>
        <p:nvSpPr>
          <p:cNvPr id="10" name="Text 8"/>
          <p:cNvSpPr/>
          <p:nvPr/>
        </p:nvSpPr>
        <p:spPr>
          <a:xfrm>
            <a:off x="6303904" y="4979194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사용자에게 보여주는 메시지와 개발자가 확인할 상세 로그는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분리하는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것이 좋습니다.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7077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9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Module이란?</a:t>
            </a:r>
            <a:endParaRPr lang="ko-KR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20105"/>
            <a:ext cx="10868745" cy="60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150"/>
              </a:spcAft>
              <a:buNone/>
            </a:pPr>
            <a:r>
              <a:rPr lang="ko-KR" altLang="en-US" sz="11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= 모듈</a:t>
            </a:r>
            <a:endParaRPr lang="ko-KR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코드를 기능별로 저장한 하나의 .py 파일입니다.</a:t>
            </a:r>
            <a:endParaRPr lang="ko-KR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207915"/>
            <a:ext cx="5252807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</a:t>
            </a:r>
            <a:endParaRPr lang="ko-KR" sz="1750" dirty="0"/>
          </a:p>
        </p:txBody>
      </p:sp>
      <p:sp>
        <p:nvSpPr>
          <p:cNvPr id="5" name="Shape 3"/>
          <p:cNvSpPr/>
          <p:nvPr/>
        </p:nvSpPr>
        <p:spPr>
          <a:xfrm>
            <a:off x="661475" y="2637631"/>
            <a:ext cx="5252807" cy="773906"/>
          </a:xfrm>
          <a:prstGeom prst="roundRect">
            <a:avLst>
              <a:gd name="adj" fmla="val 1731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40064" y="2786459"/>
            <a:ext cx="489562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file_utils.py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1475" y="3562251"/>
            <a:ext cx="5252807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file_utils.py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61475" y="3991967"/>
            <a:ext cx="5252807" cy="773906"/>
          </a:xfrm>
          <a:prstGeom prst="roundRect">
            <a:avLst>
              <a:gd name="adj" fmla="val 17310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40064" y="4140795"/>
            <a:ext cx="489562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read_text(path):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1475" y="4916587"/>
            <a:ext cx="5252807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main.py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661475" y="5346303"/>
            <a:ext cx="5252807" cy="773906"/>
          </a:xfrm>
          <a:prstGeom prst="roundRect">
            <a:avLst>
              <a:gd name="adj" fmla="val 1731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840064" y="5495131"/>
            <a:ext cx="489562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file_utils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file_utils.read_text("memo.txt")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6610" y="2073970"/>
            <a:ext cx="5467114" cy="4196953"/>
          </a:xfrm>
          <a:prstGeom prst="roundRect">
            <a:avLst>
              <a:gd name="adj" fmla="val 510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25434" y="2207915"/>
            <a:ext cx="5169465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효과</a:t>
            </a:r>
            <a:endParaRPr lang="ko-KR" sz="1750" dirty="0"/>
          </a:p>
        </p:txBody>
      </p:sp>
      <p:sp>
        <p:nvSpPr>
          <p:cNvPr id="15" name="Text 13"/>
          <p:cNvSpPr/>
          <p:nvPr/>
        </p:nvSpPr>
        <p:spPr>
          <a:xfrm>
            <a:off x="6325434" y="2620863"/>
            <a:ext cx="5169465" cy="1045369"/>
          </a:xfrm>
          <a:prstGeom prst="rect">
            <a:avLst/>
          </a:prstGeom>
          <a:noFill/>
          <a:ln/>
        </p:spPr>
        <p:txBody>
          <a:bodyPr wrap="square" lIns="0" tIns="59541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ko-KR" alt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코드 재사용</a:t>
            </a:r>
            <a:endParaRPr lang="ko-KR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ko-KR" alt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역할 분리</a:t>
            </a:r>
            <a:endParaRPr lang="ko-KR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ko-KR" alt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유지보수 향상</a:t>
            </a:r>
            <a:endParaRPr lang="ko-KR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ko-KR" alt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협업 시 파일 단위 업무 분담 가능</a:t>
            </a:r>
            <a:endParaRPr lang="ko-KR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019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 사용 방법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457623"/>
            <a:ext cx="3512653" cy="1408410"/>
          </a:xfrm>
          <a:prstGeom prst="roundRect">
            <a:avLst>
              <a:gd name="adj" fmla="val 1056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5819" y="1641971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모듈 전체 가져오기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845819" y="2086471"/>
            <a:ext cx="3143965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44251" y="2251770"/>
            <a:ext cx="274710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1457623"/>
            <a:ext cx="3512752" cy="1408410"/>
          </a:xfrm>
          <a:prstGeom prst="roundRect">
            <a:avLst>
              <a:gd name="adj" fmla="val 1056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3766" y="1641971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특정 기능 가져오기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4523766" y="2086471"/>
            <a:ext cx="3144064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4722198" y="2251770"/>
            <a:ext cx="274719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17468" y="1457623"/>
            <a:ext cx="3512653" cy="1408410"/>
          </a:xfrm>
          <a:prstGeom prst="roundRect">
            <a:avLst>
              <a:gd name="adj" fmla="val 1056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01812" y="1641971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별칭 사용</a:t>
            </a:r>
            <a:endParaRPr lang="ko-KR" sz="1600" dirty="0"/>
          </a:p>
        </p:txBody>
      </p:sp>
      <p:sp>
        <p:nvSpPr>
          <p:cNvPr id="13" name="Shape 11"/>
          <p:cNvSpPr/>
          <p:nvPr/>
        </p:nvSpPr>
        <p:spPr>
          <a:xfrm>
            <a:off x="8201812" y="2086471"/>
            <a:ext cx="3143965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8400245" y="2251770"/>
            <a:ext cx="274710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datetime as dt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1475" y="3114080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사용 예</a:t>
            </a:r>
            <a:endParaRPr lang="ko-KR" sz="1950" dirty="0"/>
          </a:p>
        </p:txBody>
      </p:sp>
      <p:sp>
        <p:nvSpPr>
          <p:cNvPr id="16" name="Shape 14"/>
          <p:cNvSpPr/>
          <p:nvPr/>
        </p:nvSpPr>
        <p:spPr>
          <a:xfrm>
            <a:off x="661475" y="3672185"/>
            <a:ext cx="10868745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859907" y="3837484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Path("data") / "scores.csv"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1475" y="4780062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용어</a:t>
            </a:r>
            <a:endParaRPr lang="ko-KR" sz="1950" dirty="0"/>
          </a:p>
        </p:txBody>
      </p:sp>
      <p:sp>
        <p:nvSpPr>
          <p:cNvPr id="19" name="Text 17"/>
          <p:cNvSpPr/>
          <p:nvPr/>
        </p:nvSpPr>
        <p:spPr>
          <a:xfrm>
            <a:off x="661475" y="5338167"/>
            <a:ext cx="10868745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Library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Python 설치 시 기본 제공되는 표준 라이브러리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여러 모듈을 묶은 구조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다른 모듈의 코드를 현재 프로그램에서 사용하도록 가져오는 문법</a:t>
            </a:r>
            <a:endParaRPr lang="ko-KR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71352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CSV 파일과 csv 모듈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736130"/>
            <a:ext cx="6296860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= </a:t>
            </a:r>
            <a:r>
              <a:rPr 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Comma-Separated Values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쉼표 등 구분자로 데이터를 행과 열 형태로 저장하는 텍스트 형식입니다.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233360" y="2802731"/>
            <a:ext cx="2946723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</a:t>
            </a:r>
            <a:endParaRPr lang="ko-KR" sz="1950" dirty="0"/>
          </a:p>
        </p:txBody>
      </p:sp>
      <p:sp>
        <p:nvSpPr>
          <p:cNvPr id="6" name="Shape 3"/>
          <p:cNvSpPr/>
          <p:nvPr/>
        </p:nvSpPr>
        <p:spPr>
          <a:xfrm>
            <a:off x="5233360" y="3298825"/>
            <a:ext cx="2946723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5431793" y="3464123"/>
            <a:ext cx="254985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name,score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홍길동,90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김영희,85</a:t>
            </a:r>
            <a:endParaRPr lang="ko-KR" sz="1300" dirty="0"/>
          </a:p>
        </p:txBody>
      </p:sp>
      <p:sp>
        <p:nvSpPr>
          <p:cNvPr id="8" name="Text 5"/>
          <p:cNvSpPr/>
          <p:nvPr/>
        </p:nvSpPr>
        <p:spPr>
          <a:xfrm>
            <a:off x="5233360" y="4609306"/>
            <a:ext cx="2946723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표준 라이브러리</a:t>
            </a:r>
            <a:endParaRPr lang="ko-KR" sz="1950" dirty="0"/>
          </a:p>
        </p:txBody>
      </p:sp>
      <p:sp>
        <p:nvSpPr>
          <p:cNvPr id="9" name="Shape 6"/>
          <p:cNvSpPr/>
          <p:nvPr/>
        </p:nvSpPr>
        <p:spPr>
          <a:xfrm>
            <a:off x="5233360" y="5105400"/>
            <a:ext cx="2946723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5431793" y="5270698"/>
            <a:ext cx="31594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70787" y="2637433"/>
            <a:ext cx="3184842" cy="3249216"/>
          </a:xfrm>
          <a:prstGeom prst="roundRect">
            <a:avLst>
              <a:gd name="adj" fmla="val 747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636082" y="2802731"/>
            <a:ext cx="285425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장점</a:t>
            </a:r>
            <a:endParaRPr lang="ko-KR" sz="1950" dirty="0"/>
          </a:p>
        </p:txBody>
      </p:sp>
      <p:sp>
        <p:nvSpPr>
          <p:cNvPr id="13" name="Text 10"/>
          <p:cNvSpPr/>
          <p:nvPr/>
        </p:nvSpPr>
        <p:spPr>
          <a:xfrm>
            <a:off x="8636082" y="3278088"/>
            <a:ext cx="2854254" cy="1174155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별도 설치가 필요 없습니다.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엑셀, 스프레드시트, 데이터 분석 도구와 교환하기 좋습니다.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이후 Pandas 학습의 기초가 됩니다.</a:t>
            </a:r>
            <a:endParaRPr lang="ko-KR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831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CSV 쓰기와 읽기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58392"/>
            <a:ext cx="523266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CSV 쓰기</a:t>
            </a:r>
            <a:endParaRPr lang="ko-KR" sz="1950" dirty="0"/>
          </a:p>
        </p:txBody>
      </p:sp>
      <p:sp>
        <p:nvSpPr>
          <p:cNvPr id="4" name="Shape 2"/>
          <p:cNvSpPr/>
          <p:nvPr/>
        </p:nvSpPr>
        <p:spPr>
          <a:xfrm>
            <a:off x="661475" y="2554486"/>
            <a:ext cx="5232666" cy="1918295"/>
          </a:xfrm>
          <a:prstGeom prst="roundRect">
            <a:avLst>
              <a:gd name="adj" fmla="val 776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719784"/>
            <a:ext cx="483580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open("scores.csv", "w", newline="", encoding="utf-8-sig") as file: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 = csv.writer(file)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writer.writerow(["name", "score"])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writer.writerow(["홍길동", 90])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058392"/>
            <a:ext cx="523266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CSV 읽기</a:t>
            </a:r>
            <a:endParaRPr lang="ko-KR" sz="1950" dirty="0"/>
          </a:p>
        </p:txBody>
      </p:sp>
      <p:sp>
        <p:nvSpPr>
          <p:cNvPr id="7" name="Shape 5"/>
          <p:cNvSpPr/>
          <p:nvPr/>
        </p:nvSpPr>
        <p:spPr>
          <a:xfrm>
            <a:off x="6303904" y="2554486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502337" y="2719784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open("scores.csv", "r", encoding="utf-8-sig") as file: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reader = csv.reader(file)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row in reader: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print(row)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4906863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newline=""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61475" y="546496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저장 시 불필요한 빈 줄 문제를 줄이는 데 사용합니다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en-US" altLang="ko-KR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(Windows OS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에서 발생</a:t>
            </a:r>
            <a:r>
              <a:rPr lang="en-US" altLang="ko-KR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ko-KR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249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실무형 구조: 파일 처리 기능을 함수로 분리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0992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함수에 모든 코드를 넣지 않습니다.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060575"/>
            <a:ext cx="10868745" cy="1918295"/>
          </a:xfrm>
          <a:prstGeom prst="roundRect">
            <a:avLst>
              <a:gd name="adj" fmla="val 776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225873"/>
            <a:ext cx="1047188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save_text(path, text):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read_text(path):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load_scores(path):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2415" y="4164905"/>
            <a:ext cx="5470785" cy="1930499"/>
          </a:xfrm>
          <a:prstGeom prst="roundRect">
            <a:avLst>
              <a:gd name="adj" fmla="val 1233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7710" y="4330204"/>
            <a:ext cx="514019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역할 분리의 장점</a:t>
            </a:r>
            <a:endParaRPr lang="ko-KR" sz="1950" dirty="0"/>
          </a:p>
        </p:txBody>
      </p:sp>
      <p:sp>
        <p:nvSpPr>
          <p:cNvPr id="8" name="Text 6"/>
          <p:cNvSpPr/>
          <p:nvPr/>
        </p:nvSpPr>
        <p:spPr>
          <a:xfrm>
            <a:off x="707710" y="4805561"/>
            <a:ext cx="5140196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수정 범위가 작아집니다.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테스트하기 쉽습니다.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중복 코드가 줄어듭니다.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다른 프로젝트에서 재사용하기 쉽습니다.</a:t>
            </a:r>
            <a:endParaRPr lang="ko-KR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4330204"/>
            <a:ext cx="523266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설계 원칙</a:t>
            </a:r>
            <a:endParaRPr lang="ko-KR" sz="1950" dirty="0"/>
          </a:p>
        </p:txBody>
      </p:sp>
      <p:sp>
        <p:nvSpPr>
          <p:cNvPr id="10" name="Text 8"/>
          <p:cNvSpPr/>
          <p:nvPr/>
        </p:nvSpPr>
        <p:spPr>
          <a:xfrm>
            <a:off x="6303904" y="4805561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하나의 함수는 하나의 주요 역할에 집중합니다.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0120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의사코드: 안전한 파일 읽기 프로그램</a:t>
            </a:r>
            <a:endParaRPr lang="ko-KR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158280"/>
            <a:ext cx="10868745" cy="550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1050"/>
              </a:spcAft>
              <a:buNone/>
            </a:pPr>
            <a:r>
              <a:rPr lang="ko-KR" altLang="en-US" sz="11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Pseudocode = 의사코드</a:t>
            </a:r>
            <a:endParaRPr lang="ko-KR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 프로그래밍 언어 문법보다 처리 절차에 집중해서 작성합니다.</a:t>
            </a:r>
            <a:endParaRPr lang="ko-KR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843088"/>
            <a:ext cx="10868745" cy="3205063"/>
          </a:xfrm>
          <a:prstGeom prst="roundRect">
            <a:avLst>
              <a:gd name="adj" fmla="val 394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30143" y="1983581"/>
            <a:ext cx="10531410" cy="2924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프로그램 시작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 경로를 준비한다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시도한다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파일을 읽기 모드로 연다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파일 내용을 읽는다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내용을 화면에 출력한다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파일이 없으면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사용자가 이해할 수 있는 오류 메시지를 출력한다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문자 인코딩 오류가 발생하면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인코딩을 확인하라는 메시지를 출력한다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마지막으로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작업 종료 메시지를 출력한다</a:t>
            </a:r>
            <a:endParaRPr lang="ko-KR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프로그램 종료</a:t>
            </a:r>
            <a:endParaRPr lang="ko-KR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5227340"/>
            <a:ext cx="1086874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의사코드 작성 목적</a:t>
            </a:r>
            <a:endParaRPr lang="ko-KR" sz="1650" dirty="0"/>
          </a:p>
        </p:txBody>
      </p:sp>
      <p:sp>
        <p:nvSpPr>
          <p:cNvPr id="7" name="Text 5"/>
          <p:cNvSpPr/>
          <p:nvPr/>
        </p:nvSpPr>
        <p:spPr>
          <a:xfrm>
            <a:off x="661475" y="5670054"/>
            <a:ext cx="10868745" cy="707727"/>
          </a:xfrm>
          <a:prstGeom prst="rect">
            <a:avLst/>
          </a:prstGeom>
          <a:noFill/>
          <a:ln/>
        </p:spPr>
        <p:txBody>
          <a:bodyPr wrap="square" lIns="0" tIns="56233" rIns="0" bIns="0" rtlCol="0" anchor="t">
            <a:normAutofit/>
          </a:bodyPr>
          <a:lstStyle/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구현 전에 흐름을 점검</a:t>
            </a:r>
            <a:endParaRPr lang="ko-KR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팀원과 로직 공유</a:t>
            </a:r>
            <a:endParaRPr lang="ko-KR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복잡한 문법보다 문제 해결 순서에 집중</a:t>
            </a:r>
            <a:endParaRPr lang="ko-KR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621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종합 실습: 안전한 파일 처리 프로그램</a:t>
            </a:r>
            <a:endParaRPr lang="ko-KR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01923"/>
            <a:ext cx="1086874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실습 흐름</a:t>
            </a:r>
            <a:endParaRPr lang="ko-KR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1508720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1475" y="1714401"/>
            <a:ext cx="538149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818580"/>
            <a:ext cx="53814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day7_data 폴더 만들기</a:t>
            </a:r>
            <a:endParaRPr lang="ko-KR" sz="1000" dirty="0"/>
          </a:p>
        </p:txBody>
      </p:sp>
      <p:sp>
        <p:nvSpPr>
          <p:cNvPr id="7" name="Text 5"/>
          <p:cNvSpPr/>
          <p:nvPr/>
        </p:nvSpPr>
        <p:spPr>
          <a:xfrm>
            <a:off x="6148730" y="1508720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48730" y="1714401"/>
            <a:ext cx="538149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6148730" y="1818580"/>
            <a:ext cx="53814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텍스트 파일 새로 저장하기</a:t>
            </a:r>
            <a:endParaRPr lang="ko-KR" sz="1000" dirty="0"/>
          </a:p>
        </p:txBody>
      </p:sp>
      <p:sp>
        <p:nvSpPr>
          <p:cNvPr id="10" name="Text 8"/>
          <p:cNvSpPr/>
          <p:nvPr/>
        </p:nvSpPr>
        <p:spPr>
          <a:xfrm>
            <a:off x="661475" y="2214066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1475" y="2419747"/>
            <a:ext cx="538149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2523927"/>
            <a:ext cx="53814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기존 파일에 학습 기록 추가하기</a:t>
            </a:r>
            <a:endParaRPr lang="ko-KR" sz="1000" dirty="0"/>
          </a:p>
        </p:txBody>
      </p:sp>
      <p:sp>
        <p:nvSpPr>
          <p:cNvPr id="13" name="Text 11"/>
          <p:cNvSpPr/>
          <p:nvPr/>
        </p:nvSpPr>
        <p:spPr>
          <a:xfrm>
            <a:off x="6148730" y="2214066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48730" y="2419747"/>
            <a:ext cx="538149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6148730" y="2523927"/>
            <a:ext cx="53814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전체와 줄 단위 읽기</a:t>
            </a:r>
            <a:endParaRPr lang="ko-KR" sz="1000" dirty="0"/>
          </a:p>
        </p:txBody>
      </p:sp>
      <p:sp>
        <p:nvSpPr>
          <p:cNvPr id="16" name="Text 14"/>
          <p:cNvSpPr/>
          <p:nvPr/>
        </p:nvSpPr>
        <p:spPr>
          <a:xfrm>
            <a:off x="661475" y="2919413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1475" y="3125093"/>
            <a:ext cx="538149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3229273"/>
            <a:ext cx="53814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존재하지 않는 파일 읽기 시도</a:t>
            </a:r>
            <a:endParaRPr lang="ko-KR" sz="1000" dirty="0"/>
          </a:p>
        </p:txBody>
      </p:sp>
      <p:sp>
        <p:nvSpPr>
          <p:cNvPr id="19" name="Text 17"/>
          <p:cNvSpPr/>
          <p:nvPr/>
        </p:nvSpPr>
        <p:spPr>
          <a:xfrm>
            <a:off x="6148730" y="2919413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48730" y="3125093"/>
            <a:ext cx="538149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6148730" y="3229273"/>
            <a:ext cx="53814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FileNotFoundError 처리</a:t>
            </a:r>
            <a:endParaRPr lang="ko-KR" sz="1000" dirty="0"/>
          </a:p>
        </p:txBody>
      </p:sp>
      <p:sp>
        <p:nvSpPr>
          <p:cNvPr id="22" name="Text 20"/>
          <p:cNvSpPr/>
          <p:nvPr/>
        </p:nvSpPr>
        <p:spPr>
          <a:xfrm>
            <a:off x="661475" y="3624759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1475" y="3830439"/>
            <a:ext cx="538149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3934619"/>
            <a:ext cx="53814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문자열을 숫자로 변환하면서 ValueError 처리</a:t>
            </a:r>
            <a:endParaRPr lang="ko-KR" sz="1000" dirty="0"/>
          </a:p>
        </p:txBody>
      </p:sp>
      <p:sp>
        <p:nvSpPr>
          <p:cNvPr id="25" name="Text 23"/>
          <p:cNvSpPr/>
          <p:nvPr/>
        </p:nvSpPr>
        <p:spPr>
          <a:xfrm>
            <a:off x="6148730" y="3624759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8730" y="3830439"/>
            <a:ext cx="538149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5"/>
          <p:cNvSpPr/>
          <p:nvPr/>
        </p:nvSpPr>
        <p:spPr>
          <a:xfrm>
            <a:off x="6148730" y="3934619"/>
            <a:ext cx="53814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파일 저장</a:t>
            </a:r>
            <a:endParaRPr lang="ko-KR" sz="1000" dirty="0"/>
          </a:p>
        </p:txBody>
      </p:sp>
      <p:sp>
        <p:nvSpPr>
          <p:cNvPr id="28" name="Text 26"/>
          <p:cNvSpPr/>
          <p:nvPr/>
        </p:nvSpPr>
        <p:spPr>
          <a:xfrm>
            <a:off x="661475" y="433010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1475" y="4535785"/>
            <a:ext cx="538149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4639965"/>
            <a:ext cx="53814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파일 읽기</a:t>
            </a:r>
            <a:endParaRPr lang="ko-KR" sz="1000" dirty="0"/>
          </a:p>
        </p:txBody>
      </p:sp>
      <p:sp>
        <p:nvSpPr>
          <p:cNvPr id="31" name="Text 29"/>
          <p:cNvSpPr/>
          <p:nvPr/>
        </p:nvSpPr>
        <p:spPr>
          <a:xfrm>
            <a:off x="6148730" y="433010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48730" y="4535785"/>
            <a:ext cx="538149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3" name="Text 31"/>
          <p:cNvSpPr/>
          <p:nvPr/>
        </p:nvSpPr>
        <p:spPr>
          <a:xfrm>
            <a:off x="6148730" y="4639965"/>
            <a:ext cx="53814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 평균 계산</a:t>
            </a:r>
            <a:endParaRPr lang="ko-KR" sz="1000" dirty="0"/>
          </a:p>
        </p:txBody>
      </p:sp>
      <p:sp>
        <p:nvSpPr>
          <p:cNvPr id="34" name="Text 32"/>
          <p:cNvSpPr/>
          <p:nvPr/>
        </p:nvSpPr>
        <p:spPr>
          <a:xfrm>
            <a:off x="661475" y="5035451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1475" y="5241131"/>
            <a:ext cx="538149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6" name="Text 34"/>
          <p:cNvSpPr/>
          <p:nvPr/>
        </p:nvSpPr>
        <p:spPr>
          <a:xfrm>
            <a:off x="661475" y="5345311"/>
            <a:ext cx="53814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처리 로직을 함수로 분리</a:t>
            </a:r>
            <a:endParaRPr lang="ko-KR" sz="1000" dirty="0"/>
          </a:p>
        </p:txBody>
      </p:sp>
      <p:sp>
        <p:nvSpPr>
          <p:cNvPr id="37" name="Text 35"/>
          <p:cNvSpPr/>
          <p:nvPr/>
        </p:nvSpPr>
        <p:spPr>
          <a:xfrm>
            <a:off x="6148730" y="5035451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48730" y="5241131"/>
            <a:ext cx="538149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9" name="Text 37"/>
          <p:cNvSpPr/>
          <p:nvPr/>
        </p:nvSpPr>
        <p:spPr>
          <a:xfrm>
            <a:off x="6148730" y="5345311"/>
            <a:ext cx="53814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표준 모듈 csv, pathlib 사용</a:t>
            </a:r>
            <a:endParaRPr lang="ko-KR" sz="1000" dirty="0"/>
          </a:p>
        </p:txBody>
      </p:sp>
      <p:sp>
        <p:nvSpPr>
          <p:cNvPr id="40" name="Shape 38"/>
          <p:cNvSpPr/>
          <p:nvPr/>
        </p:nvSpPr>
        <p:spPr>
          <a:xfrm>
            <a:off x="661475" y="5754092"/>
            <a:ext cx="10868745" cy="457597"/>
          </a:xfrm>
          <a:prstGeom prst="roundRect">
            <a:avLst>
              <a:gd name="adj" fmla="val 26023"/>
            </a:avLst>
          </a:prstGeom>
          <a:solidFill>
            <a:srgbClr val="E1E1EA"/>
          </a:solidFill>
          <a:ln/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5910461"/>
            <a:ext cx="165294" cy="132259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091280" y="5892899"/>
            <a:ext cx="1091627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오늘의 핵심 산출물: </a:t>
            </a:r>
            <a:r>
              <a:rPr lang="ko-KR" alt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오류가 발생해도 이유를 안내하고 다음 작업을 계속 수행하는 파일 처리 프로그램</a:t>
            </a:r>
            <a:endParaRPr lang="ko-KR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760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테스트·과제·리뷰</a:t>
            </a:r>
            <a:endParaRPr lang="ko-KR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90650"/>
            <a:ext cx="5262927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단답형 테스트</a:t>
            </a:r>
            <a:endParaRPr lang="ko-KR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773634"/>
            <a:ext cx="5262927" cy="1457226"/>
          </a:xfrm>
          <a:prstGeom prst="rect">
            <a:avLst/>
          </a:prstGeom>
          <a:noFill/>
          <a:ln/>
        </p:spPr>
        <p:txBody>
          <a:bodyPr wrap="square" lIns="0" tIns="56233" rIns="0" bIns="0" rtlCol="0" anchor="t">
            <a:normAutofit/>
          </a:bodyPr>
          <a:lstStyle/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I/O 핵심 용어</a:t>
            </a:r>
            <a:endParaRPr lang="ko-KR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r, w, a 모드 차이</a:t>
            </a:r>
            <a:endParaRPr lang="ko-KR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open()의 목적</a:t>
            </a:r>
            <a:endParaRPr lang="ko-KR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try-except-else-finally 실행 흐름</a:t>
            </a:r>
            <a:endParaRPr lang="ko-KR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Module과 import</a:t>
            </a:r>
            <a:endParaRPr lang="ko-KR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처리 기초</a:t>
            </a:r>
            <a:endParaRPr lang="ko-KR" sz="1100" dirty="0"/>
          </a:p>
        </p:txBody>
      </p:sp>
      <p:sp>
        <p:nvSpPr>
          <p:cNvPr id="5" name="Text 3"/>
          <p:cNvSpPr/>
          <p:nvPr/>
        </p:nvSpPr>
        <p:spPr>
          <a:xfrm>
            <a:off x="6273643" y="1390650"/>
            <a:ext cx="5262927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과제 단계</a:t>
            </a:r>
            <a:endParaRPr lang="ko-KR" sz="1650" dirty="0"/>
          </a:p>
        </p:txBody>
      </p:sp>
      <p:sp>
        <p:nvSpPr>
          <p:cNvPr id="6" name="Text 4"/>
          <p:cNvSpPr/>
          <p:nvPr/>
        </p:nvSpPr>
        <p:spPr>
          <a:xfrm>
            <a:off x="6273643" y="1773634"/>
            <a:ext cx="5262927" cy="707727"/>
          </a:xfrm>
          <a:prstGeom prst="rect">
            <a:avLst/>
          </a:prstGeom>
          <a:noFill/>
          <a:ln/>
        </p:spPr>
        <p:txBody>
          <a:bodyPr wrap="square" lIns="0" tIns="56233" rIns="0" bIns="0" rtlCol="0" anchor="t">
            <a:normAutofit/>
          </a:bodyPr>
          <a:lstStyle/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Basic</a:t>
            </a: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텍스트 학습 기록 저장·읽기</a:t>
            </a:r>
            <a:endParaRPr lang="ko-KR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</a:t>
            </a: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CSV 성적 파일을 안전하게 읽고 통계 계산</a:t>
            </a:r>
            <a:endParaRPr lang="ko-KR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</a:t>
            </a: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CSV 처리 기능을 함수와 모듈 구조로 분리하고 오류 메시지 개선</a:t>
            </a:r>
            <a:endParaRPr lang="ko-KR" sz="1100" dirty="0"/>
          </a:p>
        </p:txBody>
      </p:sp>
      <p:sp>
        <p:nvSpPr>
          <p:cNvPr id="7" name="Shape 5"/>
          <p:cNvSpPr/>
          <p:nvPr/>
        </p:nvSpPr>
        <p:spPr>
          <a:xfrm>
            <a:off x="661475" y="3406973"/>
            <a:ext cx="10868745" cy="713284"/>
          </a:xfrm>
          <a:prstGeom prst="roundRect">
            <a:avLst>
              <a:gd name="adj" fmla="val 17738"/>
            </a:avLst>
          </a:prstGeom>
          <a:solidFill>
            <a:srgbClr val="E1E1E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65" y="3578324"/>
            <a:ext cx="175712" cy="1404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8167" y="3561556"/>
            <a:ext cx="10271563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 반드시 설명할 수 있어야 하는 문장: "파일 입출력은 프로그램 밖에 데이터를 저장하고 다시 읽는 기능이며, 예외 처리는 예상 가능한 오류 상황에서도 </a:t>
            </a:r>
            <a:endParaRPr lang="en-US" altLang="ko-KR" sz="1100" dirty="0" smtClean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23000"/>
              </a:lnSpc>
              <a:buNone/>
            </a:pPr>
            <a:r>
              <a:rPr lang="ko-KR" altLang="en-US" sz="1100" dirty="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프로그램이 </a:t>
            </a:r>
            <a:r>
              <a:rPr lang="ko-KR" alt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안전하게 대응하도록 만드는 방법입니다."</a:t>
            </a:r>
            <a:endParaRPr lang="ko-KR" sz="1100" dirty="0"/>
          </a:p>
        </p:txBody>
      </p:sp>
      <p:sp>
        <p:nvSpPr>
          <p:cNvPr id="10" name="Text 7"/>
          <p:cNvSpPr/>
          <p:nvPr/>
        </p:nvSpPr>
        <p:spPr>
          <a:xfrm>
            <a:off x="661475" y="4299446"/>
            <a:ext cx="1086874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다음 학습 예고</a:t>
            </a:r>
            <a:endParaRPr lang="ko-KR" sz="1650" dirty="0"/>
          </a:p>
        </p:txBody>
      </p:sp>
      <p:sp>
        <p:nvSpPr>
          <p:cNvPr id="11" name="Shape 8"/>
          <p:cNvSpPr/>
          <p:nvPr/>
        </p:nvSpPr>
        <p:spPr>
          <a:xfrm>
            <a:off x="661475" y="4742160"/>
            <a:ext cx="3543211" cy="500559"/>
          </a:xfrm>
          <a:prstGeom prst="roundRect">
            <a:avLst>
              <a:gd name="adj" fmla="val 25277"/>
            </a:avLst>
          </a:prstGeom>
          <a:solidFill>
            <a:srgbClr val="FFFFFF"/>
          </a:solidFill>
          <a:ln/>
          <a:effectLst>
            <a:outerShdw blurRad="2108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1965" y="4882654"/>
            <a:ext cx="326223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클래스(Class)</a:t>
            </a:r>
            <a:endParaRPr lang="ko-KR" sz="1350" dirty="0"/>
          </a:p>
        </p:txBody>
      </p:sp>
      <p:sp>
        <p:nvSpPr>
          <p:cNvPr id="13" name="Shape 10"/>
          <p:cNvSpPr/>
          <p:nvPr/>
        </p:nvSpPr>
        <p:spPr>
          <a:xfrm>
            <a:off x="4324143" y="4742160"/>
            <a:ext cx="3543311" cy="500559"/>
          </a:xfrm>
          <a:prstGeom prst="roundRect">
            <a:avLst>
              <a:gd name="adj" fmla="val 25277"/>
            </a:avLst>
          </a:prstGeom>
          <a:solidFill>
            <a:srgbClr val="FFFFFF"/>
          </a:solidFill>
          <a:ln/>
          <a:effectLst>
            <a:outerShdw blurRad="2108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64633" y="4882654"/>
            <a:ext cx="326233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객체(Object)</a:t>
            </a:r>
            <a:endParaRPr lang="ko-KR" sz="1350" dirty="0"/>
          </a:p>
        </p:txBody>
      </p:sp>
      <p:sp>
        <p:nvSpPr>
          <p:cNvPr id="15" name="Shape 12"/>
          <p:cNvSpPr/>
          <p:nvPr/>
        </p:nvSpPr>
        <p:spPr>
          <a:xfrm>
            <a:off x="7986910" y="4742160"/>
            <a:ext cx="3543311" cy="500559"/>
          </a:xfrm>
          <a:prstGeom prst="roundRect">
            <a:avLst>
              <a:gd name="adj" fmla="val 25277"/>
            </a:avLst>
          </a:prstGeom>
          <a:solidFill>
            <a:srgbClr val="FFFFFF"/>
          </a:solidFill>
          <a:ln/>
          <a:effectLst>
            <a:outerShdw blurRad="2108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127400" y="4882654"/>
            <a:ext cx="326233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인스턴스(Instance)</a:t>
            </a:r>
            <a:endParaRPr lang="ko-KR" sz="1350" dirty="0"/>
          </a:p>
        </p:txBody>
      </p:sp>
      <p:sp>
        <p:nvSpPr>
          <p:cNvPr id="17" name="Shape 14"/>
          <p:cNvSpPr/>
          <p:nvPr/>
        </p:nvSpPr>
        <p:spPr>
          <a:xfrm>
            <a:off x="661475" y="5362178"/>
            <a:ext cx="5374644" cy="500559"/>
          </a:xfrm>
          <a:prstGeom prst="roundRect">
            <a:avLst>
              <a:gd name="adj" fmla="val 25277"/>
            </a:avLst>
          </a:prstGeom>
          <a:solidFill>
            <a:srgbClr val="FFFFFF"/>
          </a:solidFill>
          <a:ln/>
          <a:effectLst>
            <a:outerShdw blurRad="2108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1965" y="5502672"/>
            <a:ext cx="50936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속성(Attribute)</a:t>
            </a:r>
            <a:endParaRPr lang="ko-KR" sz="1350" dirty="0"/>
          </a:p>
        </p:txBody>
      </p:sp>
      <p:sp>
        <p:nvSpPr>
          <p:cNvPr id="19" name="Shape 16"/>
          <p:cNvSpPr/>
          <p:nvPr/>
        </p:nvSpPr>
        <p:spPr>
          <a:xfrm>
            <a:off x="6155576" y="5362178"/>
            <a:ext cx="5374644" cy="500559"/>
          </a:xfrm>
          <a:prstGeom prst="roundRect">
            <a:avLst>
              <a:gd name="adj" fmla="val 25277"/>
            </a:avLst>
          </a:prstGeom>
          <a:solidFill>
            <a:srgbClr val="FFFFFF"/>
          </a:solidFill>
          <a:ln/>
          <a:effectLst>
            <a:outerShdw blurRad="2108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296066" y="5502672"/>
            <a:ext cx="50936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메서드(Method)</a:t>
            </a:r>
            <a:endParaRPr lang="ko-KR" sz="1350" dirty="0"/>
          </a:p>
        </p:txBody>
      </p:sp>
      <p:sp>
        <p:nvSpPr>
          <p:cNvPr id="21" name="Text 18"/>
          <p:cNvSpPr/>
          <p:nvPr/>
        </p:nvSpPr>
        <p:spPr>
          <a:xfrm>
            <a:off x="661475" y="5997079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지금까지의 Python 문법을 하나의 프로그램으로 통합</a:t>
            </a:r>
            <a:endParaRPr lang="ko-KR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1980</Words>
  <Application>Microsoft Office PowerPoint</Application>
  <PresentationFormat>와이드스크린</PresentationFormat>
  <Paragraphs>445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4" baseType="lpstr">
      <vt:lpstr>Inter Bold</vt:lpstr>
      <vt:lpstr>Inter</vt:lpstr>
      <vt:lpstr>Calibri</vt:lpstr>
      <vt:lpstr>Consolas</vt:lpstr>
      <vt:lpstr>Inter Light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Administrator</dc:creator>
  <cp:lastModifiedBy>Windows 사용자</cp:lastModifiedBy>
  <cp:revision>3</cp:revision>
  <dcterms:created xsi:type="dcterms:W3CDTF">2026-08-28T07:21:11Z</dcterms:created>
  <dcterms:modified xsi:type="dcterms:W3CDTF">2026-08-28T07:28:17Z</dcterms:modified>
</cp:coreProperties>
</file>