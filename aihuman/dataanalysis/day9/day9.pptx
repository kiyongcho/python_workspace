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embeddedFontLst>
    <p:embeddedFont>
      <p:font typeface="Inter" panose="02000503000000020004" pitchFamily="2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Inter Bold" panose="02000503000000020004" pitchFamily="2" charset="0"/>
      <p:regular r:id="rId38"/>
      <p:bold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맑은 고딕" panose="020B0503020000020004" pitchFamily="50" charset="-127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40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5-6.svg"/><Relationship Id="rId3" Type="http://schemas.openxmlformats.org/officeDocument/2006/relationships/image" Target="../media/image6.png"/><Relationship Id="rId7" Type="http://schemas.openxmlformats.org/officeDocument/2006/relationships/image" Target="../media/image-25-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-25-2.svg"/><Relationship Id="rId4" Type="http://schemas.openxmlformats.org/officeDocument/2006/relationships/image" Target="../media/image-25-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74280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과정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325614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9일차</a:t>
            </a:r>
            <a:endParaRPr lang="ko-KR" sz="2600" dirty="0"/>
          </a:p>
        </p:txBody>
      </p:sp>
      <p:sp>
        <p:nvSpPr>
          <p:cNvPr id="5" name="Text 2"/>
          <p:cNvSpPr/>
          <p:nvPr/>
        </p:nvSpPr>
        <p:spPr>
          <a:xfrm>
            <a:off x="5233360" y="4104396"/>
            <a:ext cx="62968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전처리 및 시각화 - NumPy 배열과 벡터 연산</a:t>
            </a:r>
            <a:endParaRPr lang="ko-KR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9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58330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5893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615182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NumPy가 필요한 이유를 Python 리스트와 비교해 설명할 수 있습니다.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26109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29210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3179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ndarray의 차원, 크기, 형태(shape), 자료형(dtype)을 확인할 수 있습니다.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29638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29948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02071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1차원·2차원 배열을 생성하고 원하는 위치의 값을 조회할 수 있습니다.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36666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36976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372348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슬라이싱과 조건 인덱싱으로 필요한 데이터만 추출할 수 있습니다.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3693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4004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4262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배열 간 산술 연산과 스칼라 연산을 벡터 연산으로 수행할 수 있습니다.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0721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1031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1290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axis를 사용해 행·열 방향의 합계와 평균을 계산할 수 있습니다.</a:t>
            </a:r>
            <a:endParaRPr lang="ko-KR" sz="1600" dirty="0"/>
          </a:p>
        </p:txBody>
      </p:sp>
      <p:sp>
        <p:nvSpPr>
          <p:cNvPr id="21" name="Shape 19"/>
          <p:cNvSpPr/>
          <p:nvPr/>
        </p:nvSpPr>
        <p:spPr>
          <a:xfrm>
            <a:off x="661475" y="57749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3485" y="58059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8830" y="58317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배열 형태를 reshape()로 변경하고 분석에 필요한 구조로 변환할 수 있습니다.</a:t>
            </a:r>
            <a:endParaRPr 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50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 </a:t>
            </a:r>
            <a:r>
              <a:rPr lang="en-US" altLang="ko-KR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</a:t>
            </a: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</a:t>
            </a:r>
            <a:r>
              <a:rPr lang="ko-KR" altLang="en-US" sz="3250" b="1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분석의 </a:t>
            </a: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출발점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2243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기본 문법에서는 하나의 값 또는 여러 값을 리스트·딕셔너리로 다뤘습니다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분석에서는 수백 개에서 수백만 개의 숫자를 반복적으로 계산해야 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237706"/>
            <a:ext cx="5470785" cy="1945184"/>
          </a:xfrm>
          <a:prstGeom prst="roundRect">
            <a:avLst>
              <a:gd name="adj" fmla="val 1224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40300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826768"/>
            <a:ext cx="514019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1,000명의 성적 평균 계산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센서 10만 건의 측정값 변환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이미지 픽셀의 밝기 조절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머신러닝 입력 데이터의 수치 변환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386534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이런 작업에서 NumPy는 많은 숫자를 배열 형태로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저장하고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빠르게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계산하는 핵심 도구입니다.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408106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흐름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4504829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문법 → NumPy 배열 → Pandas DataFrame → 시각화 → 머신러닝/딥러닝</a:t>
            </a:r>
            <a:endParaRPr lang="ko-KR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7385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란?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938635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 = Numerical Python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2538115"/>
            <a:ext cx="2946723" cy="2612926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Python에서 수치 계산을 효율적으로 수행하기 위한 라이브러리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자료구조는 ndarray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다차원 배열을 지원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반복문을 직접 작성하지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않고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배열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전체에 연산 가능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Pandas, Matplotlib, scikit-learn, TensorFlow, PyTorch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등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·AI 라이브러리의 기반</a:t>
            </a:r>
            <a:endParaRPr lang="ko-KR" sz="1300" dirty="0"/>
          </a:p>
        </p:txBody>
      </p:sp>
      <p:sp>
        <p:nvSpPr>
          <p:cNvPr id="6" name="Text 3"/>
          <p:cNvSpPr/>
          <p:nvPr/>
        </p:nvSpPr>
        <p:spPr>
          <a:xfrm>
            <a:off x="4017961" y="2554585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설치</a:t>
            </a:r>
            <a:endParaRPr lang="ko-KR" sz="1600" dirty="0"/>
          </a:p>
        </p:txBody>
      </p:sp>
      <p:sp>
        <p:nvSpPr>
          <p:cNvPr id="7" name="Shape 4"/>
          <p:cNvSpPr/>
          <p:nvPr/>
        </p:nvSpPr>
        <p:spPr>
          <a:xfrm>
            <a:off x="4017961" y="2999085"/>
            <a:ext cx="2946723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4216394" y="3164384"/>
            <a:ext cx="31594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17961" y="3780334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불러오기</a:t>
            </a:r>
            <a:endParaRPr lang="ko-KR" sz="1600" dirty="0"/>
          </a:p>
        </p:txBody>
      </p:sp>
      <p:sp>
        <p:nvSpPr>
          <p:cNvPr id="10" name="Shape 7"/>
          <p:cNvSpPr/>
          <p:nvPr/>
        </p:nvSpPr>
        <p:spPr>
          <a:xfrm>
            <a:off x="4017961" y="4224834"/>
            <a:ext cx="2946723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4216394" y="4390132"/>
            <a:ext cx="31594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17961" y="5006082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관례적으로 numpy를 np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라는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별칭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(alias)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018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</a:t>
            </a: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 정리</a:t>
            </a:r>
            <a:endParaRPr lang="ko-KR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375396"/>
              </p:ext>
            </p:extLst>
          </p:nvPr>
        </p:nvGraphicFramePr>
        <p:xfrm>
          <a:off x="661475" y="1243211"/>
          <a:ext cx="10868745" cy="5091779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용어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영문/표기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설명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NumPy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Numerical Python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수치 계산용 Python 라이브러리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Array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같은 성격의 </a:t>
                      </a: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데이터를 </a:t>
                      </a: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순서대로</a:t>
                      </a: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저장한 구조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다차원 배열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ndarray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NumPy의 핵심 배열 객체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차원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Dimension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배열을 표현하기 위해 필요한 축의 개수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축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Axis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배열을 계산하거나 집계하는 방향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shape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각 축에 몇 개의 원소가 있는지 나타내는 튜플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차원 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ndim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배열이 몇 차원인지 나타내는 정수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자료형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dtype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 내부 원소의 데이터 타입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원소 개수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size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배열에 포함된 전체 원소 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벡터 연산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Vectorized Operation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반복문 없이 배열 전체에 한 번에 수행하는 연산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290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브로드캐스팅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Broadcasting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서로 다른 shape의 배열을 일정 규칙에 </a:t>
                      </a:r>
                      <a:r>
                        <a:rPr lang="en-US" sz="115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따라 </a:t>
                      </a:r>
                      <a:endParaRPr lang="en-US" sz="1150" smtClean="0">
                        <a:solidFill>
                          <a:srgbClr val="3C3939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smtClean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연산 </a:t>
                      </a: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가능하게 확장하는 기능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98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리스트와 NumPy 배열 비교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1988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리스트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364383"/>
            <a:ext cx="5232666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529681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[70, 85, 90, 95]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result.append(score + 5)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191988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 배열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2364383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2529681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np.array([70, 85, 90, 95])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 + 5)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45214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차이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661475" y="4958655"/>
            <a:ext cx="10868745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리스트의 +는 연결(concatenation)에 사용될 수 있음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배열의 +는 원소별 산술 연산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NumPy는 동일 자료형 중심으로 메모리를 연속적으로 관리하여 수치 계산에 적합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42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ndarray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생성 - np.array()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0163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 기본적인 배열 생성 방법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38326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803624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np.array([70, 85, 90, 95])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print(type(scores))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2134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 예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4657923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4823222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[70 85 90 95]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'numpy.ndarray'&gt;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61758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2차원 배열</a:t>
            </a:r>
            <a:endParaRPr lang="ko-KR" sz="1600" dirty="0"/>
          </a:p>
        </p:txBody>
      </p:sp>
      <p:sp>
        <p:nvSpPr>
          <p:cNvPr id="10" name="Shape 8"/>
          <p:cNvSpPr/>
          <p:nvPr/>
        </p:nvSpPr>
        <p:spPr>
          <a:xfrm>
            <a:off x="6303904" y="3062089"/>
            <a:ext cx="5232666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02337" y="3227388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scores2 = np.array([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[80, 90, 85],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[70, 75, 95],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[88, 92, 90]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08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배열 </a:t>
            </a: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생성 주요 함수</a:t>
            </a:r>
            <a:endParaRPr lang="ko-KR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703187"/>
              </p:ext>
            </p:extLst>
          </p:nvPr>
        </p:nvGraphicFramePr>
        <p:xfrm>
          <a:off x="661475" y="1569552"/>
          <a:ext cx="10868745" cy="3241594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함수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용도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np.array()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리스트·튜플 등을 배열로 변환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np.array([1, 2, 3])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np.arange()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일정 간격의 연속 값 생성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np.arange(0, 10, 2)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np.linspace()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구간을 동일 간격으로 나눔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np.linspace(0, 1, 5)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np.zeros()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0으로 채운 배열 생성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np.zeros((2, 3))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np.ones()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1로 채운 배열 생성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np.ones((2, 3))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np.full()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지정 값으로 채운 배열 생성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np.full((2, 2), 7)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np.eye()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단위행렬 생성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np.eye(3)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666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배열의 </a:t>
            </a: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구조 확인 - shape, ndim, size, dtype</a:t>
            </a:r>
            <a:endParaRPr lang="ko-KR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1547316"/>
            <a:ext cx="5242687" cy="2576909"/>
          </a:xfrm>
          <a:prstGeom prst="roundRect">
            <a:avLst>
              <a:gd name="adj" fmla="val 548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49986" y="1704380"/>
            <a:ext cx="4865665" cy="2262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[10, 20, 30],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[40, 50, 60]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print(arr.shape)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print(arr.ndim)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print(arr.size)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print(arr.dtype)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4292104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 예</a:t>
            </a:r>
            <a:endParaRPr lang="ko-KR" sz="1500" dirty="0"/>
          </a:p>
        </p:txBody>
      </p:sp>
      <p:sp>
        <p:nvSpPr>
          <p:cNvPr id="6" name="Shape 4"/>
          <p:cNvSpPr/>
          <p:nvPr/>
        </p:nvSpPr>
        <p:spPr>
          <a:xfrm>
            <a:off x="661475" y="4705548"/>
            <a:ext cx="5242687" cy="1319808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49986" y="4862612"/>
            <a:ext cx="4865665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smtClean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</a:t>
            </a:r>
            <a:r>
              <a:rPr lang="en-US" altLang="ko-KR" sz="1200" smtClean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180677" y="1379438"/>
            <a:ext cx="5469098" cy="4813796"/>
          </a:xfrm>
          <a:prstGeom prst="roundRect">
            <a:avLst>
              <a:gd name="adj" fmla="val 470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37737" y="1528663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해석</a:t>
            </a:r>
            <a:endParaRPr lang="ko-KR" sz="1500" dirty="0"/>
          </a:p>
        </p:txBody>
      </p:sp>
      <p:sp>
        <p:nvSpPr>
          <p:cNvPr id="10" name="Text 8"/>
          <p:cNvSpPr/>
          <p:nvPr/>
        </p:nvSpPr>
        <p:spPr>
          <a:xfrm>
            <a:off x="6337737" y="1923455"/>
            <a:ext cx="5154980" cy="1137245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(2, 3) : 2행 3열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ndim 2 : 2차원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6 : 전체 원소 6개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dtype : 배열 내부 원소의 자료형</a:t>
            </a:r>
            <a:endParaRPr lang="ko-KR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264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dtype</a:t>
            </a:r>
            <a:endParaRPr lang="ko-KR" sz="3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50070"/>
          <a:ext cx="10868745" cy="288620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dtype 계열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int8, int16, int32, int64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정수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점수, 개수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uint8 등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부호 없는 정수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이미지 픽셀 0~255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float32, float64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실수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평균, 센서값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참/거짓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조건 결과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str_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문자열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문자 데이터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60037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 지정</a:t>
            </a:r>
            <a:endParaRPr lang="ko-KR" sz="1600" dirty="0"/>
          </a:p>
        </p:txBody>
      </p:sp>
      <p:sp>
        <p:nvSpPr>
          <p:cNvPr id="5" name="Shape 2"/>
          <p:cNvSpPr/>
          <p:nvPr/>
        </p:nvSpPr>
        <p:spPr>
          <a:xfrm>
            <a:off x="661475" y="5044877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59907" y="5210175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np.array([1, 2, 3], dtype=np.float64)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print(arr.dtype)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3904" y="460037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 변환</a:t>
            </a:r>
            <a:endParaRPr lang="ko-KR" sz="1600" dirty="0"/>
          </a:p>
        </p:txBody>
      </p:sp>
      <p:sp>
        <p:nvSpPr>
          <p:cNvPr id="8" name="Shape 5"/>
          <p:cNvSpPr/>
          <p:nvPr/>
        </p:nvSpPr>
        <p:spPr>
          <a:xfrm>
            <a:off x="6303904" y="5044877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02337" y="5210175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converted = arr.astype(np.int32)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6626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 </a:t>
            </a: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상수</a:t>
            </a:r>
            <a:endParaRPr lang="ko-KR" sz="3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56010"/>
          <a:ext cx="10868745" cy="2652844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np.pi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원주율 π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np.pi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자연상수 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np.inf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무한대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np.inf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np.nan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숫자가 아닌 값/결측 표현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np.nan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np.newaxis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새 축을 추가할 때 사용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arr[:, np.newaxis]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238724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</a:t>
            </a:r>
            <a:endParaRPr lang="ko-KR" sz="1500" dirty="0"/>
          </a:p>
        </p:txBody>
      </p:sp>
      <p:sp>
        <p:nvSpPr>
          <p:cNvPr id="5" name="Shape 2"/>
          <p:cNvSpPr/>
          <p:nvPr/>
        </p:nvSpPr>
        <p:spPr>
          <a:xfrm>
            <a:off x="661475" y="4652169"/>
            <a:ext cx="5242687" cy="157122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49986" y="4809232"/>
            <a:ext cx="4865665" cy="125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print(np.pi)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print(np.e)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print(np.inf)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print(np.nan)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93883" y="4652169"/>
            <a:ext cx="5242687" cy="1571228"/>
          </a:xfrm>
          <a:prstGeom prst="roundRect">
            <a:avLst>
              <a:gd name="adj" fmla="val 16887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117" y="4874004"/>
            <a:ext cx="196349" cy="157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04350" y="4836343"/>
            <a:ext cx="5387649" cy="1421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참고 </a:t>
            </a:r>
            <a:endParaRPr lang="en-US" altLang="ko-KR" sz="1200" smtClean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np.nan </a:t>
            </a:r>
            <a:r>
              <a:rPr lang="ko-KR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== np.nan은 False입니다</a:t>
            </a:r>
            <a:r>
              <a:rPr lang="ko-KR" altLang="en-US" sz="12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altLang="ko-KR" sz="1200" smtClean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결측 </a:t>
            </a:r>
            <a:r>
              <a:rPr lang="ko-KR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여부 확인에는 np.isnan()을 사용합니다.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08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차원 배열 인덱싱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371626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536924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np.array([10, 20, 30, 40, 50])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print(arr[2])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print(arr[-1])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9467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값 변경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4391223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59907" y="4556522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arr[1] = 99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2185591"/>
            <a:ext cx="5470785" cy="3251498"/>
          </a:xfrm>
          <a:prstGeom prst="roundRect">
            <a:avLst>
              <a:gd name="adj" fmla="val 732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235088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6350139" y="2774652"/>
            <a:ext cx="514019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인덱스는 0부터 시작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음수 인덱스로 뒤에서 접근 가능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리스트의 인덱싱 규칙과 유사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13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차원 배열 인덱싱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262188"/>
            <a:ext cx="5232666" cy="2447528"/>
          </a:xfrm>
          <a:prstGeom prst="roundRect">
            <a:avLst>
              <a:gd name="adj" fmla="val 608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427486"/>
            <a:ext cx="483580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[10, 20, 30],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[40, 50, 60],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[70, 80, 90]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print(arr[0, 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print(arr[1, 2])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print(arr[2, 1])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224145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의미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266521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arr[행 인덱스, 열 인덱스]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0951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행 전체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03904" y="3539629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02337" y="3704927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print(arr[1])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32087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특정 열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6303904" y="4765377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502337" y="4930676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print(arr[:, 1])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58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슬라이싱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9590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1차원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640409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805708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np.array([10, 20, 30, 40, 50, 60])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print(arr[1:4])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print(arr[:3])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print(arr[::2])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19590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2차원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2640409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2805708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np.array([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[1,  2,  3,  4],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[5,  6,  7,  8],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[9, 10, 11, 12]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print(matrix[0:2, 1:3])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4930775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70488"/>
            <a:ext cx="206667" cy="1652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8731" y="513734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슬라이싱 구조: 배열[시작:끝:간격] — 끝 인덱스는 포함되지 않습니다.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5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인덱싱(Boolean Indexing)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2102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조건에 맞는 데이터만 추출할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57710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323009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np.array([55, 70, 82, 91, 68, 88])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 = scores &gt;= 80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print(condition)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print(scores[condition])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73280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 줄로 표현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4177308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4342606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print(scores[scores &gt;= 80])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95855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조건</a:t>
            </a:r>
            <a:endParaRPr lang="ko-KR" sz="1600" dirty="0"/>
          </a:p>
        </p:txBody>
      </p:sp>
      <p:sp>
        <p:nvSpPr>
          <p:cNvPr id="10" name="Shape 8"/>
          <p:cNvSpPr/>
          <p:nvPr/>
        </p:nvSpPr>
        <p:spPr>
          <a:xfrm>
            <a:off x="661475" y="5403056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59907" y="5568355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print(scores[(scores &gt;= 70) &amp; (scores &lt; 90)])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4844" y="1971675"/>
            <a:ext cx="5470785" cy="4212630"/>
          </a:xfrm>
          <a:prstGeom prst="roundRect">
            <a:avLst>
              <a:gd name="adj" fmla="val 565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50139" y="2157710"/>
            <a:ext cx="5140196" cy="909439"/>
          </a:xfrm>
          <a:prstGeom prst="roundRect">
            <a:avLst>
              <a:gd name="adj" fmla="val 16367"/>
            </a:avLst>
          </a:prstGeom>
          <a:solidFill>
            <a:srgbClr val="4B3F0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33" y="2410123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87395" y="2347813"/>
            <a:ext cx="443764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주의 NumPy 배열의 복합 조건에서는 and, or </a:t>
            </a:r>
            <a:r>
              <a:rPr lang="ko-KR" altLang="en-US" sz="13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대신 </a:t>
            </a:r>
            <a:endParaRPr lang="en-US" altLang="ko-KR" sz="130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&amp;, 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|를 사용하고 각 조건을 괄호로 묶는 것이 안전합니다.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74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벡터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698254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863552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np.array([10, 20, 30, 40])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 + 5)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 - 3)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 * 2)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 / 10)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 ** 2)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267751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두 배열 연산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303904" y="3122017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502337" y="3287316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 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4697115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위치의 원소끼리 연산됩니다.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89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벡터화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(Vectorization)의 의미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3905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일반 반복문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583557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48855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value in values: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result.append(value * 1.1)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1586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 벡터 연산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4603155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4768453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np.array([10, 20, 30, 40])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values * 1.1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1973759"/>
            <a:ext cx="5470785" cy="3675261"/>
          </a:xfrm>
          <a:prstGeom prst="roundRect">
            <a:avLst>
              <a:gd name="adj" fmla="val 648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213905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장점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2562820"/>
            <a:ext cx="514019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코드가 짧고 의도가 명확함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대량 수치 계산에 적합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내부의 최적화된 연산을 활용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350139" y="3621187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분석에서 가능한 한 배열 연산을 우선 고려합니다.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94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집계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61957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altLang="ko-KR" sz="160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 </a:t>
            </a:r>
            <a:r>
              <a:rPr lang="ko-KR" altLang="en-US" sz="160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</a:t>
            </a: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방식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064073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229372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np.array([70, 85, 90, 95, 80])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print(np.sum(scores))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print(np.mean(scores))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print(np.max(scores))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print(np.min(scores))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print(np.std(scores))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61957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ndarray </a:t>
            </a:r>
            <a:r>
              <a:rPr lang="ko-KR" altLang="en-US" sz="1600" b="1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메서드 </a:t>
            </a:r>
            <a:r>
              <a:rPr lang="ko-KR" altLang="en-US" sz="160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방식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3064073"/>
            <a:ext cx="5232666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3229372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print(scores.sum())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print(scores.mean())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print(scores.max())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print(scores.min())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print(scores.std())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1804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axis</a:t>
            </a: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 개념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59694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2차원 배열</a:t>
            </a:r>
            <a:endParaRPr lang="ko-KR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713607"/>
            <a:ext cx="5262927" cy="1405632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30143" y="1854101"/>
            <a:ext cx="4925592" cy="112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[80, 90, 85],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[70, 75, 95],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[88, 92, 90]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3253581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전체 평균</a:t>
            </a:r>
            <a:endParaRPr lang="ko-KR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3607495"/>
            <a:ext cx="5262927" cy="505916"/>
          </a:xfrm>
          <a:prstGeom prst="roundRect">
            <a:avLst>
              <a:gd name="adj" fmla="val 2500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30143" y="3747988"/>
            <a:ext cx="553517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print(scores.mean())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4247753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열별 평균</a:t>
            </a:r>
            <a:endParaRPr lang="ko-KR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4601666"/>
            <a:ext cx="5262927" cy="505916"/>
          </a:xfrm>
          <a:prstGeom prst="roundRect">
            <a:avLst>
              <a:gd name="adj" fmla="val 25009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30143" y="4742160"/>
            <a:ext cx="553517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print(scores.mean(axis=0))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475" y="5241925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행별 평균</a:t>
            </a:r>
            <a:endParaRPr lang="ko-KR" sz="1350" dirty="0"/>
          </a:p>
        </p:txBody>
      </p:sp>
      <p:sp>
        <p:nvSpPr>
          <p:cNvPr id="13" name="Shape 11"/>
          <p:cNvSpPr/>
          <p:nvPr/>
        </p:nvSpPr>
        <p:spPr>
          <a:xfrm>
            <a:off x="661475" y="5595838"/>
            <a:ext cx="5262927" cy="505916"/>
          </a:xfrm>
          <a:prstGeom prst="roundRect">
            <a:avLst>
              <a:gd name="adj" fmla="val 25009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830143" y="5736332"/>
            <a:ext cx="553517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print(scores.mean(axis=1))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442" y="1240234"/>
            <a:ext cx="5465328" cy="4995863"/>
          </a:xfrm>
          <a:prstGeom prst="roundRect">
            <a:avLst>
              <a:gd name="adj" fmla="val 405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12933" y="1359694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altLang="ko-KR" sz="1350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ax</a:t>
            </a:r>
            <a:r>
              <a:rPr lang="en-US" altLang="ko-KR" sz="1350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is</a:t>
            </a:r>
            <a:r>
              <a:rPr lang="ko-KR" altLang="en-US" sz="1350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의 값</a:t>
            </a:r>
            <a:endParaRPr lang="ko-KR" sz="1350" dirty="0"/>
          </a:p>
        </p:txBody>
      </p:sp>
      <p:sp>
        <p:nvSpPr>
          <p:cNvPr id="17" name="Text 15"/>
          <p:cNvSpPr/>
          <p:nvPr/>
        </p:nvSpPr>
        <p:spPr>
          <a:xfrm>
            <a:off x="6312932" y="1698724"/>
            <a:ext cx="5879067" cy="1127603"/>
          </a:xfrm>
          <a:prstGeom prst="rect">
            <a:avLst/>
          </a:prstGeom>
          <a:noFill/>
          <a:ln/>
        </p:spPr>
        <p:txBody>
          <a:bodyPr wrap="square" lIns="0" tIns="56233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axis=0 </a:t>
            </a:r>
            <a:r>
              <a:rPr lang="ko-KR" altLang="en-US" sz="11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ko-KR" altLang="en-US" sz="110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</a:t>
            </a:r>
            <a:r>
              <a:rPr lang="ko-KR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열의 결과를 만듦 → </a:t>
            </a:r>
            <a:r>
              <a:rPr lang="ko-KR" altLang="en-US" sz="11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열별 </a:t>
            </a:r>
            <a:r>
              <a:rPr lang="ko-KR" altLang="en-US" sz="110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집계</a:t>
            </a:r>
            <a:endParaRPr lang="en-US" altLang="ko-KR" sz="110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endParaRPr lang="ko-KR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axis=1 </a:t>
            </a:r>
            <a:r>
              <a:rPr lang="ko-KR" altLang="en-US" sz="11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ko-KR" altLang="en-US" sz="110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</a:t>
            </a:r>
            <a:r>
              <a:rPr lang="ko-KR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행의 결과를 만듦 → 행별 집계</a:t>
            </a:r>
            <a:endParaRPr lang="ko-KR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867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reshape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() - 배열 형태 변경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79488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944787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np.arange(1, 13)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arr.reshape(3, 4)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0086" y="335914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원소 개수가 맞아야 합니다.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78450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가능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61474" y="4061615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12개 → (3, 4)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12개 → (2, 6)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12개 → (4, 3)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513362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불가능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61475" y="5439418"/>
            <a:ext cx="5842251" cy="264616"/>
          </a:xfrm>
          <a:prstGeom prst="rect">
            <a:avLst/>
          </a:prstGeom>
          <a:noFill/>
          <a:ln/>
        </p:spPr>
        <p:txBody>
          <a:bodyPr wrap="none" lIns="0" tIns="66156" rIns="0" bIns="0" rtlCol="0" anchor="t"/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12개 → (5, 3)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175875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자동 계산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6303904" y="2203252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502337" y="2368550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print(arr.reshape(3, -1))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3904" y="298450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-1은 NumPy가 해당 축의 크기를 자동 계산하도록 지정합니다.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08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배열 </a:t>
            </a: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형태 변경 관련 메소드</a:t>
            </a:r>
            <a:endParaRPr lang="ko-KR" sz="3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88467"/>
          <a:ext cx="10868745" cy="3096043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메소드/함수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용도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특징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reshape()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shape 변경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원소 수 유지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flatten()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1차원으로 펼침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복사본 생성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ravel()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1차원으로 펼침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가능한 경우 원본 메모리 공유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transpose() / .T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축 순서 변경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2차원에서는 행·열 전환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squeeze()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크기가 1인 축 제거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(1, 3) → (3,) 등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expand_dims()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축 추가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모델 입력 형태 조정 등에 사용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721126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</a:t>
            </a:r>
            <a:endParaRPr lang="ko-KR" sz="1500" dirty="0"/>
          </a:p>
        </p:txBody>
      </p:sp>
      <p:sp>
        <p:nvSpPr>
          <p:cNvPr id="5" name="Shape 2"/>
          <p:cNvSpPr/>
          <p:nvPr/>
        </p:nvSpPr>
        <p:spPr>
          <a:xfrm>
            <a:off x="661475" y="5190530"/>
            <a:ext cx="10868745" cy="1068388"/>
          </a:xfrm>
          <a:prstGeom prst="roundRect">
            <a:avLst>
              <a:gd name="adj" fmla="val 1323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49986" y="5347593"/>
            <a:ext cx="104917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np.array([[1, 2, 3], [4, 5, 6]])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print(matrix.T)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print(matrix.flatten())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09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브로드캐스팅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기초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2722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브로드캐스팅은 shape가 다른 배열끼리도 일정 규칙을 만족하면 연산할 수 있게 해줍니다.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3436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스칼라와 배열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2378869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2544167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np.array([10, 20, 30])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 + 5)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49123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2차원 배열과 1차원 배열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61475" y="3869234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59907" y="4034532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np.array([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[10, 20, 30],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[40, 50, 60]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= np.array([1, 2, 3])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 + bonus)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597356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bonus가 각 행에 적용됩니다.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6184844" y="1769070"/>
            <a:ext cx="5470785" cy="4617938"/>
          </a:xfrm>
          <a:prstGeom prst="roundRect">
            <a:avLst>
              <a:gd name="adj" fmla="val 515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50139" y="193436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 예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6350139" y="2358132"/>
            <a:ext cx="514019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과목별 보정점수 적용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센서별 기준값 차감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데이터의 단위 변환</a:t>
            </a:r>
            <a:endParaRPr lang="ko-KR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514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22. 자주 사용하는 NumPy 함수·메소드 표</a:t>
            </a:r>
            <a:endParaRPr lang="ko-KR" sz="2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144290"/>
          <a:ext cx="10868745" cy="508037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분류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함수/메소드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설명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np.array()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 생성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np.arange()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일정 간격의 값 생성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np.linspace()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지정 구간을 균등 분할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np.zeros(), np.ones()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0/1 배열 생성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구조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.shape, .ndim, .size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형태·차원·원소 수 확인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자료형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.dtype, .astype()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자료형 확인·변환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변형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.reshape()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배열 shape 변경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변형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.flatten(), .ravel()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1차원 배열로 변환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변형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.T, np.transpose()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축 순서 변경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집계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.sum(), .mean()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합계·평균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집계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.min(), .max()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최솟값·최댓값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집계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.std(), .var()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표준편차·분산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검색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np.where()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조건에 따라 위치/값 선택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정렬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np.sort(), np.argsort()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값 정렬/정렬 인덱스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결합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np.concatenate()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기존 축 기준 연결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결합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np.vstack(), np.hstack()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세로/가로 결합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np.unique()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고유값 추출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7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np.isnan()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NaN 여부 확인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29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코드 - 성적 배열 분석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93776"/>
            <a:ext cx="5232666" cy="4035227"/>
          </a:xfrm>
          <a:prstGeom prst="roundRect">
            <a:avLst>
              <a:gd name="adj" fmla="val 3689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959074"/>
            <a:ext cx="4835801" cy="370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[78, 85, 92],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[88, 90, 76],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[95, 82, 89],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[67, 74, 80]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print("배열 형태:", scores.shape)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print("전체 평균:", scores.mean())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print("과목별 평균:", scores.mean(axis=0))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print("학생별 평균:", scores.mean(axis=1))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student_avg = scores.mean(axis=1)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print("평균 85점 이상 학생 인덱스:", np.where(student_avg &gt;= 85)[0])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184844" y="1607741"/>
            <a:ext cx="5470785" cy="4407297"/>
          </a:xfrm>
          <a:prstGeom prst="roundRect">
            <a:avLst>
              <a:gd name="adj" fmla="val 540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0139" y="177303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50139" y="2196802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2차원 배열 생성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확인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 기반 평균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 기반 대상 추출</a:t>
            </a:r>
            <a:endParaRPr lang="ko-KR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6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흔히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발생하는 오류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481038"/>
            <a:ext cx="5351725" cy="2640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1665387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reshape 원소 수 불일치</a:t>
            </a:r>
            <a:endParaRPr lang="ko-KR" sz="1600" dirty="0"/>
          </a:p>
        </p:txBody>
      </p:sp>
      <p:sp>
        <p:nvSpPr>
          <p:cNvPr id="5" name="Shape 2"/>
          <p:cNvSpPr/>
          <p:nvPr/>
        </p:nvSpPr>
        <p:spPr>
          <a:xfrm>
            <a:off x="922017" y="2109887"/>
            <a:ext cx="4906840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1120449" y="2275185"/>
            <a:ext cx="45099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np.arange(10)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arr.reshape(3, 4)  # 오류</a:t>
            </a:r>
            <a:endParaRPr lang="ko-KR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178495" y="1481038"/>
            <a:ext cx="5351725" cy="26403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1665387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복합 조건에서 and 사용</a:t>
            </a:r>
            <a:endParaRPr lang="ko-KR" sz="1600" dirty="0"/>
          </a:p>
        </p:txBody>
      </p:sp>
      <p:sp>
        <p:nvSpPr>
          <p:cNvPr id="9" name="Shape 5"/>
          <p:cNvSpPr/>
          <p:nvPr/>
        </p:nvSpPr>
        <p:spPr>
          <a:xfrm>
            <a:off x="6439037" y="2109887"/>
            <a:ext cx="4906840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6637469" y="2275185"/>
            <a:ext cx="450997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scores[(scores &gt;= 70) and (scores &lt; 90)]  # 오류</a:t>
            </a:r>
            <a:endParaRPr lang="ko-KR" sz="1300" dirty="0"/>
          </a:p>
        </p:txBody>
      </p:sp>
      <p:sp>
        <p:nvSpPr>
          <p:cNvPr id="11" name="Text 7"/>
          <p:cNvSpPr/>
          <p:nvPr/>
        </p:nvSpPr>
        <p:spPr>
          <a:xfrm>
            <a:off x="6439037" y="2891135"/>
            <a:ext cx="490684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</a:t>
            </a:r>
            <a:endParaRPr lang="ko-KR" sz="1300" dirty="0"/>
          </a:p>
        </p:txBody>
      </p:sp>
      <p:sp>
        <p:nvSpPr>
          <p:cNvPr id="12" name="Shape 8"/>
          <p:cNvSpPr/>
          <p:nvPr/>
        </p:nvSpPr>
        <p:spPr>
          <a:xfrm>
            <a:off x="6439037" y="3341787"/>
            <a:ext cx="4906840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6637469" y="3507085"/>
            <a:ext cx="450997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scores[(scores &gt;= 70) &amp; (scores &lt; 90)]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1475" y="4286647"/>
            <a:ext cx="5351725" cy="19376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2017" y="447099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shape가 맞지 않는 배열 연산</a:t>
            </a:r>
            <a:endParaRPr lang="ko-KR" sz="1600" dirty="0"/>
          </a:p>
        </p:txBody>
      </p:sp>
      <p:sp>
        <p:nvSpPr>
          <p:cNvPr id="16" name="Shape 11"/>
          <p:cNvSpPr/>
          <p:nvPr/>
        </p:nvSpPr>
        <p:spPr>
          <a:xfrm>
            <a:off x="922017" y="4915495"/>
            <a:ext cx="4906840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1120449" y="5080794"/>
            <a:ext cx="450997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20])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  # 브로드캐스팅 불가</a:t>
            </a:r>
            <a:endParaRPr lang="ko-KR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78495" y="4286647"/>
            <a:ext cx="5351725" cy="19376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39037" y="447099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dtype에 따른 값 변환</a:t>
            </a:r>
            <a:endParaRPr lang="ko-KR" sz="1600" dirty="0"/>
          </a:p>
        </p:txBody>
      </p:sp>
      <p:sp>
        <p:nvSpPr>
          <p:cNvPr id="20" name="Shape 14"/>
          <p:cNvSpPr/>
          <p:nvPr/>
        </p:nvSpPr>
        <p:spPr>
          <a:xfrm>
            <a:off x="6439037" y="4915495"/>
            <a:ext cx="4906840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21" name="Text 15"/>
          <p:cNvSpPr/>
          <p:nvPr/>
        </p:nvSpPr>
        <p:spPr>
          <a:xfrm>
            <a:off x="6637469" y="5080794"/>
            <a:ext cx="450997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np.array([1, 2, 3])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 = 3.7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print(arr) # 정수 배열에서는 값이 정수형으로 저장됨</a:t>
            </a:r>
            <a:endParaRPr lang="ko-KR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44624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실무 </a:t>
            </a: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연결 - NumPy는 어디에 사용되는가?</a:t>
            </a:r>
            <a:endParaRPr lang="ko-KR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630263"/>
            <a:ext cx="6296860" cy="1407716"/>
          </a:xfrm>
          <a:prstGeom prst="roundRect">
            <a:avLst>
              <a:gd name="adj" fmla="val 8459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365616" y="1762522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전처리</a:t>
            </a:r>
            <a:endParaRPr lang="ko-KR" sz="1300" dirty="0"/>
          </a:p>
        </p:txBody>
      </p:sp>
      <p:sp>
        <p:nvSpPr>
          <p:cNvPr id="6" name="Text 3"/>
          <p:cNvSpPr/>
          <p:nvPr/>
        </p:nvSpPr>
        <p:spPr>
          <a:xfrm>
            <a:off x="5365616" y="2032695"/>
            <a:ext cx="6032349" cy="873026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결측값 탐지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 필터링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수치 변환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정규화/표준화 계산</a:t>
            </a:r>
            <a:endParaRPr lang="ko-KR" sz="1000" dirty="0"/>
          </a:p>
        </p:txBody>
      </p:sp>
      <p:sp>
        <p:nvSpPr>
          <p:cNvPr id="7" name="Shape 4"/>
          <p:cNvSpPr/>
          <p:nvPr/>
        </p:nvSpPr>
        <p:spPr>
          <a:xfrm>
            <a:off x="5233360" y="3143746"/>
            <a:ext cx="6296860" cy="952698"/>
          </a:xfrm>
          <a:prstGeom prst="roundRect">
            <a:avLst>
              <a:gd name="adj" fmla="val 12499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65616" y="3276005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이미지</a:t>
            </a:r>
            <a:endParaRPr lang="ko-KR" sz="1300" dirty="0"/>
          </a:p>
        </p:txBody>
      </p:sp>
      <p:sp>
        <p:nvSpPr>
          <p:cNvPr id="9" name="Text 6"/>
          <p:cNvSpPr/>
          <p:nvPr/>
        </p:nvSpPr>
        <p:spPr>
          <a:xfrm>
            <a:off x="5365616" y="3546177"/>
            <a:ext cx="6032349" cy="418009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 lnSpcReduction="10000"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이미지는 높이 × 너비 × 채널 형태의 숫자 배열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픽셀값 조절과 색상 변환에 배열 연산 활용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5233360" y="4202212"/>
            <a:ext cx="6296860" cy="952698"/>
          </a:xfrm>
          <a:prstGeom prst="roundRect">
            <a:avLst>
              <a:gd name="adj" fmla="val 12499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65616" y="4334470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음성</a:t>
            </a:r>
            <a:endParaRPr lang="ko-KR" sz="1300" dirty="0"/>
          </a:p>
        </p:txBody>
      </p:sp>
      <p:sp>
        <p:nvSpPr>
          <p:cNvPr id="12" name="Text 9"/>
          <p:cNvSpPr/>
          <p:nvPr/>
        </p:nvSpPr>
        <p:spPr>
          <a:xfrm>
            <a:off x="5365616" y="4604643"/>
            <a:ext cx="6032349" cy="418009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 lnSpcReduction="10000"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파형 데이터를 1차원 수치 배열로 표현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음량·구간·특징값 처리에 활용</a:t>
            </a:r>
            <a:endParaRPr lang="ko-KR" sz="1000" dirty="0"/>
          </a:p>
        </p:txBody>
      </p:sp>
      <p:sp>
        <p:nvSpPr>
          <p:cNvPr id="13" name="Shape 10"/>
          <p:cNvSpPr/>
          <p:nvPr/>
        </p:nvSpPr>
        <p:spPr>
          <a:xfrm>
            <a:off x="5233360" y="5260677"/>
            <a:ext cx="6296860" cy="952698"/>
          </a:xfrm>
          <a:prstGeom prst="roundRect">
            <a:avLst>
              <a:gd name="adj" fmla="val 12499"/>
            </a:avLst>
          </a:prstGeom>
          <a:solidFill>
            <a:srgbClr val="FFFFFF"/>
          </a:solidFill>
          <a:ln/>
          <a:effectLst>
            <a:outerShdw blurRad="1981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65616" y="5392936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머신러닝/딥러닝</a:t>
            </a:r>
            <a:endParaRPr lang="ko-KR" sz="1300" dirty="0"/>
          </a:p>
        </p:txBody>
      </p:sp>
      <p:sp>
        <p:nvSpPr>
          <p:cNvPr id="15" name="Text 12"/>
          <p:cNvSpPr/>
          <p:nvPr/>
        </p:nvSpPr>
        <p:spPr>
          <a:xfrm>
            <a:off x="5365616" y="5663109"/>
            <a:ext cx="6032349" cy="418009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 lnSpcReduction="10000"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특성과 정답을 배열 또는 텐서로 처리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모델의 입력 shape 이해에 NumPy의 차원 개념이 직접 연결</a:t>
            </a:r>
            <a:endParaRPr lang="ko-KR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26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</a:t>
            </a: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정리와 다음 학습 연결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6527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 반드시 설명할 수 있어야 하는 질문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076476"/>
            <a:ext cx="5232666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NumPy의 핵심 배열 객체는 무엇인가?</a:t>
            </a:r>
            <a:endParaRPr lang="ko-KR" sz="1300" dirty="0"/>
          </a:p>
          <a:p>
            <a:pPr marL="264160" indent="-264160" algn="l">
              <a:lnSpc>
                <a:spcPct val="150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shape, ndim, size, dtype은 각각 무엇을 의미하는가?</a:t>
            </a:r>
            <a:endParaRPr lang="ko-KR" sz="1300" dirty="0"/>
          </a:p>
          <a:p>
            <a:pPr marL="264160" indent="-264160" algn="l">
              <a:lnSpc>
                <a:spcPct val="150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2차원 배열에서 axis=0과 axis=1의 차이는 무엇인가?</a:t>
            </a:r>
            <a:endParaRPr lang="ko-KR" sz="1300" dirty="0"/>
          </a:p>
          <a:p>
            <a:pPr marL="264160" indent="-264160" algn="l">
              <a:lnSpc>
                <a:spcPct val="150000"/>
              </a:lnSpc>
              <a:buSzPct val="100000"/>
              <a:buFont typeface="+mj-lt"/>
              <a:buAutoNum type="arabicPeriod" startAt="4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 인덱싱은 어떤 상황에서 사용하는가?</a:t>
            </a:r>
            <a:endParaRPr lang="ko-KR" sz="1300" dirty="0"/>
          </a:p>
          <a:p>
            <a:pPr marL="264160" indent="-264160" algn="l">
              <a:lnSpc>
                <a:spcPct val="150000"/>
              </a:lnSpc>
              <a:buSzPct val="100000"/>
              <a:buFont typeface="+mj-lt"/>
              <a:buAutoNum type="arabicPeriod" startAt="5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벡터 연산이 반복문보다 데이터 분석에 유리한 이유는 무엇인가?</a:t>
            </a:r>
            <a:endParaRPr lang="ko-KR" sz="1300" dirty="0"/>
          </a:p>
          <a:p>
            <a:pPr marL="264160" indent="-264160" algn="l">
              <a:lnSpc>
                <a:spcPct val="150000"/>
              </a:lnSpc>
              <a:buSzPct val="100000"/>
              <a:buFont typeface="+mj-lt"/>
              <a:buAutoNum type="arabicPeriod" startAt="6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reshape()를 사용할 때 지켜야 하는 조건은 무엇인가?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184844" y="2487414"/>
            <a:ext cx="5470785" cy="2647950"/>
          </a:xfrm>
          <a:prstGeom prst="roundRect">
            <a:avLst>
              <a:gd name="adj" fmla="val 899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50139" y="26527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학습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50139" y="3076476"/>
            <a:ext cx="514019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Series와 DataFrame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파일 읽기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구조 확인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기초 통계량 확인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50139" y="4457303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배열을 이해하면 Pandas와 </a:t>
            </a:r>
            <a:r>
              <a:rPr lang="ko-KR" altLang="en-US" sz="13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머신러닝에서 </a:t>
            </a:r>
            <a:endParaRPr lang="en-US" altLang="ko-KR" sz="130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데이터의 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shape와 수치 연산을 훨씬 쉽게 이해할 수 있습니다.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2222</Words>
  <Application>Microsoft Office PowerPoint</Application>
  <PresentationFormat>와이드스크린</PresentationFormat>
  <Paragraphs>530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Inter</vt:lpstr>
      <vt:lpstr>Arial</vt:lpstr>
      <vt:lpstr>Calibri</vt:lpstr>
      <vt:lpstr>Inter Bold</vt:lpstr>
      <vt:lpstr>Consolas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realchoky-home</dc:creator>
  <cp:lastModifiedBy>realchoky-home</cp:lastModifiedBy>
  <cp:revision>6</cp:revision>
  <dcterms:created xsi:type="dcterms:W3CDTF">2026-08-30T13:54:47Z</dcterms:created>
  <dcterms:modified xsi:type="dcterms:W3CDTF">2026-08-30T14:16:31Z</dcterms:modified>
</cp:coreProperties>
</file>