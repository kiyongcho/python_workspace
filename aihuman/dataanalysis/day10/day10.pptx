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embeddedFontLst>
    <p:embeddedFont>
      <p:font typeface="Inter Bold" panose="02000503000000020004" pitchFamily="2" charset="0"/>
      <p:regular r:id="rId29"/>
      <p:bold r:id="rId30"/>
    </p:embeddedFont>
    <p:embeddedFont>
      <p:font typeface="Inter" panose="02000503000000020004" pitchFamily="2" charset="0"/>
      <p:regular r:id="rId31"/>
      <p:bold r:id="rId32"/>
      <p:italic r:id="rId33"/>
      <p:boldItalic r:id="rId34"/>
    </p:embeddedFont>
    <p:embeddedFont>
      <p:font typeface="Calibri" panose="020F0502020204030204" pitchFamily="34" charset="0"/>
      <p:regular r:id="rId35"/>
      <p:bold r:id="rId36"/>
      <p:italic r:id="rId37"/>
      <p:boldItalic r:id="rId38"/>
    </p:embeddedFont>
    <p:embeddedFont>
      <p:font typeface="Inter Light" panose="02000503000000020004" pitchFamily="2" charset="0"/>
      <p:regular r:id="rId39"/>
      <p:italic r:id="rId40"/>
    </p:embeddedFont>
    <p:embeddedFont>
      <p:font typeface="Consolas" panose="020B0609020204030204" pitchFamily="49" charset="0"/>
      <p:regular r:id="rId41"/>
      <p:bold r:id="rId42"/>
      <p:italic r:id="rId43"/>
      <p:boldItalic r:id="rId44"/>
    </p:embeddedFont>
    <p:embeddedFont>
      <p:font typeface="맑은 고딕" panose="020B0503020000020004" pitchFamily="50" charset="-127"/>
      <p:regular r:id="rId45"/>
      <p:bold r:id="rId4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font" Target="fonts/font1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font" Target="fonts/font15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font" Target="fonts/font18.fntdata"/><Relationship Id="rId20" Type="http://schemas.openxmlformats.org/officeDocument/2006/relationships/slide" Target="slides/slide19.xml"/><Relationship Id="rId41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4629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-25-2.svg"/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25-2.svg"/><Relationship Id="rId5" Type="http://schemas.openxmlformats.org/officeDocument/2006/relationships/image" Target="../media/image-25-2.svg"/><Relationship Id="rId10" Type="http://schemas.openxmlformats.org/officeDocument/2006/relationships/image" Target="../media/image-25-2.svg"/><Relationship Id="rId4" Type="http://schemas.openxmlformats.org/officeDocument/2006/relationships/image" Target="../media/image-25-2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02907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463602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AI휴먼 과정 - Day 10</a:t>
            </a:r>
            <a:endParaRPr lang="ko-KR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3228380"/>
            <a:ext cx="6296860" cy="116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Pandas DataFrame 기초 - CSV 읽기, 데이터 구조 확인, 기초통계</a:t>
            </a:r>
            <a:endParaRPr lang="ko-KR" sz="1600" b="1" dirty="0"/>
          </a:p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오늘의 핵심 질문: "CSV 파일을 받았을 때 분석 전에 무엇부터 확인해야 하는가?"</a:t>
            </a:r>
            <a:endParaRPr lang="ko-KR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6233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오늘의 학습목표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909763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23485" y="1940768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198830" y="1963440"/>
            <a:ext cx="1033139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Pandas가 데이터 분석에서 어떤 역할을 하는지 설명할 수 있다.</a:t>
            </a:r>
            <a:endParaRPr lang="ko-KR" sz="1300" dirty="0"/>
          </a:p>
        </p:txBody>
      </p:sp>
      <p:sp>
        <p:nvSpPr>
          <p:cNvPr id="6" name="Shape 4"/>
          <p:cNvSpPr/>
          <p:nvPr/>
        </p:nvSpPr>
        <p:spPr>
          <a:xfrm>
            <a:off x="661475" y="2612529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23485" y="2643535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198830" y="2666206"/>
            <a:ext cx="1033139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Series와 DataFrame의 차이를 설명할 수 있다.</a:t>
            </a:r>
            <a:endParaRPr lang="ko-KR" sz="1300" dirty="0"/>
          </a:p>
        </p:txBody>
      </p:sp>
      <p:sp>
        <p:nvSpPr>
          <p:cNvPr id="9" name="Shape 7"/>
          <p:cNvSpPr/>
          <p:nvPr/>
        </p:nvSpPr>
        <p:spPr>
          <a:xfrm>
            <a:off x="661475" y="3315295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23485" y="3346301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198830" y="3368973"/>
            <a:ext cx="1033139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CSV 파일을 pd.read_csv()로 읽어 DataFrame으로 만들 수 있다.</a:t>
            </a:r>
            <a:endParaRPr lang="ko-KR" sz="1300" dirty="0"/>
          </a:p>
        </p:txBody>
      </p:sp>
      <p:sp>
        <p:nvSpPr>
          <p:cNvPr id="12" name="Shape 10"/>
          <p:cNvSpPr/>
          <p:nvPr/>
        </p:nvSpPr>
        <p:spPr>
          <a:xfrm>
            <a:off x="661475" y="4018062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23485" y="4049068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198830" y="4071739"/>
            <a:ext cx="1033139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head(), tail(), info(), shape, dtypes로 데이터 구조를 점검할 수 있다.</a:t>
            </a:r>
            <a:endParaRPr lang="ko-KR" sz="1300" dirty="0"/>
          </a:p>
        </p:txBody>
      </p:sp>
      <p:sp>
        <p:nvSpPr>
          <p:cNvPr id="15" name="Shape 13"/>
          <p:cNvSpPr/>
          <p:nvPr/>
        </p:nvSpPr>
        <p:spPr>
          <a:xfrm>
            <a:off x="661475" y="4720828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23485" y="4751834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198830" y="4774505"/>
            <a:ext cx="1033139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describe()와 주요 Series 메소드로 기초통계를 확인할 수 있다.</a:t>
            </a:r>
            <a:endParaRPr lang="ko-KR" sz="1300" dirty="0"/>
          </a:p>
        </p:txBody>
      </p:sp>
      <p:sp>
        <p:nvSpPr>
          <p:cNvPr id="18" name="Shape 16"/>
          <p:cNvSpPr/>
          <p:nvPr/>
        </p:nvSpPr>
        <p:spPr>
          <a:xfrm>
            <a:off x="661475" y="5423595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3485" y="5454600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198830" y="5477272"/>
            <a:ext cx="1033139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분석 전 데이터 점검 결과를 간단한 데이터 사전(Data Dictionary) 형태로 정리할 수 있다.</a:t>
            </a:r>
            <a:endParaRPr lang="ko-KR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00063"/>
            <a:ext cx="10868745" cy="381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4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오늘의 전체 흐름</a:t>
            </a:r>
            <a:endParaRPr lang="ko-KR" sz="2400" dirty="0"/>
          </a:p>
        </p:txBody>
      </p:sp>
      <p:sp>
        <p:nvSpPr>
          <p:cNvPr id="3" name="Shape 1"/>
          <p:cNvSpPr/>
          <p:nvPr/>
        </p:nvSpPr>
        <p:spPr>
          <a:xfrm>
            <a:off x="573569" y="1016794"/>
            <a:ext cx="5461260" cy="5341144"/>
          </a:xfrm>
          <a:prstGeom prst="roundRect">
            <a:avLst>
              <a:gd name="adj" fmla="val 3292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95605" y="1118195"/>
            <a:ext cx="244171" cy="1525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95605" y="1312962"/>
            <a:ext cx="5217188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6" name="Text 4"/>
          <p:cNvSpPr/>
          <p:nvPr/>
        </p:nvSpPr>
        <p:spPr>
          <a:xfrm>
            <a:off x="695605" y="1399381"/>
            <a:ext cx="5217188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Pandas와 표 형태 데이터 이해</a:t>
            </a:r>
            <a:endParaRPr lang="ko-KR" sz="1200" dirty="0"/>
          </a:p>
        </p:txBody>
      </p:sp>
      <p:sp>
        <p:nvSpPr>
          <p:cNvPr id="7" name="Text 5"/>
          <p:cNvSpPr/>
          <p:nvPr/>
        </p:nvSpPr>
        <p:spPr>
          <a:xfrm>
            <a:off x="695605" y="1771749"/>
            <a:ext cx="244171" cy="1525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95605" y="1966516"/>
            <a:ext cx="5217188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9" name="Text 7"/>
          <p:cNvSpPr/>
          <p:nvPr/>
        </p:nvSpPr>
        <p:spPr>
          <a:xfrm>
            <a:off x="695605" y="2052935"/>
            <a:ext cx="5217188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Series / DataFrame / Index / Column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5605" y="2425303"/>
            <a:ext cx="244171" cy="1525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95605" y="2620070"/>
            <a:ext cx="5217188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2" name="Text 10"/>
          <p:cNvSpPr/>
          <p:nvPr/>
        </p:nvSpPr>
        <p:spPr>
          <a:xfrm>
            <a:off x="695605" y="2706489"/>
            <a:ext cx="5217188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CSV 파일 읽기</a:t>
            </a:r>
            <a:endParaRPr lang="ko-KR" sz="1200" dirty="0"/>
          </a:p>
        </p:txBody>
      </p:sp>
      <p:sp>
        <p:nvSpPr>
          <p:cNvPr id="13" name="Text 11"/>
          <p:cNvSpPr/>
          <p:nvPr/>
        </p:nvSpPr>
        <p:spPr>
          <a:xfrm>
            <a:off x="695605" y="3078857"/>
            <a:ext cx="244171" cy="1525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95605" y="3273623"/>
            <a:ext cx="5217188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5" name="Text 13"/>
          <p:cNvSpPr/>
          <p:nvPr/>
        </p:nvSpPr>
        <p:spPr>
          <a:xfrm>
            <a:off x="695605" y="3360043"/>
            <a:ext cx="5217188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데이터의 앞·뒤 행 확인</a:t>
            </a:r>
            <a:endParaRPr lang="ko-KR" sz="1200" dirty="0"/>
          </a:p>
        </p:txBody>
      </p:sp>
      <p:sp>
        <p:nvSpPr>
          <p:cNvPr id="16" name="Text 14"/>
          <p:cNvSpPr/>
          <p:nvPr/>
        </p:nvSpPr>
        <p:spPr>
          <a:xfrm>
            <a:off x="695605" y="3732411"/>
            <a:ext cx="244171" cy="1525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5605" y="3927177"/>
            <a:ext cx="5217188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8" name="Text 16"/>
          <p:cNvSpPr/>
          <p:nvPr/>
        </p:nvSpPr>
        <p:spPr>
          <a:xfrm>
            <a:off x="695605" y="4013597"/>
            <a:ext cx="5217188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행·열 구조와 자료형 확인</a:t>
            </a:r>
            <a:endParaRPr lang="ko-KR" sz="1200" dirty="0"/>
          </a:p>
        </p:txBody>
      </p:sp>
      <p:sp>
        <p:nvSpPr>
          <p:cNvPr id="19" name="Text 17"/>
          <p:cNvSpPr/>
          <p:nvPr/>
        </p:nvSpPr>
        <p:spPr>
          <a:xfrm>
            <a:off x="695605" y="4385965"/>
            <a:ext cx="244171" cy="1525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06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95605" y="4580731"/>
            <a:ext cx="5217188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1" name="Text 19"/>
          <p:cNvSpPr/>
          <p:nvPr/>
        </p:nvSpPr>
        <p:spPr>
          <a:xfrm>
            <a:off x="695605" y="4667151"/>
            <a:ext cx="5217188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숫자형 데이터의 기초통계 확인</a:t>
            </a:r>
            <a:endParaRPr lang="ko-KR" sz="1200" dirty="0"/>
          </a:p>
        </p:txBody>
      </p:sp>
      <p:sp>
        <p:nvSpPr>
          <p:cNvPr id="22" name="Text 20"/>
          <p:cNvSpPr/>
          <p:nvPr/>
        </p:nvSpPr>
        <p:spPr>
          <a:xfrm>
            <a:off x="695605" y="5039519"/>
            <a:ext cx="244171" cy="1525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07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95605" y="5234285"/>
            <a:ext cx="5217188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4" name="Text 22"/>
          <p:cNvSpPr/>
          <p:nvPr/>
        </p:nvSpPr>
        <p:spPr>
          <a:xfrm>
            <a:off x="695605" y="5320705"/>
            <a:ext cx="5217188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범주형 데이터의 빈도 확인</a:t>
            </a:r>
            <a:endParaRPr lang="ko-KR" sz="1200" dirty="0"/>
          </a:p>
        </p:txBody>
      </p:sp>
      <p:sp>
        <p:nvSpPr>
          <p:cNvPr id="25" name="Text 23"/>
          <p:cNvSpPr/>
          <p:nvPr/>
        </p:nvSpPr>
        <p:spPr>
          <a:xfrm>
            <a:off x="695605" y="5693073"/>
            <a:ext cx="244171" cy="1525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08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95605" y="5887839"/>
            <a:ext cx="5217188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7" name="Text 25"/>
          <p:cNvSpPr/>
          <p:nvPr/>
        </p:nvSpPr>
        <p:spPr>
          <a:xfrm>
            <a:off x="695605" y="5974259"/>
            <a:ext cx="5217188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데이터 점검표 만들기</a:t>
            </a:r>
            <a:endParaRPr lang="ko-KR" sz="1200" dirty="0"/>
          </a:p>
        </p:txBody>
      </p:sp>
      <p:sp>
        <p:nvSpPr>
          <p:cNvPr id="28" name="Text 26"/>
          <p:cNvSpPr/>
          <p:nvPr/>
        </p:nvSpPr>
        <p:spPr>
          <a:xfrm>
            <a:off x="6251121" y="1106884"/>
            <a:ext cx="5285449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의사코드</a:t>
            </a:r>
            <a:endParaRPr lang="ko-KR" sz="1200" dirty="0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121" y="1398984"/>
            <a:ext cx="610478" cy="732631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6951687" y="1521023"/>
            <a:ext cx="4584883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START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951687" y="1801813"/>
            <a:ext cx="4584883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ko-KR" altLang="en-US" sz="9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CSV 파일 불러오기</a:t>
            </a:r>
            <a:endParaRPr lang="ko-KR" sz="950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1121" y="2131616"/>
            <a:ext cx="610478" cy="732631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6951687" y="2253655"/>
            <a:ext cx="4584883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데이터 크기와 컬럼 확인</a:t>
            </a:r>
            <a:endParaRPr lang="ko-KR" sz="1200" dirty="0"/>
          </a:p>
        </p:txBody>
      </p:sp>
      <p:sp>
        <p:nvSpPr>
          <p:cNvPr id="34" name="Text 30"/>
          <p:cNvSpPr/>
          <p:nvPr/>
        </p:nvSpPr>
        <p:spPr>
          <a:xfrm>
            <a:off x="6951687" y="2534444"/>
            <a:ext cx="4584883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ko-KR" altLang="en-US" sz="9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앞부분/뒷부분 확인</a:t>
            </a:r>
            <a:endParaRPr lang="ko-KR" sz="950" dirty="0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1121" y="2864247"/>
            <a:ext cx="610478" cy="732631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6951687" y="2986286"/>
            <a:ext cx="4584883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2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자료형 확인</a:t>
            </a:r>
            <a:endParaRPr lang="ko-KR" sz="1200" dirty="0"/>
          </a:p>
        </p:txBody>
      </p:sp>
      <p:sp>
        <p:nvSpPr>
          <p:cNvPr id="37" name="Text 32"/>
          <p:cNvSpPr/>
          <p:nvPr/>
        </p:nvSpPr>
        <p:spPr>
          <a:xfrm>
            <a:off x="6951687" y="3267075"/>
            <a:ext cx="4584883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ko-KR" altLang="en-US" sz="9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기초통계 확인</a:t>
            </a:r>
            <a:endParaRPr lang="ko-KR" sz="950" dirty="0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1121" y="3596878"/>
            <a:ext cx="610478" cy="732631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6951687" y="3718917"/>
            <a:ext cx="4584883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END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6951687" y="3999706"/>
            <a:ext cx="4584883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ko-KR" altLang="en-US" sz="9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 사전 작성</a:t>
            </a:r>
            <a:endParaRPr lang="ko-KR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02907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112838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Pandas란?</a:t>
            </a:r>
            <a:endParaRPr lang="ko-KR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1877616"/>
            <a:ext cx="6296860" cy="2025848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Pandas는 Python에서 표 형태 데이터를 다루기 위한 </a:t>
            </a:r>
            <a:r>
              <a:rPr lang="ko-KR" altLang="en-US" sz="130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대표적인 </a:t>
            </a:r>
            <a:endParaRPr lang="en-US" altLang="ko-KR" sz="1300" smtClean="0">
              <a:solidFill>
                <a:srgbClr val="3C393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algn="l">
              <a:lnSpc>
                <a:spcPct val="133000"/>
              </a:lnSpc>
              <a:buSzPct val="100000"/>
            </a:pPr>
            <a:r>
              <a:rPr lang="en-US" altLang="ko-KR" sz="130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altLang="ko-KR" sz="130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</a:t>
            </a:r>
            <a:r>
              <a:rPr lang="ko-KR" altLang="en-US" sz="130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 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분석 라이브러리이다.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Excel의 표, CSV, 데이터베이스 조회 결과처럼 "행과 열"</a:t>
            </a:r>
            <a:r>
              <a:rPr lang="ko-KR" altLang="en-US" sz="130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로 </a:t>
            </a:r>
            <a:endParaRPr lang="en-US" altLang="ko-KR" sz="1300" smtClean="0">
              <a:solidFill>
                <a:srgbClr val="3C393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algn="l">
              <a:lnSpc>
                <a:spcPct val="133000"/>
              </a:lnSpc>
              <a:buSzPct val="100000"/>
            </a:pPr>
            <a:r>
              <a:rPr lang="en-US" altLang="ko-KR" sz="130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altLang="ko-KR" sz="130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</a:t>
            </a:r>
            <a:r>
              <a:rPr lang="ko-KR" altLang="en-US" sz="130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구성된 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데이터를 처리하기 좋다.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NumPy가 수치 배열 계산에 </a:t>
            </a:r>
            <a:r>
              <a:rPr lang="ko-KR" altLang="en-US" sz="130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강하다면 </a:t>
            </a:r>
            <a:endParaRPr lang="en-US" altLang="ko-KR" sz="1300" smtClean="0">
              <a:solidFill>
                <a:srgbClr val="3C393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algn="l">
              <a:lnSpc>
                <a:spcPct val="133000"/>
              </a:lnSpc>
              <a:buSzPct val="100000"/>
            </a:pPr>
            <a:r>
              <a:rPr lang="en-US" altLang="ko-KR" sz="130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altLang="ko-KR" sz="130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</a:t>
            </a:r>
            <a:r>
              <a:rPr lang="ko-KR" altLang="en-US" sz="130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Pandas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는 컬럼 이름과 인덱스를 가진 데이터 처리에 강하다.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주요 객체: Series, DataFrame</a:t>
            </a:r>
            <a:endParaRPr lang="ko-KR" sz="1300" dirty="0"/>
          </a:p>
        </p:txBody>
      </p:sp>
      <p:sp>
        <p:nvSpPr>
          <p:cNvPr id="5" name="Shape 2"/>
          <p:cNvSpPr/>
          <p:nvPr/>
        </p:nvSpPr>
        <p:spPr>
          <a:xfrm>
            <a:off x="5114301" y="4089499"/>
            <a:ext cx="3184842" cy="1655663"/>
          </a:xfrm>
          <a:prstGeom prst="roundRect">
            <a:avLst>
              <a:gd name="adj" fmla="val 14385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279595" y="4254798"/>
            <a:ext cx="285425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설치</a:t>
            </a:r>
            <a:endParaRPr lang="ko-KR" sz="1600" dirty="0"/>
          </a:p>
        </p:txBody>
      </p:sp>
      <p:sp>
        <p:nvSpPr>
          <p:cNvPr id="7" name="Shape 4"/>
          <p:cNvSpPr/>
          <p:nvPr/>
        </p:nvSpPr>
        <p:spPr>
          <a:xfrm>
            <a:off x="5279595" y="4699298"/>
            <a:ext cx="2854254" cy="595213"/>
          </a:xfrm>
          <a:prstGeom prst="roundRect">
            <a:avLst>
              <a:gd name="adj" fmla="val 25008"/>
            </a:avLst>
          </a:prstGeom>
          <a:solidFill>
            <a:srgbClr val="282834"/>
          </a:solidFill>
          <a:ln/>
        </p:spPr>
      </p:sp>
      <p:sp>
        <p:nvSpPr>
          <p:cNvPr id="8" name="Text 5"/>
          <p:cNvSpPr/>
          <p:nvPr/>
        </p:nvSpPr>
        <p:spPr>
          <a:xfrm>
            <a:off x="5478028" y="4864596"/>
            <a:ext cx="306697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pandas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589847" y="4254798"/>
            <a:ext cx="294672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불러오기 / 버전 확인</a:t>
            </a:r>
            <a:endParaRPr lang="ko-KR" sz="1600" dirty="0"/>
          </a:p>
        </p:txBody>
      </p:sp>
      <p:sp>
        <p:nvSpPr>
          <p:cNvPr id="10" name="Shape 7"/>
          <p:cNvSpPr/>
          <p:nvPr/>
        </p:nvSpPr>
        <p:spPr>
          <a:xfrm>
            <a:off x="8589847" y="4699298"/>
            <a:ext cx="2946723" cy="859830"/>
          </a:xfrm>
          <a:prstGeom prst="roundRect">
            <a:avLst>
              <a:gd name="adj" fmla="val 17312"/>
            </a:avLst>
          </a:prstGeom>
          <a:solidFill>
            <a:srgbClr val="F2F2F2"/>
          </a:solidFill>
          <a:ln/>
        </p:spPr>
      </p:sp>
      <p:sp>
        <p:nvSpPr>
          <p:cNvPr id="11" name="Text 8"/>
          <p:cNvSpPr/>
          <p:nvPr/>
        </p:nvSpPr>
        <p:spPr>
          <a:xfrm>
            <a:off x="8788279" y="4864596"/>
            <a:ext cx="254985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print(pd.__version__)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1474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용어 정리 ① Pandas 핵심 용어</a:t>
            </a:r>
            <a:endParaRPr lang="ko-KR" sz="3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162175"/>
          <a:ext cx="10868745" cy="3368294"/>
        </p:xfrm>
        <a:graphic>
          <a:graphicData uri="http://schemas.openxmlformats.org/drawingml/2006/table">
            <a:tbl>
              <a:tblPr/>
              <a:tblGrid>
                <a:gridCol w="3622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89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용어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의미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쉬운 해석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Pandas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표 형태 데이터 분석 라이브러리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CSV/Excel 데이터를 다루는 도구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Series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1차원 데이터 객체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한 개 컬럼과 유사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DataFrame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2차원 표 데이터 객체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여러 컬럼으로 구성된 표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Index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각 행을 식별하는 레이블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행 번호 또는 행 이름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Column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열을 식별하는 이름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변수명, 항목명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89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dtype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컬럼 데이터 타입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정수, 실수, 문자열 등의 형식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2185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Series 이해하기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503884"/>
            <a:ext cx="5232666" cy="587077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 fontScale="92500" lnSpcReduction="20000"/>
          </a:bodyPr>
          <a:lstStyle/>
          <a:p>
            <a:pPr marL="264160" indent="-264160" algn="l">
              <a:lnSpc>
                <a:spcPct val="160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Series는 한 줄짜리 "컬럼"처럼 생각할 수 있다.</a:t>
            </a:r>
            <a:endParaRPr lang="ko-KR" sz="1300" dirty="0"/>
          </a:p>
          <a:p>
            <a:pPr marL="264160" indent="-264160" algn="l">
              <a:lnSpc>
                <a:spcPct val="160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값(values)과 인덱스(index)를 가진다.</a:t>
            </a:r>
            <a:endParaRPr lang="ko-KR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3487837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핵심</a:t>
            </a:r>
            <a:endParaRPr lang="ko-KR" sz="1600" dirty="0"/>
          </a:p>
        </p:txBody>
      </p:sp>
      <p:sp>
        <p:nvSpPr>
          <p:cNvPr id="5" name="Text 3"/>
          <p:cNvSpPr/>
          <p:nvPr/>
        </p:nvSpPr>
        <p:spPr>
          <a:xfrm>
            <a:off x="661475" y="3911600"/>
            <a:ext cx="5232666" cy="587077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 fontScale="92500" lnSpcReduction="20000"/>
          </a:bodyPr>
          <a:lstStyle/>
          <a:p>
            <a:pPr marL="264160" indent="-264160" algn="l">
              <a:lnSpc>
                <a:spcPct val="160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scores[0]처럼 인덱스를 통해 값에 접근할 수 있다.</a:t>
            </a:r>
            <a:endParaRPr lang="ko-KR" sz="1300" dirty="0"/>
          </a:p>
          <a:p>
            <a:pPr marL="264160" indent="-264160" algn="l">
              <a:lnSpc>
                <a:spcPct val="160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DataFrame에서 한 개 컬럼을 꺼내면 일반적으로 Series가 된다.</a:t>
            </a:r>
            <a:endParaRPr lang="ko-KR" sz="1300" dirty="0"/>
          </a:p>
        </p:txBody>
      </p:sp>
      <p:sp>
        <p:nvSpPr>
          <p:cNvPr id="6" name="Shape 4"/>
          <p:cNvSpPr/>
          <p:nvPr/>
        </p:nvSpPr>
        <p:spPr>
          <a:xfrm>
            <a:off x="6184844" y="2586633"/>
            <a:ext cx="5470785" cy="2449513"/>
          </a:xfrm>
          <a:prstGeom prst="roundRect">
            <a:avLst>
              <a:gd name="adj" fmla="val 9723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350139" y="2751931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샘플 코드</a:t>
            </a:r>
            <a:endParaRPr lang="ko-KR" sz="1600" dirty="0"/>
          </a:p>
        </p:txBody>
      </p:sp>
      <p:sp>
        <p:nvSpPr>
          <p:cNvPr id="8" name="Shape 6"/>
          <p:cNvSpPr/>
          <p:nvPr/>
        </p:nvSpPr>
        <p:spPr>
          <a:xfrm>
            <a:off x="6350139" y="3196431"/>
            <a:ext cx="5140196" cy="1653679"/>
          </a:xfrm>
          <a:prstGeom prst="roundRect">
            <a:avLst>
              <a:gd name="adj" fmla="val 9001"/>
            </a:avLst>
          </a:prstGeom>
          <a:solidFill>
            <a:srgbClr val="282834"/>
          </a:solidFill>
          <a:ln/>
        </p:spPr>
      </p:sp>
      <p:sp>
        <p:nvSpPr>
          <p:cNvPr id="9" name="Text 7"/>
          <p:cNvSpPr/>
          <p:nvPr/>
        </p:nvSpPr>
        <p:spPr>
          <a:xfrm>
            <a:off x="6548571" y="3361730"/>
            <a:ext cx="4743331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pd.Series([78, 85, 92], name="Python점수")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print(scores)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print(scores.index)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print(scores.values)</a:t>
            </a:r>
            <a:endParaRPr lang="ko-KR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6026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DataFrame 이해하기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4" y="2073870"/>
            <a:ext cx="6470845" cy="1342661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220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DataFrame은 행(row)과 열(column)로 구성된 2차원 표이다.</a:t>
            </a:r>
            <a:endParaRPr lang="ko-KR" sz="1300" dirty="0"/>
          </a:p>
          <a:p>
            <a:pPr marL="264160" indent="-264160" algn="l">
              <a:lnSpc>
                <a:spcPct val="220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각 컬럼은 서로 다른 dtype을 가질 수 있다.</a:t>
            </a:r>
            <a:endParaRPr lang="ko-KR" sz="1300" dirty="0"/>
          </a:p>
        </p:txBody>
      </p:sp>
      <p:sp>
        <p:nvSpPr>
          <p:cNvPr id="4" name="Shape 2"/>
          <p:cNvSpPr/>
          <p:nvPr/>
        </p:nvSpPr>
        <p:spPr>
          <a:xfrm>
            <a:off x="6184844" y="1925042"/>
            <a:ext cx="5470785" cy="3772595"/>
          </a:xfrm>
          <a:prstGeom prst="roundRect">
            <a:avLst>
              <a:gd name="adj" fmla="val 6313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350139" y="2090341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샘플 코드</a:t>
            </a:r>
            <a:endParaRPr lang="ko-KR" sz="1600" dirty="0"/>
          </a:p>
        </p:txBody>
      </p:sp>
      <p:sp>
        <p:nvSpPr>
          <p:cNvPr id="6" name="Shape 4"/>
          <p:cNvSpPr/>
          <p:nvPr/>
        </p:nvSpPr>
        <p:spPr>
          <a:xfrm>
            <a:off x="6350139" y="2534841"/>
            <a:ext cx="5140196" cy="2976761"/>
          </a:xfrm>
          <a:prstGeom prst="roundRect">
            <a:avLst>
              <a:gd name="adj" fmla="val 5000"/>
            </a:avLst>
          </a:prstGeom>
          <a:solidFill>
            <a:srgbClr val="282834"/>
          </a:solidFill>
          <a:ln/>
        </p:spPr>
      </p:sp>
      <p:sp>
        <p:nvSpPr>
          <p:cNvPr id="7" name="Text 5"/>
          <p:cNvSpPr/>
          <p:nvPr/>
        </p:nvSpPr>
        <p:spPr>
          <a:xfrm>
            <a:off x="6548571" y="2700139"/>
            <a:ext cx="4743331" cy="2646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{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"이름": ["민지", "준호", "서연"],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"Python점수": [88, 76, 95],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"출석률": [98.0, 92.5, 100.0]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pd.DataFrame(data)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print(df)</a:t>
            </a:r>
            <a:endParaRPr lang="ko-KR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499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Series와 DataFrame 비교</a:t>
            </a:r>
            <a:endParaRPr lang="ko-KR" sz="3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572419"/>
          <a:ext cx="10868745" cy="2404110"/>
        </p:xfrm>
        <a:graphic>
          <a:graphicData uri="http://schemas.openxmlformats.org/drawingml/2006/table">
            <a:tbl>
              <a:tblPr/>
              <a:tblGrid>
                <a:gridCol w="3622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89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구분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Series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DataFrame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차원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1차원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2차원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형태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하나의 컬럼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여러 컬럼의 표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대표 생성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pd.Series()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pd.DataFrame()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9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컬럼 선택 결과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df["컬럼"]은 Series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df[["컬럼1", "컬럼2"]]은 DataFrame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61475" y="4237335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샘플</a:t>
            </a:r>
            <a:endParaRPr lang="ko-KR" sz="1600" dirty="0"/>
          </a:p>
        </p:txBody>
      </p:sp>
      <p:sp>
        <p:nvSpPr>
          <p:cNvPr id="5" name="Shape 2"/>
          <p:cNvSpPr/>
          <p:nvPr/>
        </p:nvSpPr>
        <p:spPr>
          <a:xfrm>
            <a:off x="661475" y="4743847"/>
            <a:ext cx="10868745" cy="1389063"/>
          </a:xfrm>
          <a:prstGeom prst="roundRect">
            <a:avLst>
              <a:gd name="adj" fmla="val 10716"/>
            </a:avLst>
          </a:prstGeom>
          <a:solidFill>
            <a:srgbClr val="F2F2F2"/>
          </a:solidFill>
          <a:ln/>
        </p:spPr>
      </p:sp>
      <p:sp>
        <p:nvSpPr>
          <p:cNvPr id="6" name="Text 3"/>
          <p:cNvSpPr/>
          <p:nvPr/>
        </p:nvSpPr>
        <p:spPr>
          <a:xfrm>
            <a:off x="859907" y="4909145"/>
            <a:ext cx="10471880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= df["Python점수"]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= df[["이름", "Python점수"]]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print(type(one))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print(type(two))</a:t>
            </a:r>
            <a:endParaRPr lang="ko-KR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6807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Index와 Column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681684"/>
            <a:ext cx="5232666" cy="909538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Index: DataFrame의 행을 구분하는 레이블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Columns: DataFrame의 열 이름 목록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기본 Index는 0부터 시작하는 정수 형태이다.</a:t>
            </a:r>
            <a:endParaRPr lang="ko-KR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3756521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실무 포인트</a:t>
            </a:r>
            <a:endParaRPr lang="ko-KR" sz="1600" dirty="0"/>
          </a:p>
        </p:txBody>
      </p:sp>
      <p:sp>
        <p:nvSpPr>
          <p:cNvPr id="5" name="Text 3"/>
          <p:cNvSpPr/>
          <p:nvPr/>
        </p:nvSpPr>
        <p:spPr>
          <a:xfrm>
            <a:off x="661475" y="4180284"/>
            <a:ext cx="5232666" cy="851694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 fontScale="92500"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컬럼명은 분석 코드에서 반복해서 사용되므로 오탈자를 먼저 확인한다.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행 수와 열 수를 함께 확인하면 파일이 예상한 </a:t>
            </a:r>
            <a:r>
              <a:rPr lang="ko-KR" altLang="en-US" sz="130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구조인지 </a:t>
            </a:r>
            <a:endParaRPr lang="en-US" altLang="ko-KR" sz="1300" smtClean="0">
              <a:solidFill>
                <a:srgbClr val="3C393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algn="l">
              <a:lnSpc>
                <a:spcPct val="133000"/>
              </a:lnSpc>
              <a:buSzPct val="100000"/>
            </a:pPr>
            <a:r>
              <a:rPr lang="en-US" altLang="ko-KR" sz="130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altLang="ko-KR" sz="130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</a:t>
            </a:r>
            <a:r>
              <a:rPr lang="ko-KR" altLang="en-US" sz="130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빠르게 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판단할 수 있다.</a:t>
            </a:r>
            <a:endParaRPr lang="ko-KR" sz="1300" dirty="0"/>
          </a:p>
        </p:txBody>
      </p:sp>
      <p:sp>
        <p:nvSpPr>
          <p:cNvPr id="6" name="Shape 4"/>
          <p:cNvSpPr/>
          <p:nvPr/>
        </p:nvSpPr>
        <p:spPr>
          <a:xfrm>
            <a:off x="6184844" y="2532856"/>
            <a:ext cx="5470785" cy="2556966"/>
          </a:xfrm>
          <a:prstGeom prst="roundRect">
            <a:avLst>
              <a:gd name="adj" fmla="val 9314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350139" y="2698155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샘플 코드</a:t>
            </a:r>
            <a:endParaRPr lang="ko-KR" sz="1600" dirty="0"/>
          </a:p>
        </p:txBody>
      </p:sp>
      <p:sp>
        <p:nvSpPr>
          <p:cNvPr id="8" name="Shape 6"/>
          <p:cNvSpPr/>
          <p:nvPr/>
        </p:nvSpPr>
        <p:spPr>
          <a:xfrm>
            <a:off x="6350139" y="3142655"/>
            <a:ext cx="5140196" cy="859830"/>
          </a:xfrm>
          <a:prstGeom prst="roundRect">
            <a:avLst>
              <a:gd name="adj" fmla="val 17312"/>
            </a:avLst>
          </a:prstGeom>
          <a:solidFill>
            <a:srgbClr val="282834"/>
          </a:solidFill>
          <a:ln/>
        </p:spPr>
      </p:sp>
      <p:sp>
        <p:nvSpPr>
          <p:cNvPr id="9" name="Text 7"/>
          <p:cNvSpPr/>
          <p:nvPr/>
        </p:nvSpPr>
        <p:spPr>
          <a:xfrm>
            <a:off x="6548571" y="3307953"/>
            <a:ext cx="474333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print(df.index)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print(df.columns)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0043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CSV란?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814042"/>
            <a:ext cx="5232666" cy="909538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CSV = Comma-Separated Values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값을 쉼표(,)로 구분해 저장하는 텍스트 기반 데이터 형식이다.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없이도 만들고 읽을 수 있으며 데이터 교환에 널리 사용된다.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3888879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주의</a:t>
            </a:r>
            <a:endParaRPr lang="ko-KR" sz="1600" dirty="0"/>
          </a:p>
        </p:txBody>
      </p:sp>
      <p:sp>
        <p:nvSpPr>
          <p:cNvPr id="5" name="Text 3"/>
          <p:cNvSpPr/>
          <p:nvPr/>
        </p:nvSpPr>
        <p:spPr>
          <a:xfrm>
            <a:off x="661475" y="4312642"/>
            <a:ext cx="5232666" cy="587077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한글 CSV는 인코딩 문제를 확인해야 </a:t>
            </a:r>
            <a:r>
              <a:rPr lang="ko-KR" altLang="en-US" sz="130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한다</a:t>
            </a:r>
            <a:r>
              <a:rPr lang="ko-KR" altLang="en-US" sz="130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ko-KR" sz="1300" dirty="0"/>
          </a:p>
        </p:txBody>
      </p:sp>
      <p:sp>
        <p:nvSpPr>
          <p:cNvPr id="6" name="Shape 4"/>
          <p:cNvSpPr/>
          <p:nvPr/>
        </p:nvSpPr>
        <p:spPr>
          <a:xfrm>
            <a:off x="6184844" y="2665214"/>
            <a:ext cx="5470785" cy="2292350"/>
          </a:xfrm>
          <a:prstGeom prst="roundRect">
            <a:avLst>
              <a:gd name="adj" fmla="val 10389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350139" y="2830513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예시</a:t>
            </a:r>
            <a:endParaRPr lang="ko-KR" sz="1600" dirty="0"/>
          </a:p>
        </p:txBody>
      </p:sp>
      <p:sp>
        <p:nvSpPr>
          <p:cNvPr id="8" name="Shape 6"/>
          <p:cNvSpPr/>
          <p:nvPr/>
        </p:nvSpPr>
        <p:spPr>
          <a:xfrm>
            <a:off x="6350139" y="3275012"/>
            <a:ext cx="5140196" cy="1124446"/>
          </a:xfrm>
          <a:prstGeom prst="roundRect">
            <a:avLst>
              <a:gd name="adj" fmla="val 13238"/>
            </a:avLst>
          </a:prstGeom>
          <a:solidFill>
            <a:srgbClr val="282834"/>
          </a:solidFill>
          <a:ln/>
        </p:spPr>
      </p:sp>
      <p:sp>
        <p:nvSpPr>
          <p:cNvPr id="9" name="Text 7"/>
          <p:cNvSpPr/>
          <p:nvPr/>
        </p:nvSpPr>
        <p:spPr>
          <a:xfrm>
            <a:off x="6548571" y="3440311"/>
            <a:ext cx="4743331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학생ID,이름,전공,Python점수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S001,김민지,컴퓨터공학,88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S002,박준호,경영학,76</a:t>
            </a:r>
            <a:endParaRPr lang="ko-KR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1605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9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CSV 읽기 - pd.read_csv()</a:t>
            </a:r>
            <a:endParaRPr lang="ko-KR" sz="2900" dirty="0"/>
          </a:p>
        </p:txBody>
      </p:sp>
      <p:sp>
        <p:nvSpPr>
          <p:cNvPr id="3" name="Text 1"/>
          <p:cNvSpPr/>
          <p:nvPr/>
        </p:nvSpPr>
        <p:spPr>
          <a:xfrm>
            <a:off x="661475" y="1298262"/>
            <a:ext cx="10868745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4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기본 형식</a:t>
            </a:r>
            <a:endParaRPr lang="ko-KR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1573709"/>
            <a:ext cx="10868745" cy="773906"/>
          </a:xfrm>
          <a:prstGeom prst="roundRect">
            <a:avLst>
              <a:gd name="adj" fmla="val 17310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40064" y="1722537"/>
            <a:ext cx="10511567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pd.read_csv("students.csv")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61475" y="2548533"/>
            <a:ext cx="10868745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4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주요 인수</a:t>
            </a:r>
            <a:endParaRPr lang="ko-KR" sz="14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981920"/>
          <a:ext cx="10868745" cy="3241594"/>
        </p:xfrm>
        <a:graphic>
          <a:graphicData uri="http://schemas.openxmlformats.org/drawingml/2006/table">
            <a:tbl>
              <a:tblPr/>
              <a:tblGrid>
                <a:gridCol w="3622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8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인수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역할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예시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9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filepath_or_buffer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읽을 파일 경로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"students.csv"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9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encoding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문자 인코딩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"utf-8", "cp949"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9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sep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구분자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",", "\t"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9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usecols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읽을 컬럼 제한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["이름", "점수"]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9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nrows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처음 N개 행만 읽기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59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header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헤더 행 지정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8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index_col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인덱스로 사용할 컬럼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"학생ID"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5536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read_csv() 샘플 코드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702792"/>
            <a:ext cx="10868745" cy="4299843"/>
          </a:xfrm>
          <a:prstGeom prst="roundRect">
            <a:avLst>
              <a:gd name="adj" fmla="val 3462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59907" y="1868091"/>
            <a:ext cx="10471880" cy="3969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UTF-8 CSV 전체 읽기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pd.read_csv("students.csv", encoding="utf-8")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필요한 컬럼만 읽기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small_df = pd.read_csv(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"students.csv",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usecols=["이름", "Python점수", "AI점수"]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처음 5개 행만 읽기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sample_df = pd.read_csv("students.csv", nrows=5)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print(small_df)</a:t>
            </a:r>
            <a:endParaRPr lang="ko-KR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0043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데이터 미리보기 - head(), tail()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814042"/>
            <a:ext cx="5232666" cy="587077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 lnSpcReduction="10000"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head(n): 위에서 n개 행 확인, 기본값은 5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tail(n): 아래에서 n개 행 확인, 기본값은 5</a:t>
            </a:r>
            <a:endParaRPr lang="ko-KR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3566418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왜 확인하는가?</a:t>
            </a:r>
            <a:endParaRPr lang="ko-KR" sz="1600" dirty="0"/>
          </a:p>
        </p:txBody>
      </p:sp>
      <p:sp>
        <p:nvSpPr>
          <p:cNvPr id="5" name="Text 3"/>
          <p:cNvSpPr/>
          <p:nvPr/>
        </p:nvSpPr>
        <p:spPr>
          <a:xfrm>
            <a:off x="661475" y="3990181"/>
            <a:ext cx="5232666" cy="909538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컬럼 값이 예상 형태인지 확인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헤더가 정상적으로 읽혔는지 확인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파일의 처음과 끝에 이상한 행이 없는지 확인</a:t>
            </a:r>
            <a:endParaRPr lang="ko-KR" sz="1300" dirty="0"/>
          </a:p>
        </p:txBody>
      </p:sp>
      <p:sp>
        <p:nvSpPr>
          <p:cNvPr id="6" name="Shape 4"/>
          <p:cNvSpPr/>
          <p:nvPr/>
        </p:nvSpPr>
        <p:spPr>
          <a:xfrm>
            <a:off x="6184844" y="2665214"/>
            <a:ext cx="5470785" cy="2292350"/>
          </a:xfrm>
          <a:prstGeom prst="roundRect">
            <a:avLst>
              <a:gd name="adj" fmla="val 10389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350139" y="2830513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샘플 코드</a:t>
            </a:r>
            <a:endParaRPr lang="ko-KR" sz="1600" dirty="0"/>
          </a:p>
        </p:txBody>
      </p:sp>
      <p:sp>
        <p:nvSpPr>
          <p:cNvPr id="8" name="Shape 6"/>
          <p:cNvSpPr/>
          <p:nvPr/>
        </p:nvSpPr>
        <p:spPr>
          <a:xfrm>
            <a:off x="6350139" y="3275012"/>
            <a:ext cx="5140196" cy="1389063"/>
          </a:xfrm>
          <a:prstGeom prst="roundRect">
            <a:avLst>
              <a:gd name="adj" fmla="val 10716"/>
            </a:avLst>
          </a:prstGeom>
          <a:solidFill>
            <a:srgbClr val="282834"/>
          </a:solidFill>
          <a:ln/>
        </p:spPr>
      </p:sp>
      <p:sp>
        <p:nvSpPr>
          <p:cNvPr id="9" name="Text 7"/>
          <p:cNvSpPr/>
          <p:nvPr/>
        </p:nvSpPr>
        <p:spPr>
          <a:xfrm>
            <a:off x="6548571" y="3440311"/>
            <a:ext cx="4743331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print(df.head())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print(df.head(3))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print(df.tail())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print(df.tail(2))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9083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0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구조 확인 핵심 속성</a:t>
            </a:r>
            <a:endParaRPr lang="ko-KR" sz="30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388467"/>
          <a:ext cx="10868745" cy="3096043"/>
        </p:xfrm>
        <a:graphic>
          <a:graphicData uri="http://schemas.openxmlformats.org/drawingml/2006/table">
            <a:tbl>
              <a:tblPr/>
              <a:tblGrid>
                <a:gridCol w="3622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속성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의미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예시 결과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1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df.shape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(행 수, 열 수)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(100, 6)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1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df.ndim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차원 수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1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df.size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전체 원소 수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600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1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df.columns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컬럼 이름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Index([...])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31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df.index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행 인덱스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RangeIndex(...)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0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df.dtypes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컬럼별 자료형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int64, float64, object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61475" y="4721126"/>
            <a:ext cx="10868745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샘플</a:t>
            </a:r>
            <a:endParaRPr lang="ko-KR" sz="1500" dirty="0"/>
          </a:p>
        </p:txBody>
      </p:sp>
      <p:sp>
        <p:nvSpPr>
          <p:cNvPr id="5" name="Shape 2"/>
          <p:cNvSpPr/>
          <p:nvPr/>
        </p:nvSpPr>
        <p:spPr>
          <a:xfrm>
            <a:off x="661475" y="5190530"/>
            <a:ext cx="10868745" cy="1068388"/>
          </a:xfrm>
          <a:prstGeom prst="roundRect">
            <a:avLst>
              <a:gd name="adj" fmla="val 13236"/>
            </a:avLst>
          </a:prstGeom>
          <a:solidFill>
            <a:srgbClr val="F2F2F2"/>
          </a:solidFill>
          <a:ln/>
        </p:spPr>
      </p:sp>
      <p:sp>
        <p:nvSpPr>
          <p:cNvPr id="6" name="Text 3"/>
          <p:cNvSpPr/>
          <p:nvPr/>
        </p:nvSpPr>
        <p:spPr>
          <a:xfrm>
            <a:off x="849986" y="5347593"/>
            <a:ext cx="10491723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rows, cols = df.shape</a:t>
            </a:r>
            <a:endParaRPr lang="ko-KR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print("행 수:", rows)</a:t>
            </a:r>
            <a:endParaRPr lang="ko-KR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print("열 수:", cols)</a:t>
            </a:r>
            <a:endParaRPr lang="ko-KR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1113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DataFrame의 dtype 이해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768518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Pandas에서 자주 보는 dtype</a:t>
            </a:r>
            <a:endParaRPr lang="ko-KR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527218"/>
              </p:ext>
            </p:extLst>
          </p:nvPr>
        </p:nvGraphicFramePr>
        <p:xfrm>
          <a:off x="661475" y="2208526"/>
          <a:ext cx="10868745" cy="2886202"/>
        </p:xfrm>
        <a:graphic>
          <a:graphicData uri="http://schemas.openxmlformats.org/drawingml/2006/table">
            <a:tbl>
              <a:tblPr/>
              <a:tblGrid>
                <a:gridCol w="3622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89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dtype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의미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예시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int64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정수형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float64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실수형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92.5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object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일반 문자열/혼합 데이터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"서울"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bool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논리형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True / False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89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datetime64[ns]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날짜·시간형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2026-08-30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308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info() - 데이터 구조를 한 번에 점검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833166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info()에서 확인하는 것</a:t>
            </a:r>
            <a:endParaRPr lang="ko-KR" sz="1600" dirty="0"/>
          </a:p>
        </p:txBody>
      </p:sp>
      <p:sp>
        <p:nvSpPr>
          <p:cNvPr id="4" name="Text 2"/>
          <p:cNvSpPr/>
          <p:nvPr/>
        </p:nvSpPr>
        <p:spPr>
          <a:xfrm>
            <a:off x="661475" y="2256929"/>
            <a:ext cx="5232666" cy="1876921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전체 행 범위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전체 컬럼 수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컬럼명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각 컬럼의 Non-Null Count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각 컬럼 dtype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메모리 사용량</a:t>
            </a:r>
            <a:endParaRPr lang="ko-KR" sz="1300" dirty="0"/>
          </a:p>
        </p:txBody>
      </p:sp>
      <p:sp>
        <p:nvSpPr>
          <p:cNvPr id="5" name="Text 3"/>
          <p:cNvSpPr/>
          <p:nvPr/>
        </p:nvSpPr>
        <p:spPr>
          <a:xfrm>
            <a:off x="661475" y="4299148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주의</a:t>
            </a:r>
            <a:endParaRPr lang="ko-KR" sz="1600" dirty="0"/>
          </a:p>
        </p:txBody>
      </p:sp>
      <p:sp>
        <p:nvSpPr>
          <p:cNvPr id="6" name="Text 4"/>
          <p:cNvSpPr/>
          <p:nvPr/>
        </p:nvSpPr>
        <p:spPr>
          <a:xfrm>
            <a:off x="661475" y="4722912"/>
            <a:ext cx="5232666" cy="1174155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df.info()는 정보를 화면에 직접 출력한다.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print(df.info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())를 사용하면 마지막에 None이 추가로 출력된다.</a:t>
            </a:r>
            <a:endParaRPr lang="ko-KR" sz="1300" dirty="0"/>
          </a:p>
        </p:txBody>
      </p:sp>
      <p:sp>
        <p:nvSpPr>
          <p:cNvPr id="7" name="Shape 5"/>
          <p:cNvSpPr/>
          <p:nvPr/>
        </p:nvSpPr>
        <p:spPr>
          <a:xfrm>
            <a:off x="6184844" y="1667867"/>
            <a:ext cx="5470785" cy="4287044"/>
          </a:xfrm>
          <a:prstGeom prst="roundRect">
            <a:avLst>
              <a:gd name="adj" fmla="val 5555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350139" y="1833166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샘플 코드</a:t>
            </a:r>
            <a:endParaRPr lang="ko-KR" sz="1600" dirty="0"/>
          </a:p>
        </p:txBody>
      </p:sp>
      <p:sp>
        <p:nvSpPr>
          <p:cNvPr id="9" name="Shape 7"/>
          <p:cNvSpPr/>
          <p:nvPr/>
        </p:nvSpPr>
        <p:spPr>
          <a:xfrm>
            <a:off x="6350139" y="2277666"/>
            <a:ext cx="5140196" cy="595213"/>
          </a:xfrm>
          <a:prstGeom prst="roundRect">
            <a:avLst>
              <a:gd name="adj" fmla="val 25008"/>
            </a:avLst>
          </a:prstGeom>
          <a:solidFill>
            <a:srgbClr val="282834"/>
          </a:solidFill>
          <a:ln/>
        </p:spPr>
      </p:sp>
      <p:sp>
        <p:nvSpPr>
          <p:cNvPr id="10" name="Text 8"/>
          <p:cNvSpPr/>
          <p:nvPr/>
        </p:nvSpPr>
        <p:spPr>
          <a:xfrm>
            <a:off x="6548571" y="2442964"/>
            <a:ext cx="535291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print(df.info())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8720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0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describe() - 숫자형 기초통계</a:t>
            </a:r>
            <a:endParaRPr lang="ko-KR" sz="3050" dirty="0"/>
          </a:p>
        </p:txBody>
      </p:sp>
      <p:sp>
        <p:nvSpPr>
          <p:cNvPr id="3" name="Shape 1"/>
          <p:cNvSpPr/>
          <p:nvPr/>
        </p:nvSpPr>
        <p:spPr>
          <a:xfrm>
            <a:off x="548269" y="1423491"/>
            <a:ext cx="5469098" cy="4725789"/>
          </a:xfrm>
          <a:prstGeom prst="roundRect">
            <a:avLst>
              <a:gd name="adj" fmla="val 4788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05328" y="1572716"/>
            <a:ext cx="5154980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샘플 코드</a:t>
            </a:r>
            <a:endParaRPr lang="ko-KR" sz="1500" dirty="0"/>
          </a:p>
        </p:txBody>
      </p:sp>
      <p:sp>
        <p:nvSpPr>
          <p:cNvPr id="5" name="Shape 3"/>
          <p:cNvSpPr/>
          <p:nvPr/>
        </p:nvSpPr>
        <p:spPr>
          <a:xfrm>
            <a:off x="705328" y="1986161"/>
            <a:ext cx="5154980" cy="565547"/>
          </a:xfrm>
          <a:prstGeom prst="roundRect">
            <a:avLst>
              <a:gd name="adj" fmla="val 25004"/>
            </a:avLst>
          </a:prstGeom>
          <a:solidFill>
            <a:srgbClr val="282834"/>
          </a:solidFill>
          <a:ln/>
        </p:spPr>
      </p:sp>
      <p:sp>
        <p:nvSpPr>
          <p:cNvPr id="6" name="Text 4"/>
          <p:cNvSpPr/>
          <p:nvPr/>
        </p:nvSpPr>
        <p:spPr>
          <a:xfrm>
            <a:off x="893839" y="2143224"/>
            <a:ext cx="5387543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print(df.describe())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05328" y="2719586"/>
            <a:ext cx="5154980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활용</a:t>
            </a:r>
            <a:endParaRPr lang="ko-KR" sz="1500" dirty="0"/>
          </a:p>
        </p:txBody>
      </p:sp>
      <p:sp>
        <p:nvSpPr>
          <p:cNvPr id="8" name="Text 6"/>
          <p:cNvSpPr/>
          <p:nvPr/>
        </p:nvSpPr>
        <p:spPr>
          <a:xfrm>
            <a:off x="705328" y="3114377"/>
            <a:ext cx="5764564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점수, 매출, 수량, 가격 등 숫자형 컬럼을 빠르게 점검한다.</a:t>
            </a:r>
            <a:endParaRPr lang="ko-KR" sz="1200" dirty="0"/>
          </a:p>
        </p:txBody>
      </p:sp>
      <p:sp>
        <p:nvSpPr>
          <p:cNvPr id="9" name="Text 7"/>
          <p:cNvSpPr/>
          <p:nvPr/>
        </p:nvSpPr>
        <p:spPr>
          <a:xfrm>
            <a:off x="6293883" y="1572716"/>
            <a:ext cx="524268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주요 결과</a:t>
            </a:r>
            <a:endParaRPr lang="ko-KR" sz="1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93883" y="1986161"/>
          <a:ext cx="5242686" cy="3982441"/>
        </p:xfrm>
        <a:graphic>
          <a:graphicData uri="http://schemas.openxmlformats.org/drawingml/2006/table">
            <a:tbl>
              <a:tblPr/>
              <a:tblGrid>
                <a:gridCol w="2621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1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0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항목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의미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1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count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값의 개수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1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mean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평균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1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표준편차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1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최솟값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31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25%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1사분위수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31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50%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중앙값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31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75%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3사분위수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0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max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최댓값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2935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범주형 데이터 요약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376785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문자열 컬럼은 빈도 확인이 유용하다.</a:t>
            </a:r>
            <a:endParaRPr lang="ko-KR" sz="1300" dirty="0"/>
          </a:p>
        </p:txBody>
      </p:sp>
      <p:sp>
        <p:nvSpPr>
          <p:cNvPr id="4" name="Shape 2"/>
          <p:cNvSpPr/>
          <p:nvPr/>
        </p:nvSpPr>
        <p:spPr>
          <a:xfrm>
            <a:off x="542415" y="2827437"/>
            <a:ext cx="5470785" cy="2501106"/>
          </a:xfrm>
          <a:prstGeom prst="roundRect">
            <a:avLst>
              <a:gd name="adj" fmla="val 9522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07710" y="2992735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샘플 코드</a:t>
            </a:r>
            <a:endParaRPr lang="ko-KR" sz="1600" dirty="0"/>
          </a:p>
        </p:txBody>
      </p:sp>
      <p:sp>
        <p:nvSpPr>
          <p:cNvPr id="6" name="Shape 4"/>
          <p:cNvSpPr/>
          <p:nvPr/>
        </p:nvSpPr>
        <p:spPr>
          <a:xfrm>
            <a:off x="707710" y="3437235"/>
            <a:ext cx="5140196" cy="1124446"/>
          </a:xfrm>
          <a:prstGeom prst="roundRect">
            <a:avLst>
              <a:gd name="adj" fmla="val 13238"/>
            </a:avLst>
          </a:prstGeom>
          <a:solidFill>
            <a:srgbClr val="282834"/>
          </a:solidFill>
          <a:ln/>
        </p:spPr>
      </p:sp>
      <p:sp>
        <p:nvSpPr>
          <p:cNvPr id="7" name="Text 5"/>
          <p:cNvSpPr/>
          <p:nvPr/>
        </p:nvSpPr>
        <p:spPr>
          <a:xfrm>
            <a:off x="906142" y="3602534"/>
            <a:ext cx="4743331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print(df["전공"].value_counts())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print(df["전공"].nunique())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print(df["전공"].unique())</a:t>
            </a:r>
            <a:endParaRPr lang="ko-KR" sz="1300" dirty="0"/>
          </a:p>
        </p:txBody>
      </p:sp>
      <p:sp>
        <p:nvSpPr>
          <p:cNvPr id="8" name="Text 6"/>
          <p:cNvSpPr/>
          <p:nvPr/>
        </p:nvSpPr>
        <p:spPr>
          <a:xfrm>
            <a:off x="6303904" y="2992735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의미</a:t>
            </a:r>
            <a:endParaRPr lang="ko-KR" sz="1600" dirty="0"/>
          </a:p>
        </p:txBody>
      </p:sp>
      <p:sp>
        <p:nvSpPr>
          <p:cNvPr id="9" name="Text 7"/>
          <p:cNvSpPr/>
          <p:nvPr/>
        </p:nvSpPr>
        <p:spPr>
          <a:xfrm>
            <a:off x="6303904" y="3416498"/>
            <a:ext cx="5232666" cy="909538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value_counts(): 값별 출현 횟수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nunique(): 서로 다른 값의 개수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unique(): 고유한 값 목록</a:t>
            </a:r>
            <a:endParaRPr lang="ko-KR" sz="1300" dirty="0"/>
          </a:p>
        </p:txBody>
      </p:sp>
      <p:sp>
        <p:nvSpPr>
          <p:cNvPr id="10" name="Text 8"/>
          <p:cNvSpPr/>
          <p:nvPr/>
        </p:nvSpPr>
        <p:spPr>
          <a:xfrm>
            <a:off x="6303904" y="4491335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예시 질문</a:t>
            </a:r>
            <a:endParaRPr lang="ko-KR" sz="1600" dirty="0"/>
          </a:p>
        </p:txBody>
      </p:sp>
      <p:sp>
        <p:nvSpPr>
          <p:cNvPr id="11" name="Text 9"/>
          <p:cNvSpPr/>
          <p:nvPr/>
        </p:nvSpPr>
        <p:spPr>
          <a:xfrm>
            <a:off x="6303904" y="4915098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"어떤 전공의 학생이 가장 많은가?"</a:t>
            </a:r>
            <a:endParaRPr lang="ko-KR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5815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숫자 Series의 주요 집계 메소드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1722934"/>
            <a:ext cx="5470785" cy="4176911"/>
          </a:xfrm>
          <a:prstGeom prst="roundRect">
            <a:avLst>
              <a:gd name="adj" fmla="val 5702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07710" y="1888232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샘플 코드</a:t>
            </a:r>
            <a:endParaRPr lang="ko-KR" sz="1600" dirty="0"/>
          </a:p>
        </p:txBody>
      </p:sp>
      <p:sp>
        <p:nvSpPr>
          <p:cNvPr id="5" name="Shape 3"/>
          <p:cNvSpPr/>
          <p:nvPr/>
        </p:nvSpPr>
        <p:spPr>
          <a:xfrm>
            <a:off x="707710" y="2332732"/>
            <a:ext cx="5140196" cy="2447528"/>
          </a:xfrm>
          <a:prstGeom prst="roundRect">
            <a:avLst>
              <a:gd name="adj" fmla="val 6082"/>
            </a:avLst>
          </a:prstGeom>
          <a:solidFill>
            <a:srgbClr val="282834"/>
          </a:solidFill>
          <a:ln/>
        </p:spPr>
      </p:sp>
      <p:sp>
        <p:nvSpPr>
          <p:cNvPr id="6" name="Text 4"/>
          <p:cNvSpPr/>
          <p:nvPr/>
        </p:nvSpPr>
        <p:spPr>
          <a:xfrm>
            <a:off x="906142" y="2498030"/>
            <a:ext cx="4743331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df["Python점수"]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print(score.sum())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print(score.mean())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print(score.min())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print(score.max())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print(score.median())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print(score.count())</a:t>
            </a:r>
            <a:endParaRPr lang="ko-KR" sz="1300" dirty="0"/>
          </a:p>
        </p:txBody>
      </p:sp>
      <p:sp>
        <p:nvSpPr>
          <p:cNvPr id="7" name="Text 5"/>
          <p:cNvSpPr/>
          <p:nvPr/>
        </p:nvSpPr>
        <p:spPr>
          <a:xfrm>
            <a:off x="6303904" y="1888232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메소드 정리</a:t>
            </a:r>
            <a:endParaRPr lang="ko-KR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3904" y="2332732"/>
          <a:ext cx="5232666" cy="3368294"/>
        </p:xfrm>
        <a:graphic>
          <a:graphicData uri="http://schemas.openxmlformats.org/drawingml/2006/table">
            <a:tbl>
              <a:tblPr/>
              <a:tblGrid>
                <a:gridCol w="2616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6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9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메소드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의미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sum()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합계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mean()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평균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min()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최솟값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max()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최댓값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median()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중앙값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89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count()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결측값을 제외한 값의 개수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3244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4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Pandas 주요 객체·상수·속성·메소드 정리</a:t>
            </a:r>
            <a:endParaRPr lang="ko-KR" sz="2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126927"/>
          <a:ext cx="10868745" cy="5164999"/>
        </p:xfrm>
        <a:graphic>
          <a:graphicData uri="http://schemas.openxmlformats.org/drawingml/2006/table">
            <a:tbl>
              <a:tblPr/>
              <a:tblGrid>
                <a:gridCol w="3622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0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분류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이름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역할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객체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pd.Series()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1차원 데이터 생성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객체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pd.DataFrame()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2차원 표 데이터 생성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함수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pd.read_csv()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CSV를 DataFrame으로 읽기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특수값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pd.NA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Pandas의 결측값 표현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1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특수값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pd.NaT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날짜·시간 계열의 결측값 표현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1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속성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df.shape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행·열 수 확인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1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속성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df.columns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컬럼 이름 확인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1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속성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df.index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인덱스 확인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1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속성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df.dtypes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컬럼별 dtype 확인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1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메소드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df.head()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앞부분 확인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1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메소드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df.tail()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뒷부분 확인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41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메소드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df.info()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구조·Non-Null·dtype 확인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41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메소드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df.describe()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숫자형 기초통계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41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메소드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Series.value_counts()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값별 빈도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41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메소드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Series.nunique()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고유값 개수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10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메소드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Series.mean()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평균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7359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한 컬럼과 여러 컬럼 선택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2238375"/>
            <a:ext cx="5470785" cy="3146028"/>
          </a:xfrm>
          <a:prstGeom prst="roundRect">
            <a:avLst>
              <a:gd name="adj" fmla="val 7570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07710" y="2403673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한 컬럼 → Series</a:t>
            </a:r>
            <a:endParaRPr lang="ko-KR" sz="1600" dirty="0"/>
          </a:p>
        </p:txBody>
      </p:sp>
      <p:sp>
        <p:nvSpPr>
          <p:cNvPr id="5" name="Shape 3"/>
          <p:cNvSpPr/>
          <p:nvPr/>
        </p:nvSpPr>
        <p:spPr>
          <a:xfrm>
            <a:off x="707710" y="2848173"/>
            <a:ext cx="5140196" cy="859830"/>
          </a:xfrm>
          <a:prstGeom prst="roundRect">
            <a:avLst>
              <a:gd name="adj" fmla="val 17312"/>
            </a:avLst>
          </a:prstGeom>
          <a:solidFill>
            <a:srgbClr val="282834"/>
          </a:solidFill>
          <a:ln/>
        </p:spPr>
      </p:sp>
      <p:sp>
        <p:nvSpPr>
          <p:cNvPr id="6" name="Text 4"/>
          <p:cNvSpPr/>
          <p:nvPr/>
        </p:nvSpPr>
        <p:spPr>
          <a:xfrm>
            <a:off x="906142" y="3013472"/>
            <a:ext cx="474333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python_score = df["Python점수"]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print(type(python_score))</a:t>
            </a:r>
            <a:endParaRPr lang="ko-KR" sz="1300" dirty="0"/>
          </a:p>
        </p:txBody>
      </p:sp>
      <p:sp>
        <p:nvSpPr>
          <p:cNvPr id="7" name="Text 5"/>
          <p:cNvSpPr/>
          <p:nvPr/>
        </p:nvSpPr>
        <p:spPr>
          <a:xfrm>
            <a:off x="707710" y="3894038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여러 컬럼 → DataFrame</a:t>
            </a:r>
            <a:endParaRPr lang="ko-KR" sz="1600" dirty="0"/>
          </a:p>
        </p:txBody>
      </p:sp>
      <p:sp>
        <p:nvSpPr>
          <p:cNvPr id="8" name="Shape 6"/>
          <p:cNvSpPr/>
          <p:nvPr/>
        </p:nvSpPr>
        <p:spPr>
          <a:xfrm>
            <a:off x="707710" y="4338538"/>
            <a:ext cx="5140196" cy="859830"/>
          </a:xfrm>
          <a:prstGeom prst="roundRect">
            <a:avLst>
              <a:gd name="adj" fmla="val 17312"/>
            </a:avLst>
          </a:prstGeom>
          <a:solidFill>
            <a:srgbClr val="282834"/>
          </a:solidFill>
          <a:ln/>
        </p:spPr>
      </p:sp>
      <p:sp>
        <p:nvSpPr>
          <p:cNvPr id="9" name="Text 7"/>
          <p:cNvSpPr/>
          <p:nvPr/>
        </p:nvSpPr>
        <p:spPr>
          <a:xfrm>
            <a:off x="906142" y="4503837"/>
            <a:ext cx="474333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score_df = df[["이름", "Python점수", "AI점수"]]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print(type(score_df))</a:t>
            </a:r>
            <a:endParaRPr lang="ko-KR" sz="1300" dirty="0"/>
          </a:p>
        </p:txBody>
      </p:sp>
      <p:sp>
        <p:nvSpPr>
          <p:cNvPr id="10" name="Text 8"/>
          <p:cNvSpPr/>
          <p:nvPr/>
        </p:nvSpPr>
        <p:spPr>
          <a:xfrm>
            <a:off x="6303904" y="2403673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주의</a:t>
            </a:r>
            <a:endParaRPr lang="ko-KR" sz="1600" dirty="0"/>
          </a:p>
        </p:txBody>
      </p:sp>
      <p:sp>
        <p:nvSpPr>
          <p:cNvPr id="11" name="Text 9"/>
          <p:cNvSpPr/>
          <p:nvPr/>
        </p:nvSpPr>
        <p:spPr>
          <a:xfrm>
            <a:off x="6303903" y="2827437"/>
            <a:ext cx="6373005" cy="1836003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210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한 컬럼: 대괄호 1쌍</a:t>
            </a:r>
            <a:endParaRPr lang="ko-KR" sz="1300" dirty="0"/>
          </a:p>
          <a:p>
            <a:pPr marL="264160" indent="-264160" algn="l">
              <a:lnSpc>
                <a:spcPct val="210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여러 컬럼: 컬럼명 리스트가 들어가므로 대괄호가 </a:t>
            </a:r>
            <a:r>
              <a:rPr lang="ko-KR" altLang="en-US" sz="130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r>
              <a:rPr lang="ko-KR" altLang="en-US" sz="130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쌍</a:t>
            </a:r>
            <a:endParaRPr lang="ko-KR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0161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데이터 점검 순서 - 실무 체크리스트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849041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CSV 파일을 처음 받았다면 다음 순서를 권장한다.</a:t>
            </a:r>
            <a:endParaRPr lang="ko-KR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2299692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2561630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2682379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파일이 정상적으로 읽히는가?</a:t>
            </a:r>
            <a:endParaRPr lang="ko-KR" sz="1600" dirty="0"/>
          </a:p>
        </p:txBody>
      </p:sp>
      <p:sp>
        <p:nvSpPr>
          <p:cNvPr id="7" name="Text 5"/>
          <p:cNvSpPr/>
          <p:nvPr/>
        </p:nvSpPr>
        <p:spPr>
          <a:xfrm>
            <a:off x="6178495" y="2299692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8495" y="2561630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9" name="Text 7"/>
          <p:cNvSpPr/>
          <p:nvPr/>
        </p:nvSpPr>
        <p:spPr>
          <a:xfrm>
            <a:off x="6178495" y="2682379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head()/tail()로 값 모양이 예상과 같은가?</a:t>
            </a:r>
            <a:endParaRPr lang="ko-KR" sz="1600" dirty="0"/>
          </a:p>
        </p:txBody>
      </p:sp>
      <p:sp>
        <p:nvSpPr>
          <p:cNvPr id="10" name="Text 8"/>
          <p:cNvSpPr/>
          <p:nvPr/>
        </p:nvSpPr>
        <p:spPr>
          <a:xfrm>
            <a:off x="661475" y="3230166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1475" y="3492103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2" name="Text 10"/>
          <p:cNvSpPr/>
          <p:nvPr/>
        </p:nvSpPr>
        <p:spPr>
          <a:xfrm>
            <a:off x="661475" y="3612852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shape로 행·열 수가 예상과 같은가?</a:t>
            </a:r>
            <a:endParaRPr lang="ko-KR" sz="1600" dirty="0"/>
          </a:p>
        </p:txBody>
      </p:sp>
      <p:sp>
        <p:nvSpPr>
          <p:cNvPr id="13" name="Text 11"/>
          <p:cNvSpPr/>
          <p:nvPr/>
        </p:nvSpPr>
        <p:spPr>
          <a:xfrm>
            <a:off x="6178495" y="3230166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8495" y="3492103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5" name="Text 13"/>
          <p:cNvSpPr/>
          <p:nvPr/>
        </p:nvSpPr>
        <p:spPr>
          <a:xfrm>
            <a:off x="6178495" y="3612852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columns로 컬럼명이 정확한가?</a:t>
            </a:r>
            <a:endParaRPr lang="ko-KR" sz="1600" dirty="0"/>
          </a:p>
        </p:txBody>
      </p:sp>
      <p:sp>
        <p:nvSpPr>
          <p:cNvPr id="16" name="Text 14"/>
          <p:cNvSpPr/>
          <p:nvPr/>
        </p:nvSpPr>
        <p:spPr>
          <a:xfrm>
            <a:off x="661475" y="4160639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1475" y="4422577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8" name="Text 16"/>
          <p:cNvSpPr/>
          <p:nvPr/>
        </p:nvSpPr>
        <p:spPr>
          <a:xfrm>
            <a:off x="661475" y="4543326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dtypes와 info()로 자료형과 값의 개수를 확인했는가?</a:t>
            </a:r>
            <a:endParaRPr lang="ko-KR" sz="1600" dirty="0"/>
          </a:p>
        </p:txBody>
      </p:sp>
      <p:sp>
        <p:nvSpPr>
          <p:cNvPr id="19" name="Text 17"/>
          <p:cNvSpPr/>
          <p:nvPr/>
        </p:nvSpPr>
        <p:spPr>
          <a:xfrm>
            <a:off x="6178495" y="4160639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06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8495" y="4422577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1" name="Text 19"/>
          <p:cNvSpPr/>
          <p:nvPr/>
        </p:nvSpPr>
        <p:spPr>
          <a:xfrm>
            <a:off x="6178495" y="4543326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describe()로 숫자 범위를 확인했는가?</a:t>
            </a:r>
            <a:endParaRPr lang="ko-KR" sz="1600" dirty="0"/>
          </a:p>
        </p:txBody>
      </p:sp>
      <p:sp>
        <p:nvSpPr>
          <p:cNvPr id="22" name="Text 20"/>
          <p:cNvSpPr/>
          <p:nvPr/>
        </p:nvSpPr>
        <p:spPr>
          <a:xfrm>
            <a:off x="661475" y="5091113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07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61475" y="5353050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4" name="Text 22"/>
          <p:cNvSpPr/>
          <p:nvPr/>
        </p:nvSpPr>
        <p:spPr>
          <a:xfrm>
            <a:off x="661475" y="5473799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value_counts()/nunique()로 범주 구성을 확인했는가?</a:t>
            </a:r>
            <a:endParaRPr lang="ko-KR" sz="1600" dirty="0"/>
          </a:p>
        </p:txBody>
      </p:sp>
      <p:sp>
        <p:nvSpPr>
          <p:cNvPr id="25" name="Text 23"/>
          <p:cNvSpPr/>
          <p:nvPr/>
        </p:nvSpPr>
        <p:spPr>
          <a:xfrm>
            <a:off x="6178495" y="5091113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08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78495" y="5353050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7" name="Text 25"/>
          <p:cNvSpPr/>
          <p:nvPr/>
        </p:nvSpPr>
        <p:spPr>
          <a:xfrm>
            <a:off x="6178495" y="5473799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컬럼 설명을 데이터 사전으로 남겼는가?</a:t>
            </a:r>
            <a:endParaRPr lang="ko-KR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4171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데이터 사전(Data Dictionary)이란?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989138"/>
            <a:ext cx="10868745" cy="587077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 lnSpcReduction="10000"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데이터의 각 컬럼이 무엇을 의미하는지 정리한 문서이다.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분석자와 협업자가 같은 의미로 데이터를 이해하게 해준다.</a:t>
            </a:r>
            <a:endParaRPr lang="ko-KR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2824262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예시</a:t>
            </a:r>
            <a:endParaRPr lang="ko-KR" sz="1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3330773"/>
          <a:ext cx="10868744" cy="1922018"/>
        </p:xfrm>
        <a:graphic>
          <a:graphicData uri="http://schemas.openxmlformats.org/drawingml/2006/table">
            <a:tbl>
              <a:tblPr/>
              <a:tblGrid>
                <a:gridCol w="27171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89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컬럼명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dtype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의미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예시값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학생ID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object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학생 식별 코드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S001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Python점수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int64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Python 평가 점수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88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9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출석률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float64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출석 비율(%)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98.0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6605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대표 실습 의사코드</a:t>
            </a:r>
            <a:endParaRPr lang="ko-KR" sz="2600" dirty="0"/>
          </a:p>
        </p:txBody>
      </p:sp>
      <p:sp>
        <p:nvSpPr>
          <p:cNvPr id="3" name="Shape 1"/>
          <p:cNvSpPr/>
          <p:nvPr/>
        </p:nvSpPr>
        <p:spPr>
          <a:xfrm>
            <a:off x="566227" y="1028799"/>
            <a:ext cx="5463542" cy="5372497"/>
          </a:xfrm>
          <a:prstGeom prst="roundRect">
            <a:avLst>
              <a:gd name="adj" fmla="val 3546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98483" y="1147862"/>
            <a:ext cx="5199032" cy="5134372"/>
          </a:xfrm>
          <a:prstGeom prst="roundRect">
            <a:avLst>
              <a:gd name="adj" fmla="val 2319"/>
            </a:avLst>
          </a:prstGeom>
          <a:solidFill>
            <a:srgbClr val="282834"/>
          </a:solidFill>
          <a:ln/>
        </p:spPr>
      </p:sp>
      <p:sp>
        <p:nvSpPr>
          <p:cNvPr id="5" name="Text 3"/>
          <p:cNvSpPr/>
          <p:nvPr/>
        </p:nvSpPr>
        <p:spPr>
          <a:xfrm>
            <a:off x="857229" y="1280120"/>
            <a:ext cx="4881540" cy="4869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ko-KR" sz="1200" dirty="0">
              <a:solidFill>
                <a:schemeClr val="bg1"/>
              </a:solidFill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 불러오기</a:t>
            </a:r>
            <a:endParaRPr lang="ko-KR" sz="1200" dirty="0">
              <a:solidFill>
                <a:schemeClr val="bg1"/>
              </a:solidFill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실습 CSV가 없으면 샘플 파일 생성</a:t>
            </a:r>
            <a:endParaRPr lang="ko-KR" sz="1200" dirty="0">
              <a:solidFill>
                <a:schemeClr val="bg1"/>
              </a:solidFill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CSV를 DataFrame으로 읽기</a:t>
            </a:r>
            <a:endParaRPr lang="ko-KR" sz="1200" dirty="0">
              <a:solidFill>
                <a:schemeClr val="bg1"/>
              </a:solidFill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ko-KR" sz="1200" dirty="0">
              <a:solidFill>
                <a:schemeClr val="bg1"/>
              </a:solidFill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DataFrame 타입 출력</a:t>
            </a:r>
            <a:endParaRPr lang="ko-KR" sz="1200" dirty="0">
              <a:solidFill>
                <a:schemeClr val="bg1"/>
              </a:solidFill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 / tail 출력</a:t>
            </a:r>
            <a:endParaRPr lang="ko-KR" sz="1200" dirty="0">
              <a:solidFill>
                <a:schemeClr val="bg1"/>
              </a:solidFill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 / columns / index / dtypes 출력</a:t>
            </a:r>
            <a:endParaRPr lang="ko-KR" sz="1200" dirty="0">
              <a:solidFill>
                <a:schemeClr val="bg1"/>
              </a:solidFill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 출력</a:t>
            </a:r>
            <a:endParaRPr lang="ko-KR" sz="1200" dirty="0">
              <a:solidFill>
                <a:schemeClr val="bg1"/>
              </a:solidFill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ko-KR" sz="1200" dirty="0">
              <a:solidFill>
                <a:schemeClr val="bg1"/>
              </a:solidFill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한 컬럼을 Series로 선택</a:t>
            </a:r>
            <a:endParaRPr lang="ko-KR" sz="1200" dirty="0">
              <a:solidFill>
                <a:schemeClr val="bg1"/>
              </a:solidFill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여러 컬럼을 DataFrame으로 선택</a:t>
            </a:r>
            <a:endParaRPr lang="ko-KR" sz="1200" dirty="0">
              <a:solidFill>
                <a:schemeClr val="bg1"/>
              </a:solidFill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ko-KR" sz="1200" dirty="0">
              <a:solidFill>
                <a:schemeClr val="bg1"/>
              </a:solidFill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숫자형 기초통계 출력</a:t>
            </a:r>
            <a:endParaRPr lang="ko-KR" sz="1200" dirty="0">
              <a:solidFill>
                <a:schemeClr val="bg1"/>
              </a:solidFill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범주형 빈도 출력</a:t>
            </a:r>
            <a:endParaRPr lang="ko-KR" sz="1200" dirty="0">
              <a:solidFill>
                <a:schemeClr val="bg1"/>
              </a:solidFill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ko-KR" sz="1200" dirty="0">
              <a:solidFill>
                <a:schemeClr val="bg1"/>
              </a:solidFill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각 컬럼에 대해</a:t>
            </a:r>
            <a:endParaRPr lang="ko-KR" sz="1200" dirty="0">
              <a:solidFill>
                <a:schemeClr val="bg1"/>
              </a:solidFill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dtype 확인</a:t>
            </a:r>
            <a:endParaRPr lang="ko-KR" sz="1200" dirty="0">
              <a:solidFill>
                <a:schemeClr val="bg1"/>
              </a:solidFill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Non-Null 개수 확인</a:t>
            </a:r>
            <a:endParaRPr lang="ko-KR" sz="1200" dirty="0">
              <a:solidFill>
                <a:schemeClr val="bg1"/>
              </a:solidFill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고유값 개수 확인</a:t>
            </a:r>
            <a:endParaRPr lang="ko-KR" sz="1200" dirty="0">
              <a:solidFill>
                <a:schemeClr val="bg1"/>
              </a:solidFill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데이터 점검표 생성</a:t>
            </a:r>
            <a:endParaRPr lang="ko-KR" sz="1200" dirty="0">
              <a:solidFill>
                <a:schemeClr val="bg1"/>
              </a:solidFill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점검표를 CSV로 저장</a:t>
            </a:r>
            <a:endParaRPr lang="ko-KR" sz="1200" dirty="0">
              <a:solidFill>
                <a:schemeClr val="bg1"/>
              </a:solidFill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ko-KR" sz="1200" dirty="0">
              <a:solidFill>
                <a:schemeClr val="bg1"/>
              </a:solidFill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523" y="1147862"/>
            <a:ext cx="4218378" cy="421848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4451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자주 발생하는 실수와 원인</a:t>
            </a:r>
            <a:endParaRPr lang="ko-KR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61475" y="2191941"/>
            <a:ext cx="3512653" cy="15780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2017" y="2376289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FileNotFoundError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22017" y="2733973"/>
            <a:ext cx="3067767" cy="587077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 lnSpcReduction="10000"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원인: CSV 경로가 잘못됨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확인: 현재 작업 폴더와 파일명 확인</a:t>
            </a:r>
            <a:endParaRPr lang="ko-KR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339422" y="2191941"/>
            <a:ext cx="3512752" cy="157807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99964" y="2376289"/>
            <a:ext cx="30678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UnicodeDecodeError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599964" y="2733973"/>
            <a:ext cx="3067866" cy="851694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 lnSpcReduction="10000"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원인: 실제 파일 </a:t>
            </a:r>
            <a:r>
              <a:rPr lang="ko-KR" altLang="en-US" sz="130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인코딩과 </a:t>
            </a:r>
            <a:endParaRPr lang="en-US" altLang="ko-KR" sz="1300" smtClean="0">
              <a:solidFill>
                <a:srgbClr val="3C393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algn="l">
              <a:lnSpc>
                <a:spcPct val="133000"/>
              </a:lnSpc>
              <a:buSzPct val="100000"/>
            </a:pPr>
            <a:r>
              <a:rPr lang="en-US" altLang="ko-KR" sz="130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altLang="ko-KR" sz="130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</a:t>
            </a:r>
            <a:r>
              <a:rPr lang="ko-KR" altLang="en-US" sz="130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encoding 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인수가 다름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확인: utf-8, utf-8-sig, cp949 등 확인</a:t>
            </a:r>
            <a:endParaRPr lang="ko-KR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8017468" y="2191941"/>
            <a:ext cx="3512653" cy="157807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78010" y="2376289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KeyError: '컬럼명'</a:t>
            </a:r>
            <a:endParaRPr lang="ko-KR" sz="1600" dirty="0"/>
          </a:p>
        </p:txBody>
      </p:sp>
      <p:sp>
        <p:nvSpPr>
          <p:cNvPr id="11" name="Text 6"/>
          <p:cNvSpPr/>
          <p:nvPr/>
        </p:nvSpPr>
        <p:spPr>
          <a:xfrm>
            <a:off x="8278010" y="2733973"/>
            <a:ext cx="3067767" cy="587077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 lnSpcReduction="10000"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원인: 존재하지 않는 컬럼명을 사용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확인: print(df.columns)</a:t>
            </a:r>
            <a:endParaRPr lang="ko-KR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61475" y="3935313"/>
            <a:ext cx="3512653" cy="157807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22017" y="4119662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print(df.info())의 마지막 None</a:t>
            </a:r>
            <a:endParaRPr lang="ko-KR" sz="1600" dirty="0"/>
          </a:p>
        </p:txBody>
      </p:sp>
      <p:sp>
        <p:nvSpPr>
          <p:cNvPr id="14" name="Text 8"/>
          <p:cNvSpPr/>
          <p:nvPr/>
        </p:nvSpPr>
        <p:spPr>
          <a:xfrm>
            <a:off x="922017" y="4477345"/>
            <a:ext cx="3067767" cy="851694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 lnSpcReduction="10000"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원인: info() 자체가 </a:t>
            </a:r>
            <a:r>
              <a:rPr lang="ko-KR" altLang="en-US" sz="130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출력하고 </a:t>
            </a:r>
            <a:endParaRPr lang="en-US" altLang="ko-KR" sz="1300" smtClean="0">
              <a:solidFill>
                <a:srgbClr val="3C393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algn="l">
              <a:lnSpc>
                <a:spcPct val="133000"/>
              </a:lnSpc>
              <a:buSzPct val="100000"/>
            </a:pPr>
            <a:r>
              <a:rPr lang="en-US" altLang="ko-KR" sz="130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altLang="ko-KR" sz="130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</a:t>
            </a:r>
            <a:r>
              <a:rPr lang="ko-KR" altLang="en-US" sz="130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반환값은 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해결: df.info()만 호출</a:t>
            </a:r>
            <a:endParaRPr lang="ko-KR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4339422" y="3935313"/>
            <a:ext cx="3512752" cy="157807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599964" y="4119662"/>
            <a:ext cx="30678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df['A', 'B'] 오류</a:t>
            </a:r>
            <a:endParaRPr lang="ko-KR" sz="1600" dirty="0"/>
          </a:p>
        </p:txBody>
      </p:sp>
      <p:sp>
        <p:nvSpPr>
          <p:cNvPr id="17" name="Text 10"/>
          <p:cNvSpPr/>
          <p:nvPr/>
        </p:nvSpPr>
        <p:spPr>
          <a:xfrm>
            <a:off x="4599964" y="4477345"/>
            <a:ext cx="3067866" cy="587077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 lnSpcReduction="10000"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원인: 여러 컬럼 선택 방식 오류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해결: df[["A", "B"]]</a:t>
            </a:r>
            <a:endParaRPr lang="ko-KR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02907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387773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오늘의 정리와 다음 학습 연결</a:t>
            </a:r>
            <a:endParaRPr lang="ko-KR" sz="3250" dirty="0"/>
          </a:p>
        </p:txBody>
      </p:sp>
      <p:sp>
        <p:nvSpPr>
          <p:cNvPr id="4" name="Shape 1"/>
          <p:cNvSpPr/>
          <p:nvPr/>
        </p:nvSpPr>
        <p:spPr>
          <a:xfrm>
            <a:off x="5114301" y="2152551"/>
            <a:ext cx="3184842" cy="3317677"/>
          </a:xfrm>
          <a:prstGeom prst="roundRect">
            <a:avLst>
              <a:gd name="adj" fmla="val 7478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279595" y="2317849"/>
            <a:ext cx="285425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오늘 할 수 있어야 하는 것</a:t>
            </a:r>
            <a:endParaRPr lang="ko-KR" sz="1600" dirty="0"/>
          </a:p>
        </p:txBody>
      </p:sp>
      <p:sp>
        <p:nvSpPr>
          <p:cNvPr id="6" name="Text 3"/>
          <p:cNvSpPr/>
          <p:nvPr/>
        </p:nvSpPr>
        <p:spPr>
          <a:xfrm>
            <a:off x="5279595" y="2741613"/>
            <a:ext cx="2854254" cy="2670770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Series와 DataFrame 구분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CSV → DataFrame 변환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head(), tail(), shape, columns, dtypes, info()로 구조 파악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describe()와 집계 메소드로 숫자 데이터 파악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value_counts(), nunique()로 범주 데이터 파악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 사전 형태의 점검표 작성</a:t>
            </a:r>
            <a:endParaRPr lang="ko-KR" sz="1300" dirty="0"/>
          </a:p>
        </p:txBody>
      </p:sp>
      <p:sp>
        <p:nvSpPr>
          <p:cNvPr id="7" name="Text 4"/>
          <p:cNvSpPr/>
          <p:nvPr/>
        </p:nvSpPr>
        <p:spPr>
          <a:xfrm>
            <a:off x="8589847" y="2317849"/>
            <a:ext cx="294672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다음 학습 연결</a:t>
            </a:r>
            <a:endParaRPr lang="ko-KR" sz="1600" dirty="0"/>
          </a:p>
        </p:txBody>
      </p:sp>
      <p:sp>
        <p:nvSpPr>
          <p:cNvPr id="8" name="Text 5"/>
          <p:cNvSpPr/>
          <p:nvPr/>
        </p:nvSpPr>
        <p:spPr>
          <a:xfrm>
            <a:off x="8589847" y="2741613"/>
            <a:ext cx="2946723" cy="1438771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 fontScale="92500"/>
          </a:bodyPr>
          <a:lstStyle/>
          <a:p>
            <a:pPr marL="264160" indent="-264160" algn="l">
              <a:lnSpc>
                <a:spcPct val="150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오늘: "데이터가 어떤 상태인지 확인"</a:t>
            </a:r>
            <a:endParaRPr lang="ko-KR" sz="1300" dirty="0"/>
          </a:p>
          <a:p>
            <a:pPr marL="264160" indent="-264160" algn="l">
              <a:lnSpc>
                <a:spcPct val="150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다음: "분석할 수 있도록 </a:t>
            </a:r>
            <a:r>
              <a:rPr lang="ko-KR" altLang="en-US" sz="130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데이터를 </a:t>
            </a:r>
            <a:endParaRPr lang="en-US" altLang="ko-KR" sz="1300" smtClean="0">
              <a:solidFill>
                <a:srgbClr val="3C393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algn="l">
              <a:lnSpc>
                <a:spcPct val="150000"/>
              </a:lnSpc>
              <a:buSzPct val="100000"/>
            </a:pPr>
            <a:r>
              <a:rPr lang="en-US" altLang="ko-KR" sz="130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altLang="ko-KR" sz="130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  </a:t>
            </a:r>
            <a:r>
              <a:rPr lang="ko-KR" altLang="en-US" sz="130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정제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</a:t>
            </a:r>
            <a:endParaRPr lang="ko-KR" sz="1300" dirty="0"/>
          </a:p>
          <a:p>
            <a:pPr marL="264160" indent="-264160" algn="l">
              <a:lnSpc>
                <a:spcPct val="150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다음 핵심: loc/iloc, 결측치, 중복</a:t>
            </a:r>
            <a:r>
              <a:rPr lang="ko-KR" altLang="en-US" sz="130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ko-KR" altLang="en-US" sz="130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altLang="ko-KR" sz="1300" smtClean="0">
              <a:solidFill>
                <a:srgbClr val="3C393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algn="l">
              <a:lnSpc>
                <a:spcPct val="150000"/>
              </a:lnSpc>
              <a:buSzPct val="100000"/>
            </a:pPr>
            <a:r>
              <a:rPr lang="en-US" altLang="ko-KR" sz="130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         </a:t>
            </a:r>
            <a:r>
              <a:rPr lang="ko-KR" altLang="en-US" sz="130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자료형 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변환</a:t>
            </a:r>
            <a:endParaRPr lang="ko-KR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1757</Words>
  <Application>Microsoft Office PowerPoint</Application>
  <PresentationFormat>와이드스크린</PresentationFormat>
  <Paragraphs>505</Paragraphs>
  <Slides>26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4" baseType="lpstr">
      <vt:lpstr>Inter Bold</vt:lpstr>
      <vt:lpstr>Inter</vt:lpstr>
      <vt:lpstr>Arial</vt:lpstr>
      <vt:lpstr>Calibri</vt:lpstr>
      <vt:lpstr>Inter Light</vt:lpstr>
      <vt:lpstr>Consolas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realchoky-home</dc:creator>
  <cp:lastModifiedBy>realchoky-home</cp:lastModifiedBy>
  <cp:revision>5</cp:revision>
  <dcterms:created xsi:type="dcterms:W3CDTF">2026-08-30T14:24:08Z</dcterms:created>
  <dcterms:modified xsi:type="dcterms:W3CDTF">2026-08-30T14:36:57Z</dcterms:modified>
</cp:coreProperties>
</file>