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Inter Light" panose="02000503000000020004" pitchFamily="2" charset="0"/>
      <p:regular r:id="rId33"/>
      <p: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Inter Bold" panose="02000503000000020004" pitchFamily="2" charset="0"/>
      <p:regular r:id="rId43"/>
      <p:bold r:id="rId44"/>
    </p:embeddedFon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맑은 고딕" panose="020B0503020000020004" pitchFamily="50" charset="-127"/>
      <p:regular r:id="rId49"/>
      <p:bold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09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9-8.sv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12" Type="http://schemas.openxmlformats.org/officeDocument/2006/relationships/image" Target="../media/image-29-8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9-2.svg"/><Relationship Id="rId5" Type="http://schemas.openxmlformats.org/officeDocument/2006/relationships/image" Target="../media/image-29-2.svg"/><Relationship Id="rId10" Type="http://schemas.openxmlformats.org/officeDocument/2006/relationships/image" Target="../media/image-29-8.svg"/><Relationship Id="rId4" Type="http://schemas.openxmlformats.org/officeDocument/2006/relationships/image" Target="../media/image-29-2.svg"/><Relationship Id="rId14" Type="http://schemas.openxmlformats.org/officeDocument/2006/relationships/image" Target="../media/image-29-8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78199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</a:t>
            </a: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휴먼 </a:t>
            </a:r>
            <a:r>
              <a:rPr lang="en-US" altLang="ko-KR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- 11</a:t>
            </a: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일차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546773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600" b="1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</a:t>
            </a:r>
            <a:r>
              <a:rPr lang="ko-KR" altLang="en-US" sz="1600" b="1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조회와 전처리 — loc·iloc, 결측치, 중복, 자료형 변환</a:t>
            </a:r>
            <a:endParaRPr lang="ko-K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3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 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0976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9407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966615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loc와 iloc의 차이를 설명하고 필요한 행과 열을 조회할 수 있습니다.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612529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64353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66938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결측치(Missing Value)의 의미와 발생 원인을 설명할 수 있습니다.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33152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334630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3721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isna(), fillna(), dropna()를 이용해 결측치를 확인하고 처리할 수 있습니다.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401806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40490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407491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duplicated(), drop_duplicates()를 이용해 중복 데이터를 확인하고 제거할 수 있습니다.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72082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7518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77768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astype()과 pd.to_numeric()을 이용해 분석에 맞는 자료형으로 변환할 수 있습니다.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54235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45460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480447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전후의 행 수, 결측치 수, 자료형과 통계를 비교하여 처리 결과를 설명할 수 있습니다.</a:t>
            </a:r>
            <a:endParaRPr lang="ko-K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213"/>
            <a:ext cx="10868745" cy="27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전날 학습과 오늘 학습의 연결</a:t>
            </a:r>
            <a:endParaRPr lang="ko-KR" sz="1750" dirty="0"/>
          </a:p>
        </p:txBody>
      </p:sp>
      <p:sp>
        <p:nvSpPr>
          <p:cNvPr id="3" name="Text 1"/>
          <p:cNvSpPr/>
          <p:nvPr/>
        </p:nvSpPr>
        <p:spPr>
          <a:xfrm>
            <a:off x="661475" y="975172"/>
            <a:ext cx="11478330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10일차에는 CSV 파일을 DataFrame으로 읽고 구조를 확인했습니다.</a:t>
            </a:r>
            <a:endParaRPr lang="ko-KR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221614"/>
            <a:ext cx="10868745" cy="1920597"/>
          </a:xfrm>
          <a:prstGeom prst="roundRect">
            <a:avLst>
              <a:gd name="adj" fmla="val 682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68232" y="1343862"/>
            <a:ext cx="10655232" cy="996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print(df.head())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print(df.columns)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print(df.dtypes)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3530793"/>
            <a:ext cx="11478330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11일차에서는 확인한 문제를 실제로 정리합니다.</a:t>
            </a:r>
            <a:endParaRPr lang="ko-KR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584" y="2896086"/>
            <a:ext cx="6545000" cy="39924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80885" y="3876113"/>
            <a:ext cx="1491632" cy="1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읽기</a:t>
            </a:r>
            <a:endParaRPr lang="ko-KR" sz="1250" dirty="0"/>
          </a:p>
        </p:txBody>
      </p:sp>
      <p:sp>
        <p:nvSpPr>
          <p:cNvPr id="9" name="Text 6"/>
          <p:cNvSpPr/>
          <p:nvPr/>
        </p:nvSpPr>
        <p:spPr>
          <a:xfrm>
            <a:off x="4025679" y="5247056"/>
            <a:ext cx="1491632" cy="1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구조 확인</a:t>
            </a:r>
            <a:endParaRPr lang="ko-KR" sz="1250" dirty="0"/>
          </a:p>
        </p:txBody>
      </p:sp>
      <p:sp>
        <p:nvSpPr>
          <p:cNvPr id="10" name="Text 7"/>
          <p:cNvSpPr/>
          <p:nvPr/>
        </p:nvSpPr>
        <p:spPr>
          <a:xfrm>
            <a:off x="5296762" y="4066532"/>
            <a:ext cx="1540091" cy="1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결측·중복 점검</a:t>
            </a:r>
            <a:endParaRPr lang="ko-KR" sz="1250" dirty="0"/>
          </a:p>
        </p:txBody>
      </p:sp>
      <p:sp>
        <p:nvSpPr>
          <p:cNvPr id="11" name="Text 8"/>
          <p:cNvSpPr/>
          <p:nvPr/>
        </p:nvSpPr>
        <p:spPr>
          <a:xfrm>
            <a:off x="6330739" y="5709692"/>
            <a:ext cx="1491632" cy="1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자료형·정제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7654696" y="4482363"/>
            <a:ext cx="1491633" cy="1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비교</a:t>
            </a:r>
            <a:endParaRPr lang="ko-KR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675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전처리란 무엇인가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74180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전처리(Data Preprocessing)는 원본 데이터를 분석 가능한 형태로 정리하는 과정입니다.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원본 데이터에는 다음과 같은 문제가 포함될 수 있습니다.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075484"/>
            <a:ext cx="10868745" cy="155446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값이 비어 있음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행이 여러 번 저장됨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숫자가 문자열로 저장됨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잘못된 값이 입력됨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필요한 행과 열만 골라야 함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815979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전처리의 목적은 데이터를 무조건 삭제하는 것이 아닙니다.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분석 목적에 맞는 기준을 세우고 데이터의 품질을 높이는 것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핵심입니다.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307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용어 정리</a:t>
            </a:r>
            <a:endParaRPr lang="ko-KR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671904"/>
              </p:ext>
            </p:extLst>
          </p:nvPr>
        </p:nvGraphicFramePr>
        <p:xfrm>
          <a:off x="661475" y="1536105"/>
          <a:ext cx="10868745" cy="4506006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용어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영문/표현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데이터 전처리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Preprocessing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분석 전에 데이터를 정리하고 변환하는 과정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데이터 정제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Cleaning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오류, 결측치, 중복 등을 정리하여 데이터 </a:t>
                      </a:r>
                      <a:r>
                        <a:rPr lang="en-US" sz="115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품질을 </a:t>
                      </a:r>
                      <a:endParaRPr lang="en-US" sz="1150" smtClean="0">
                        <a:solidFill>
                          <a:srgbClr val="3C3939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smtClean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높이는 </a:t>
                      </a: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작업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레이블 기반 조회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행·열의 이름 또는 조건을 기준으로 데이터를 선택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위치 기반 조회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iloc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행·열의 정수 위치를 기준으로 데이터를 선택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결측치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Missing Value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값이 비어 있거나 알 수 없는 상태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a Number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수치 데이터에서 자주 표현되는 결측 상태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동일하거나 중복된 의미를 가진 </a:t>
                      </a:r>
                      <a:r>
                        <a:rPr lang="en-US" sz="115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데이터가 </a:t>
                      </a:r>
                      <a:endParaRPr lang="en-US" sz="1150" smtClean="0">
                        <a:solidFill>
                          <a:srgbClr val="3C3939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smtClean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반복된 </a:t>
                      </a: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상태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자료형 변환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 Casting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데이터를 다른 자료형으로 변환하는 작업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90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강제 숫자 변환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pd.to_numeric()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숫자로 바꿀 수 없는 값을 처리하면서 숫자형으로 변환하는 함수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45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loc의 기본 개념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15529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loc는 </a:t>
            </a: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레이블(Label)</a:t>
            </a: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기준으로 행과 열을 선택합니다.</a:t>
            </a:r>
            <a:endParaRPr lang="ko-KR" sz="1200" dirty="0"/>
          </a:p>
        </p:txBody>
      </p:sp>
      <p:sp>
        <p:nvSpPr>
          <p:cNvPr id="4" name="Shape 2"/>
          <p:cNvSpPr/>
          <p:nvPr/>
        </p:nvSpPr>
        <p:spPr>
          <a:xfrm>
            <a:off x="566227" y="1525091"/>
            <a:ext cx="5463542" cy="4742359"/>
          </a:xfrm>
          <a:prstGeom prst="roundRect">
            <a:avLst>
              <a:gd name="adj" fmla="val 401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98483" y="1630859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기본 형식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98483" y="1956594"/>
            <a:ext cx="5199032" cy="476250"/>
          </a:xfrm>
          <a:prstGeom prst="roundRect">
            <a:avLst>
              <a:gd name="adj" fmla="val 25004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857229" y="2088852"/>
            <a:ext cx="549112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df.loc[행_조건, 열_조건]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698483" y="2551906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98483" y="2885954"/>
            <a:ext cx="5199032" cy="476250"/>
          </a:xfrm>
          <a:prstGeom prst="roundRect">
            <a:avLst>
              <a:gd name="adj" fmla="val 25004"/>
            </a:avLst>
          </a:prstGeom>
          <a:solidFill>
            <a:srgbClr val="282834"/>
          </a:solidFill>
          <a:ln/>
        </p:spPr>
      </p:sp>
      <p:sp>
        <p:nvSpPr>
          <p:cNvPr id="10" name="Text 8"/>
          <p:cNvSpPr/>
          <p:nvPr/>
        </p:nvSpPr>
        <p:spPr>
          <a:xfrm>
            <a:off x="857229" y="2901835"/>
            <a:ext cx="549112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print(df.loc[0, "이름"])</a:t>
            </a:r>
            <a:endParaRPr lang="ko-KR" sz="1200" dirty="0"/>
          </a:p>
        </p:txBody>
      </p:sp>
      <p:sp>
        <p:nvSpPr>
          <p:cNvPr id="11" name="Text 9"/>
          <p:cNvSpPr/>
          <p:nvPr/>
        </p:nvSpPr>
        <p:spPr>
          <a:xfrm>
            <a:off x="698483" y="3472954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행과 여러 열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98483" y="3798689"/>
            <a:ext cx="5199032" cy="476250"/>
          </a:xfrm>
          <a:prstGeom prst="roundRect">
            <a:avLst>
              <a:gd name="adj" fmla="val 25004"/>
            </a:avLst>
          </a:prstGeom>
          <a:solidFill>
            <a:srgbClr val="282834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29" y="3773007"/>
            <a:ext cx="549112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print(df.loc[0:2, ["이름", "점수"]])</a:t>
            </a:r>
            <a:endParaRPr lang="ko-KR" sz="1200" dirty="0"/>
          </a:p>
        </p:txBody>
      </p:sp>
      <p:sp>
        <p:nvSpPr>
          <p:cNvPr id="14" name="Text 12"/>
          <p:cNvSpPr/>
          <p:nvPr/>
        </p:nvSpPr>
        <p:spPr>
          <a:xfrm>
            <a:off x="698483" y="4394002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 조회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98483" y="4719737"/>
            <a:ext cx="5199032" cy="476250"/>
          </a:xfrm>
          <a:prstGeom prst="roundRect">
            <a:avLst>
              <a:gd name="adj" fmla="val 25004"/>
            </a:avLst>
          </a:prstGeom>
          <a:solidFill>
            <a:srgbClr val="282834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29" y="4768868"/>
            <a:ext cx="549112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print(df.loc[df["점수"] &gt;= 80, ["이름", "점수"]])</a:t>
            </a:r>
            <a:endParaRPr lang="ko-KR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523" y="1644154"/>
            <a:ext cx="4218378" cy="4218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86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iloc의 기본 개념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060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iloc는 </a:t>
            </a: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정수 위치(Integer Position)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기준으로 행과 열을 선택합니다.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156718"/>
            <a:ext cx="5470785" cy="3842544"/>
          </a:xfrm>
          <a:prstGeom prst="roundRect">
            <a:avLst>
              <a:gd name="adj" fmla="val 619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3220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기본 형식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2766516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2740623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df.iloc[행_위치, 열_위치]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54776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07710" y="3992265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10" name="Text 8"/>
          <p:cNvSpPr/>
          <p:nvPr/>
        </p:nvSpPr>
        <p:spPr>
          <a:xfrm>
            <a:off x="906142" y="3974682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print(df.iloc[0, 1])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7710" y="47735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앞 3행과 앞 2열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707710" y="5218013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13" name="Text 11"/>
          <p:cNvSpPr/>
          <p:nvPr/>
        </p:nvSpPr>
        <p:spPr>
          <a:xfrm>
            <a:off x="906142" y="5241995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print(df.iloc[0:3, 0:2])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2305546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슬라이싱과 동일하게 끝 위치는 포함되지 않습니다.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303904" y="2756198"/>
            <a:ext cx="5232666" cy="644823"/>
          </a:xfrm>
          <a:prstGeom prst="roundRect">
            <a:avLst>
              <a:gd name="adj" fmla="val 23084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3008610"/>
            <a:ext cx="206667" cy="16529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41160" y="2946301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 → 0, 1, 2 위치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51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loc와 iloc 비교</a:t>
            </a:r>
            <a:endParaRPr lang="ko-KR" sz="3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22611"/>
          <a:ext cx="10868745" cy="288620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구분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iloc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기준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행·열 레이블, 조건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정수 위치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 선택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"점수"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조건식 사용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가능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일반적으로 위치 중심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슬라이싱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끝값 레이블 범위에서는 포함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포함하지 않음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대표 사용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조건 필터링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위치 기준 일부 데이터 확인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60762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5058271"/>
            <a:ext cx="10868745" cy="959148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59907" y="5223570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df.loc[df["지역"] == "서울", ["고객ID", "매출"]]</a:t>
            </a:r>
            <a:endParaRPr lang="ko-KR" sz="1300" dirty="0"/>
          </a:p>
          <a:p>
            <a:pPr marL="0" indent="0" algn="l">
              <a:buNone/>
            </a:pPr>
            <a:endParaRPr lang="ko-KR" sz="1300" dirty="0"/>
          </a:p>
          <a:p>
            <a:pPr marL="0" indent="0" algn="l"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df.iloc[0:5, 0:3]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848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 조회의 기본 패턴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560274" y="1209278"/>
            <a:ext cx="5465328" cy="5057775"/>
          </a:xfrm>
          <a:prstGeom prst="roundRect">
            <a:avLst>
              <a:gd name="adj" fmla="val 400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0765" y="1328738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단일 조건</a:t>
            </a:r>
            <a:endParaRPr lang="ko-KR" sz="1350" dirty="0"/>
          </a:p>
        </p:txBody>
      </p:sp>
      <p:sp>
        <p:nvSpPr>
          <p:cNvPr id="5" name="Shape 3"/>
          <p:cNvSpPr/>
          <p:nvPr/>
        </p:nvSpPr>
        <p:spPr>
          <a:xfrm>
            <a:off x="700765" y="1682651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869432" y="1665205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df.loc[df["점수"] &gt;= 80]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700765" y="2322909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조건</a:t>
            </a:r>
            <a:endParaRPr lang="ko-KR" sz="1350" dirty="0"/>
          </a:p>
        </p:txBody>
      </p:sp>
      <p:sp>
        <p:nvSpPr>
          <p:cNvPr id="8" name="Shape 6"/>
          <p:cNvSpPr/>
          <p:nvPr/>
        </p:nvSpPr>
        <p:spPr>
          <a:xfrm>
            <a:off x="700765" y="2676823"/>
            <a:ext cx="5184348" cy="1180703"/>
          </a:xfrm>
          <a:prstGeom prst="roundRect">
            <a:avLst>
              <a:gd name="adj" fmla="val 10716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869432" y="2659376"/>
            <a:ext cx="4847012" cy="899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df.loc[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(df["점수"] &gt;= 80) &amp;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(df["지역"] == "서울")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ko-KR" sz="1200" dirty="0"/>
          </a:p>
        </p:txBody>
      </p:sp>
      <p:sp>
        <p:nvSpPr>
          <p:cNvPr id="10" name="Text 8"/>
          <p:cNvSpPr/>
          <p:nvPr/>
        </p:nvSpPr>
        <p:spPr>
          <a:xfrm>
            <a:off x="700765" y="3991868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 조건</a:t>
            </a:r>
            <a:endParaRPr lang="ko-KR" sz="1350" dirty="0"/>
          </a:p>
        </p:txBody>
      </p:sp>
      <p:sp>
        <p:nvSpPr>
          <p:cNvPr id="11" name="Shape 9"/>
          <p:cNvSpPr/>
          <p:nvPr/>
        </p:nvSpPr>
        <p:spPr>
          <a:xfrm>
            <a:off x="700765" y="4345781"/>
            <a:ext cx="5184348" cy="1180703"/>
          </a:xfrm>
          <a:prstGeom prst="roundRect">
            <a:avLst>
              <a:gd name="adj" fmla="val 10716"/>
            </a:avLst>
          </a:prstGeom>
          <a:solidFill>
            <a:srgbClr val="282834"/>
          </a:solidFill>
          <a:ln/>
        </p:spPr>
      </p:sp>
      <p:sp>
        <p:nvSpPr>
          <p:cNvPr id="12" name="Text 10"/>
          <p:cNvSpPr/>
          <p:nvPr/>
        </p:nvSpPr>
        <p:spPr>
          <a:xfrm>
            <a:off x="869432" y="4328335"/>
            <a:ext cx="4847012" cy="899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df.loc[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(df["지역"] == "서울") |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(df["지역"] == "부산")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ko-KR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43" y="1343620"/>
            <a:ext cx="4473463" cy="44735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273643" y="5951538"/>
            <a:ext cx="587251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조건식에서는 각 조건을 괄호로 감싸는 것이 중요합니다.</a:t>
            </a:r>
            <a:endParaRPr lang="ko-KR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84908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결측치란 무엇인가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249686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결측치(Missing Value)는 값이 존재하지 않거나 알 수 없는 데이터입니다.</a:t>
            </a:r>
            <a:endParaRPr lang="ko-KR" sz="1300" dirty="0"/>
          </a:p>
        </p:txBody>
      </p:sp>
      <p:sp>
        <p:nvSpPr>
          <p:cNvPr id="5" name="Text 2"/>
          <p:cNvSpPr/>
          <p:nvPr/>
        </p:nvSpPr>
        <p:spPr>
          <a:xfrm>
            <a:off x="5233360" y="2865636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발생 예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5233360" y="3289399"/>
            <a:ext cx="2946723" cy="202584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설문 응답자가 문항을 비워 둔 경우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시스템에서 일부 값이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수집되지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않은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병합 중 대응되는 데이터가 없는 경우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잘못된 문자열을 숫자로 변환하면서 값이 유실된 경우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8589847" y="2865636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Pandas에서 자주 보는 결측 표현</a:t>
            </a:r>
            <a:endParaRPr lang="ko-KR" sz="1600" dirty="0"/>
          </a:p>
        </p:txBody>
      </p:sp>
      <p:sp>
        <p:nvSpPr>
          <p:cNvPr id="8" name="Shape 5"/>
          <p:cNvSpPr/>
          <p:nvPr/>
        </p:nvSpPr>
        <p:spPr>
          <a:xfrm>
            <a:off x="8589847" y="3310136"/>
            <a:ext cx="2946723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8788279" y="3475434"/>
            <a:ext cx="254985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pd.NA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pd.NaT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47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Pandas의 주요 결측 표현과 설정</a:t>
            </a:r>
            <a:endParaRPr lang="ko-KR" sz="3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76859"/>
          <a:ext cx="10868745" cy="2454808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항목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역할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샘플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pd.NA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범용적인 Pandas 결측값 표현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pd.Series([10, pd.NA])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pd.NaT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날짜·시간 데이터의 결측값 표현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pd.Series([pd.Timestamp("2026-01-01"), pd.NaT])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pd.options.display.max_rows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출력할 행 수 관련 표시 설정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pd.options.display.max_rows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pd.options.display.max_columns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출력할 열 수 관련 표시 설정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pd.options.display.max_columns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068266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500" dirty="0"/>
          </a:p>
        </p:txBody>
      </p:sp>
      <p:sp>
        <p:nvSpPr>
          <p:cNvPr id="5" name="Shape 2"/>
          <p:cNvSpPr/>
          <p:nvPr/>
        </p:nvSpPr>
        <p:spPr>
          <a:xfrm>
            <a:off x="661475" y="4537670"/>
            <a:ext cx="10868745" cy="1319808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49986" y="4694734"/>
            <a:ext cx="10491723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pd.Series([100, pd.NA, 80])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print(data.isna())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1475" y="6025356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결측치 표현은 종류보다 </a:t>
            </a: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어떻게 발견하고 어떤 기준으로 처리할 것인지</a:t>
            </a: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 더 중요합니다.</a:t>
            </a:r>
            <a:endParaRPr lang="ko-KR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848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 확인하기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560274" y="1209278"/>
            <a:ext cx="5465328" cy="5057775"/>
          </a:xfrm>
          <a:prstGeom prst="roundRect">
            <a:avLst>
              <a:gd name="adj" fmla="val 400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0765" y="1461743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DataFrame 전체의 결측 여부 확인</a:t>
            </a:r>
            <a:endParaRPr lang="ko-KR" sz="1350" dirty="0"/>
          </a:p>
        </p:txBody>
      </p:sp>
      <p:sp>
        <p:nvSpPr>
          <p:cNvPr id="5" name="Shape 3"/>
          <p:cNvSpPr/>
          <p:nvPr/>
        </p:nvSpPr>
        <p:spPr>
          <a:xfrm>
            <a:off x="700765" y="1815656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869432" y="1798203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print(df.isna())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0765" y="2455914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컬럼별 결측치 개수</a:t>
            </a:r>
            <a:endParaRPr lang="ko-KR" sz="1350" dirty="0"/>
          </a:p>
        </p:txBody>
      </p:sp>
      <p:sp>
        <p:nvSpPr>
          <p:cNvPr id="8" name="Shape 6"/>
          <p:cNvSpPr/>
          <p:nvPr/>
        </p:nvSpPr>
        <p:spPr>
          <a:xfrm>
            <a:off x="700765" y="2809828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869432" y="2792374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print(df.isna().sum())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0765" y="3450086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전체 결측치 개수</a:t>
            </a:r>
            <a:endParaRPr lang="ko-KR" sz="1350" dirty="0"/>
          </a:p>
        </p:txBody>
      </p:sp>
      <p:sp>
        <p:nvSpPr>
          <p:cNvPr id="11" name="Shape 9"/>
          <p:cNvSpPr/>
          <p:nvPr/>
        </p:nvSpPr>
        <p:spPr>
          <a:xfrm>
            <a:off x="700765" y="3804000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12" name="Text 10"/>
          <p:cNvSpPr/>
          <p:nvPr/>
        </p:nvSpPr>
        <p:spPr>
          <a:xfrm>
            <a:off x="869432" y="3786546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print(df.isna().</a:t>
            </a:r>
            <a:r>
              <a:rPr lang="en-US" sz="120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smtClean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0765" y="4444258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결측치가 아닌 값 확인</a:t>
            </a:r>
            <a:endParaRPr lang="ko-KR" sz="1350" dirty="0"/>
          </a:p>
        </p:txBody>
      </p:sp>
      <p:sp>
        <p:nvSpPr>
          <p:cNvPr id="14" name="Shape 12"/>
          <p:cNvSpPr/>
          <p:nvPr/>
        </p:nvSpPr>
        <p:spPr>
          <a:xfrm>
            <a:off x="700765" y="4798171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15" name="Text 13"/>
          <p:cNvSpPr/>
          <p:nvPr/>
        </p:nvSpPr>
        <p:spPr>
          <a:xfrm>
            <a:off x="869432" y="4780718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print(df.notna())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43" y="1343620"/>
            <a:ext cx="4473463" cy="44735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73643" y="5951538"/>
            <a:ext cx="587251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 전에 isna().sum()을 확인하는 습관이 중요합니다.</a:t>
            </a:r>
            <a:endParaRPr lang="ko-KR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68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 행 조회하기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3425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컬럼이 결측인 행을 조회할 수 있습니다.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284909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450207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missing_rows = df.loc[df["점수"].isna()]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print(missing_rows)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39278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컬럼 중 하나라도 결측인 행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3899297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4064595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missing_rows = df.loc[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df[["점수", "지역"]].isna().any(axis=1)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86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 처리 전략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060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결측치는 상황에 따라 여러 방법으로 처리할 수 있습니다.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156718"/>
            <a:ext cx="5470785" cy="3842544"/>
          </a:xfrm>
          <a:prstGeom prst="roundRect">
            <a:avLst>
              <a:gd name="adj" fmla="val 619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3220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삭제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2766516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2773874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54776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특정 컬럼 기준 삭제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07710" y="3992265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10" name="Text 8"/>
          <p:cNvSpPr/>
          <p:nvPr/>
        </p:nvSpPr>
        <p:spPr>
          <a:xfrm>
            <a:off x="906142" y="3999622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df.dropna(subset=["고객ID"])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23220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고정값 대체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303904" y="2766516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502337" y="2931815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df["담당자"] = df["담당자"].fillna("미배정")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354776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평균 대체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303904" y="3992265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02337" y="4157563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df["점수"] = df["점수"].fillna(df["점수"].mean())</a:t>
            </a:r>
            <a:endParaRPr lang="ko-KR" sz="1300" dirty="0"/>
          </a:p>
        </p:txBody>
      </p:sp>
      <p:sp>
        <p:nvSpPr>
          <p:cNvPr id="17" name="Text 15"/>
          <p:cNvSpPr/>
          <p:nvPr/>
        </p:nvSpPr>
        <p:spPr>
          <a:xfrm>
            <a:off x="6303904" y="477351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중앙값 대체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303903" y="5218013"/>
            <a:ext cx="5835901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6502337" y="5383312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df["처리시간"] = df["처리시간"].fillna(df["처리시간"].median())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580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평균·중앙값·최빈값 대체의 차이</a:t>
            </a:r>
            <a:endParaRPr lang="ko-KR" sz="3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190765"/>
              </p:ext>
            </p:extLst>
          </p:nvPr>
        </p:nvGraphicFramePr>
        <p:xfrm>
          <a:off x="661475" y="1913235"/>
          <a:ext cx="10868745" cy="341542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대체 기준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적합한 상황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주의점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평균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값의 분포가 비교적 균형적인 수치 데이터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큰 이상값의 영향을 받을 수 있음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중앙값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큰 값이나 작은 값의 영향이 큰 수치 데이터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데이터의 실제 값이 아닐 수 있음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최빈값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범주형 데이터 또는 가장 일반적인 </a:t>
                      </a:r>
                      <a:r>
                        <a:rPr lang="en-US" sz="130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값으로 </a:t>
                      </a:r>
                      <a:endParaRPr lang="en-US" sz="1300" smtClean="0">
                        <a:solidFill>
                          <a:srgbClr val="3C3939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대체할 </a:t>
                      </a: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특정 범주 비중을 더 높일 수 있음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고정값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"미입력", "미배정"처럼 </a:t>
                      </a:r>
                      <a:r>
                        <a:rPr lang="en-US" sz="130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의미를 </a:t>
                      </a:r>
                      <a:endParaRPr lang="en-US" sz="1300" smtClean="0">
                        <a:solidFill>
                          <a:srgbClr val="3C3939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보존하고 </a:t>
                      </a: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싶을 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분석 목적에 맞는 별도 범주인지 판단 필요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삭제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결측 데이터가 적고 삭제 영향이 작을 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데이터 손실 가능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8829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데이터란 무엇인가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353072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중복 데이터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Data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는 같은 데이터가 여러 번 기록된 상태입니다.</a:t>
            </a:r>
            <a:endParaRPr lang="ko-KR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2969022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발생 예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392785"/>
            <a:ext cx="2946723" cy="1819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 파일을 두 번 합침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시스템 재전송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수작업 복사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 주문을 여러 번 저장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식별번호는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다르지만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의미가 같은 데이터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4017961" y="2969022"/>
            <a:ext cx="294672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중복을 제거하기 </a:t>
            </a:r>
            <a:r>
              <a:rPr lang="ko-KR" altLang="en-US" sz="1600" b="1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전에 </a:t>
            </a:r>
            <a:endParaRPr lang="en-US" altLang="ko-KR" sz="1600" b="1" smtClean="0">
              <a:solidFill>
                <a:srgbClr val="1B1B27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다음을 </a:t>
            </a: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확인해야 합니다.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4017961" y="3651250"/>
            <a:ext cx="2946723" cy="117415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완전히 동일한 행인가?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컬럼만 기준으로 중복인가?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거래인가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 </a:t>
            </a: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잘못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저장된 데이터인가?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848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확인하기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560274" y="1209278"/>
            <a:ext cx="5465328" cy="5057775"/>
          </a:xfrm>
          <a:prstGeom prst="roundRect">
            <a:avLst>
              <a:gd name="adj" fmla="val 400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0765" y="1328738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여부 확인</a:t>
            </a:r>
            <a:endParaRPr lang="ko-KR" sz="1350" dirty="0"/>
          </a:p>
        </p:txBody>
      </p:sp>
      <p:sp>
        <p:nvSpPr>
          <p:cNvPr id="5" name="Shape 3"/>
          <p:cNvSpPr/>
          <p:nvPr/>
        </p:nvSpPr>
        <p:spPr>
          <a:xfrm>
            <a:off x="700765" y="1682651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869432" y="1690142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print(df.duplicated())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0765" y="2322909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행 개수 확인</a:t>
            </a:r>
            <a:endParaRPr lang="ko-KR" sz="1350" dirty="0"/>
          </a:p>
        </p:txBody>
      </p:sp>
      <p:sp>
        <p:nvSpPr>
          <p:cNvPr id="8" name="Shape 6"/>
          <p:cNvSpPr/>
          <p:nvPr/>
        </p:nvSpPr>
        <p:spPr>
          <a:xfrm>
            <a:off x="700765" y="2676823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869432" y="2684313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print(df.duplicated().sum())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0765" y="3317081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행만 조회</a:t>
            </a:r>
            <a:endParaRPr lang="ko-KR" sz="1350" dirty="0"/>
          </a:p>
        </p:txBody>
      </p:sp>
      <p:sp>
        <p:nvSpPr>
          <p:cNvPr id="11" name="Shape 9"/>
          <p:cNvSpPr/>
          <p:nvPr/>
        </p:nvSpPr>
        <p:spPr>
          <a:xfrm>
            <a:off x="700765" y="3670995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12" name="Text 10"/>
          <p:cNvSpPr/>
          <p:nvPr/>
        </p:nvSpPr>
        <p:spPr>
          <a:xfrm>
            <a:off x="869432" y="3678485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print(df.loc[df.duplicated()])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0765" y="4311253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특정 컬럼 기준 중복 확인</a:t>
            </a:r>
            <a:endParaRPr lang="ko-KR" sz="1350" dirty="0"/>
          </a:p>
        </p:txBody>
      </p:sp>
      <p:sp>
        <p:nvSpPr>
          <p:cNvPr id="14" name="Shape 12"/>
          <p:cNvSpPr/>
          <p:nvPr/>
        </p:nvSpPr>
        <p:spPr>
          <a:xfrm>
            <a:off x="700765" y="4665166"/>
            <a:ext cx="5184348" cy="505916"/>
          </a:xfrm>
          <a:prstGeom prst="roundRect">
            <a:avLst>
              <a:gd name="adj" fmla="val 25009"/>
            </a:avLst>
          </a:prstGeom>
          <a:solidFill>
            <a:srgbClr val="282834"/>
          </a:solidFill>
          <a:ln/>
        </p:spPr>
      </p:sp>
      <p:sp>
        <p:nvSpPr>
          <p:cNvPr id="15" name="Text 13"/>
          <p:cNvSpPr/>
          <p:nvPr/>
        </p:nvSpPr>
        <p:spPr>
          <a:xfrm>
            <a:off x="869432" y="4672657"/>
            <a:ext cx="545659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print(df.duplicated(subset=["주문번호"]))</a:t>
            </a:r>
            <a:endParaRPr lang="ko-KR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43" y="1343620"/>
            <a:ext cx="4473463" cy="44735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73643" y="5951538"/>
            <a:ext cx="587251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중복 기준을 명확하게 설정하는 것이 중요합니다.</a:t>
            </a:r>
            <a:endParaRPr lang="ko-KR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268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제거하기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700113"/>
            <a:ext cx="5351725" cy="1937643"/>
          </a:xfrm>
          <a:prstGeom prst="roundRect">
            <a:avLst>
              <a:gd name="adj" fmla="val 768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5819" y="1884462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완전히 동일한 중복 행 제거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845819" y="2328962"/>
            <a:ext cx="4983038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44251" y="2494260"/>
            <a:ext cx="458617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1700113"/>
            <a:ext cx="5351725" cy="1937643"/>
          </a:xfrm>
          <a:prstGeom prst="roundRect">
            <a:avLst>
              <a:gd name="adj" fmla="val 768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62838" y="1884462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특정 컬럼 기준 중복 제거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362838" y="2328962"/>
            <a:ext cx="4983038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561271" y="2494260"/>
            <a:ext cx="458617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subset=["주문번호"]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803055"/>
            <a:ext cx="5351725" cy="2202259"/>
          </a:xfrm>
          <a:prstGeom prst="roundRect">
            <a:avLst>
              <a:gd name="adj" fmla="val 675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19" y="3987403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처음 데이터 유지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845819" y="4431903"/>
            <a:ext cx="4983038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44251" y="4597202"/>
            <a:ext cx="458617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subset=["주문번호"],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keep="first"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178495" y="3803055"/>
            <a:ext cx="5351725" cy="2202259"/>
          </a:xfrm>
          <a:prstGeom prst="roundRect">
            <a:avLst>
              <a:gd name="adj" fmla="val 675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2838" y="3987403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마지막 데이터 유지</a:t>
            </a:r>
            <a:endParaRPr lang="ko-KR" sz="1600" dirty="0"/>
          </a:p>
        </p:txBody>
      </p:sp>
      <p:sp>
        <p:nvSpPr>
          <p:cNvPr id="17" name="Shape 15"/>
          <p:cNvSpPr/>
          <p:nvPr/>
        </p:nvSpPr>
        <p:spPr>
          <a:xfrm>
            <a:off x="6362838" y="4431903"/>
            <a:ext cx="4983038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6561271" y="4597202"/>
            <a:ext cx="458617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subset=["주문번호"],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keep="last"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84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자료형이 중요한 이유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9527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값처럼 보여도 자료형이 다르면 계산 결과가 달라질 수 있습니다.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345928"/>
            <a:ext cx="5470785" cy="2616795"/>
          </a:xfrm>
          <a:prstGeom prst="roundRect">
            <a:avLst>
              <a:gd name="adj" fmla="val 910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51122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문자열끼리 더하기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2955727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3121025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"100" + "200"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73697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07710" y="4181475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10" name="Text 8"/>
          <p:cNvSpPr/>
          <p:nvPr/>
        </p:nvSpPr>
        <p:spPr>
          <a:xfrm>
            <a:off x="906142" y="4346773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"100200"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251122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숫자끼리 더하기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303904" y="2955727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502337" y="3121025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+ 200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373697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303904" y="4181475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02337" y="4346773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5148759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88471"/>
            <a:ext cx="206667" cy="16529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98731" y="5355332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따라서 df.dtypes로 자료형을 반드시 확인해야 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86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astype()으로 자료형 변환하기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060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astype()은 컬럼을 지정한 자료형으로 변환합니다.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156718"/>
            <a:ext cx="5470785" cy="3842544"/>
          </a:xfrm>
          <a:prstGeom prst="roundRect">
            <a:avLst>
              <a:gd name="adj" fmla="val 619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32201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문자열로 변환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2766516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2931815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df["고객ID"] = df["고객ID"].astype("string")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54776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정수로 변환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07710" y="3992265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10" name="Text 8"/>
          <p:cNvSpPr/>
          <p:nvPr/>
        </p:nvSpPr>
        <p:spPr>
          <a:xfrm>
            <a:off x="906142" y="4157563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df["수량"] = df["수량"].astype("int64")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707710" y="47735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실수로 변환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707710" y="5218013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13" name="Text 11"/>
          <p:cNvSpPr/>
          <p:nvPr/>
        </p:nvSpPr>
        <p:spPr>
          <a:xfrm>
            <a:off x="906142" y="5383312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df["점수"] = df["점수"].astype("float64")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23220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303904" y="2766516"/>
            <a:ext cx="552510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02337" y="2931815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df["점수"] = df["점수"].astype("int64")</a:t>
            </a:r>
            <a:endParaRPr lang="ko-KR" sz="1300" dirty="0"/>
          </a:p>
        </p:txBody>
      </p:sp>
      <p:sp>
        <p:nvSpPr>
          <p:cNvPr id="17" name="Shape 15"/>
          <p:cNvSpPr/>
          <p:nvPr/>
        </p:nvSpPr>
        <p:spPr>
          <a:xfrm>
            <a:off x="6303903" y="3547765"/>
            <a:ext cx="5525107" cy="644823"/>
          </a:xfrm>
          <a:prstGeom prst="roundRect">
            <a:avLst>
              <a:gd name="adj" fmla="val 23084"/>
            </a:avLst>
          </a:prstGeom>
          <a:solidFill>
            <a:srgbClr val="FCF2B5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3800177"/>
            <a:ext cx="206667" cy="16529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41160" y="3737868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컬럼에 "미응시" 같은 문자열이 있다면 오류가 발생할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50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pd.to_numeric()으로 안전하게 숫자 변환하기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1247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혼합된 데이터를 숫자로 변환할 때 유용합니다.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663130"/>
            <a:ext cx="5470785" cy="2829818"/>
          </a:xfrm>
          <a:prstGeom prst="roundRect">
            <a:avLst>
              <a:gd name="adj" fmla="val 841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07710" y="2849166"/>
            <a:ext cx="5140196" cy="1389063"/>
          </a:xfrm>
          <a:prstGeom prst="roundRect">
            <a:avLst>
              <a:gd name="adj" fmla="val 10716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906142" y="3014464"/>
            <a:ext cx="4743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df["점수"] = pd.to_numeric(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df["점수"],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errors="coerce"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707710" y="442426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errors="coerce"의 의미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4731645"/>
            <a:ext cx="514019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숫자로 변환 가능한 값 → 숫자로 변환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변환할 수 없는 값 → NaN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8284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10" name="Shape 8"/>
          <p:cNvSpPr/>
          <p:nvPr/>
        </p:nvSpPr>
        <p:spPr>
          <a:xfrm>
            <a:off x="6303904" y="3272929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02337" y="3438227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"80" → 80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"92.5" → 92.5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"미응시" → NaN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303904" y="4583410"/>
            <a:ext cx="5232666" cy="644823"/>
          </a:xfrm>
          <a:prstGeom prst="roundRect">
            <a:avLst>
              <a:gd name="adj" fmla="val 23084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4835823"/>
            <a:ext cx="206667" cy="16529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41160" y="4773513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변환 후에는 새로 발생한 결측치를 다시 확인해야 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25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전처리 함수·속성·메서드 정리</a:t>
            </a:r>
            <a:endParaRPr lang="ko-KR" sz="27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57412"/>
          <a:ext cx="10868745" cy="480851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구분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이름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역할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인덱서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df.loc[]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레이블·조건 기준 행과 열 조회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인덱서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df.iloc[]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정수 위치 기준 행과 열 조회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메서드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isna()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결측 여부 확인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메서드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notna()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결측이 아닌 값 확인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메서드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dropna()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결측 데이터 삭제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메서드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fillna()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결측값 대체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메서드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duplicated()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 여부 확인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메서드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drop_duplicates()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 데이터 제거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메서드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astype()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지정 자료형으로 변환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함수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pd.to_numeric()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숫자형 변환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dtypes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컬럼별 자료형 확인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메서드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reset_index()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Index를 다시 정리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536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샘플 코드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702792"/>
            <a:ext cx="10868745" cy="4299843"/>
          </a:xfrm>
          <a:prstGeom prst="roundRect">
            <a:avLst>
              <a:gd name="adj" fmla="val 346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868091"/>
            <a:ext cx="10471880" cy="3969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pd.read_csv("customer.csv")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print(df.isna().sum())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print("중복:", df.duplicated().sum())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df["처리시간"] = pd.to_numeric(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df["처리시간"],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errors="coerce"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df["처리시간"] = df["처리시간"].fillna(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df["처리시간"].median()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df["담당자"] = df["담당자"].fillna("미배정")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df["처리시간"] = df["처리시간"].astype("int64")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print(df.dtypes)</a:t>
            </a:r>
            <a:endParaRPr lang="ko-KR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818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순서 의사코드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60202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708051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824633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파일을 읽는다</a:t>
            </a:r>
            <a:endParaRPr lang="ko-KR" sz="1500" dirty="0"/>
          </a:p>
        </p:txBody>
      </p:sp>
      <p:sp>
        <p:nvSpPr>
          <p:cNvPr id="6" name="Text 4"/>
          <p:cNvSpPr/>
          <p:nvPr/>
        </p:nvSpPr>
        <p:spPr>
          <a:xfrm>
            <a:off x="4334064" y="1460202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064" y="1708051"/>
            <a:ext cx="35234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4334064" y="1824633"/>
            <a:ext cx="352346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원본 데이터의 행 수를 기록한다</a:t>
            </a:r>
            <a:endParaRPr lang="ko-KR" sz="1500" dirty="0"/>
          </a:p>
        </p:txBody>
      </p:sp>
      <p:sp>
        <p:nvSpPr>
          <p:cNvPr id="9" name="Text 7"/>
          <p:cNvSpPr/>
          <p:nvPr/>
        </p:nvSpPr>
        <p:spPr>
          <a:xfrm>
            <a:off x="8006753" y="1460202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6753" y="1708051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8006753" y="1824633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원본 데이터의 결측치 수를 기록한다</a:t>
            </a:r>
            <a:endParaRPr lang="ko-KR" sz="1500" dirty="0"/>
          </a:p>
        </p:txBody>
      </p:sp>
      <p:sp>
        <p:nvSpPr>
          <p:cNvPr id="12" name="Text 10"/>
          <p:cNvSpPr/>
          <p:nvPr/>
        </p:nvSpPr>
        <p:spPr>
          <a:xfrm>
            <a:off x="661475" y="2337197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5" y="2585045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2701627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원본 데이터의 중복 행 수를 기록한다</a:t>
            </a:r>
            <a:endParaRPr lang="ko-KR" sz="1500" dirty="0"/>
          </a:p>
        </p:txBody>
      </p:sp>
      <p:sp>
        <p:nvSpPr>
          <p:cNvPr id="15" name="Text 13"/>
          <p:cNvSpPr/>
          <p:nvPr/>
        </p:nvSpPr>
        <p:spPr>
          <a:xfrm>
            <a:off x="4334064" y="2337197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4064" y="2585045"/>
            <a:ext cx="35234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4334064" y="2701627"/>
            <a:ext cx="352346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필요한 행과 열을 loc 또는 iloc로 확인한다</a:t>
            </a:r>
            <a:endParaRPr lang="ko-KR" sz="1500" dirty="0"/>
          </a:p>
        </p:txBody>
      </p:sp>
      <p:sp>
        <p:nvSpPr>
          <p:cNvPr id="18" name="Text 16"/>
          <p:cNvSpPr/>
          <p:nvPr/>
        </p:nvSpPr>
        <p:spPr>
          <a:xfrm>
            <a:off x="8006753" y="2337197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6753" y="2585045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8006753" y="2701627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문제가 있는 자료형을 찾는다</a:t>
            </a:r>
            <a:endParaRPr lang="ko-KR" sz="1500" dirty="0"/>
          </a:p>
        </p:txBody>
      </p:sp>
      <p:sp>
        <p:nvSpPr>
          <p:cNvPr id="21" name="Text 19"/>
          <p:cNvSpPr/>
          <p:nvPr/>
        </p:nvSpPr>
        <p:spPr>
          <a:xfrm>
            <a:off x="661475" y="3214191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1475" y="3462040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3578622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숫자형이어야 하는 컬럼을 숫자로 변환한다</a:t>
            </a:r>
            <a:endParaRPr lang="ko-KR" sz="1500" dirty="0"/>
          </a:p>
        </p:txBody>
      </p:sp>
      <p:sp>
        <p:nvSpPr>
          <p:cNvPr id="24" name="Text 22"/>
          <p:cNvSpPr/>
          <p:nvPr/>
        </p:nvSpPr>
        <p:spPr>
          <a:xfrm>
            <a:off x="4334064" y="3214191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4064" y="3462040"/>
            <a:ext cx="35234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4334064" y="3578622"/>
            <a:ext cx="352346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변환 과정에서 새로 생긴 결측치를 확인한다</a:t>
            </a:r>
            <a:endParaRPr lang="ko-KR" sz="1500" dirty="0"/>
          </a:p>
        </p:txBody>
      </p:sp>
      <p:sp>
        <p:nvSpPr>
          <p:cNvPr id="27" name="Text 25"/>
          <p:cNvSpPr/>
          <p:nvPr/>
        </p:nvSpPr>
        <p:spPr>
          <a:xfrm>
            <a:off x="8006753" y="3214191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6753" y="3462040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27"/>
          <p:cNvSpPr/>
          <p:nvPr/>
        </p:nvSpPr>
        <p:spPr>
          <a:xfrm>
            <a:off x="8006753" y="3578622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 처리 기준을 결정한다</a:t>
            </a:r>
            <a:endParaRPr lang="ko-KR" sz="1500" dirty="0"/>
          </a:p>
        </p:txBody>
      </p:sp>
      <p:sp>
        <p:nvSpPr>
          <p:cNvPr id="30" name="Text 28"/>
          <p:cNvSpPr/>
          <p:nvPr/>
        </p:nvSpPr>
        <p:spPr>
          <a:xfrm>
            <a:off x="661475" y="4091186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1475" y="4339034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661475" y="4455616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데이터의 의미를 확인한다</a:t>
            </a:r>
            <a:endParaRPr lang="ko-KR" sz="1500" dirty="0"/>
          </a:p>
        </p:txBody>
      </p:sp>
      <p:sp>
        <p:nvSpPr>
          <p:cNvPr id="33" name="Text 31"/>
          <p:cNvSpPr/>
          <p:nvPr/>
        </p:nvSpPr>
        <p:spPr>
          <a:xfrm>
            <a:off x="4334064" y="4091186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34064" y="4339034"/>
            <a:ext cx="35234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5" name="Text 33"/>
          <p:cNvSpPr/>
          <p:nvPr/>
        </p:nvSpPr>
        <p:spPr>
          <a:xfrm>
            <a:off x="4334064" y="4455616"/>
            <a:ext cx="352346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중복을 제거한다</a:t>
            </a:r>
            <a:endParaRPr lang="ko-KR" sz="1500" dirty="0"/>
          </a:p>
        </p:txBody>
      </p:sp>
      <p:sp>
        <p:nvSpPr>
          <p:cNvPr id="36" name="Text 34"/>
          <p:cNvSpPr/>
          <p:nvPr/>
        </p:nvSpPr>
        <p:spPr>
          <a:xfrm>
            <a:off x="8006753" y="4091186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06753" y="4339034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8" name="Text 36"/>
          <p:cNvSpPr/>
          <p:nvPr/>
        </p:nvSpPr>
        <p:spPr>
          <a:xfrm>
            <a:off x="8006753" y="4455616"/>
            <a:ext cx="3523368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필요하면 최종 </a:t>
            </a:r>
            <a:r>
              <a:rPr lang="ko-KR" altLang="en-US" sz="1500" b="1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자료형을 </a:t>
            </a:r>
            <a:endParaRPr lang="en-US" altLang="ko-KR" sz="1500" b="1" smtClean="0">
              <a:solidFill>
                <a:srgbClr val="3C3939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smtClean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astype</a:t>
            </a: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으로 정리한다</a:t>
            </a:r>
            <a:endParaRPr lang="ko-KR" sz="1500" dirty="0"/>
          </a:p>
        </p:txBody>
      </p:sp>
      <p:sp>
        <p:nvSpPr>
          <p:cNvPr id="39" name="Text 37"/>
          <p:cNvSpPr/>
          <p:nvPr/>
        </p:nvSpPr>
        <p:spPr>
          <a:xfrm>
            <a:off x="661475" y="5213747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1475" y="5461595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1" name="Text 39"/>
          <p:cNvSpPr/>
          <p:nvPr/>
        </p:nvSpPr>
        <p:spPr>
          <a:xfrm>
            <a:off x="661475" y="5578177"/>
            <a:ext cx="3523368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후 행 수와 결측치 </a:t>
            </a:r>
            <a:r>
              <a:rPr lang="ko-KR" altLang="en-US" sz="1500" b="1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수를 </a:t>
            </a:r>
            <a:endParaRPr lang="en-US" altLang="ko-KR" sz="1500" b="1" smtClean="0">
              <a:solidFill>
                <a:srgbClr val="3C3939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smtClean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다시 </a:t>
            </a: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확인한다</a:t>
            </a:r>
            <a:endParaRPr lang="ko-KR" sz="1500" dirty="0"/>
          </a:p>
        </p:txBody>
      </p:sp>
      <p:sp>
        <p:nvSpPr>
          <p:cNvPr id="42" name="Text 40"/>
          <p:cNvSpPr/>
          <p:nvPr/>
        </p:nvSpPr>
        <p:spPr>
          <a:xfrm>
            <a:off x="4334064" y="5213747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34064" y="5461595"/>
            <a:ext cx="35234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4" name="Text 42"/>
          <p:cNvSpPr/>
          <p:nvPr/>
        </p:nvSpPr>
        <p:spPr>
          <a:xfrm>
            <a:off x="4334064" y="5578177"/>
            <a:ext cx="352346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전후 통계를 비교한다</a:t>
            </a:r>
            <a:endParaRPr lang="ko-KR" sz="1500" dirty="0"/>
          </a:p>
        </p:txBody>
      </p:sp>
      <p:sp>
        <p:nvSpPr>
          <p:cNvPr id="45" name="Text 43"/>
          <p:cNvSpPr/>
          <p:nvPr/>
        </p:nvSpPr>
        <p:spPr>
          <a:xfrm>
            <a:off x="8006753" y="5213747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06753" y="5461595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7" name="Text 45"/>
          <p:cNvSpPr/>
          <p:nvPr/>
        </p:nvSpPr>
        <p:spPr>
          <a:xfrm>
            <a:off x="8006753" y="5578177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정제된 데이터를 저장한다</a:t>
            </a:r>
            <a:endParaRPr lang="ko-KR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3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전후를 비교해야 하는 이유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17749"/>
            <a:ext cx="10868745" cy="751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전처리는 데이터를 변경하는 작업입니다.</a:t>
            </a:r>
            <a:endParaRPr lang="ko-KR" sz="1300" dirty="0"/>
          </a:p>
          <a:p>
            <a:pPr marL="0" indent="0" algn="l"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따라서 처리 결과를 검증해야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합니다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82574"/>
              </p:ext>
            </p:extLst>
          </p:nvPr>
        </p:nvGraphicFramePr>
        <p:xfrm>
          <a:off x="661475" y="2346001"/>
          <a:ext cx="10868745" cy="285445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점검 항목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전처리 전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전처리 후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행 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전체 결측치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 행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매출 dtype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object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int64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평균 매출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계산 불가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128,500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39926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표가 있으면 무엇을 왜 바꾸었는지 설명하기 쉽습니다.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961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처리 근거를 기록하는 방법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77045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전처리 결과만 남기면 나중에 처리 이유를 알기 어렵습니다.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간단한 처리 기록 예</a:t>
            </a:r>
            <a:endParaRPr lang="ko-KR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241438"/>
              </p:ext>
            </p:extLst>
          </p:nvPr>
        </p:nvGraphicFramePr>
        <p:xfrm>
          <a:off x="661475" y="2911846"/>
          <a:ext cx="10868744" cy="2186628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항목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발견 문제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처리 방법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처리 근거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처리시간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"unknown" 포함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숫자 변환 후 중앙값 대체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처리시간 </a:t>
                      </a:r>
                      <a:r>
                        <a:rPr lang="en-US" sz="130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분포에서 </a:t>
                      </a:r>
                      <a:endParaRPr lang="en-US" sz="1300" smtClean="0">
                        <a:solidFill>
                          <a:srgbClr val="3C3939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큰 </a:t>
                      </a: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값의 영향 완화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담당자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일부 결측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"미배정" 대체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담당자가 없는 상태 자체를 보존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문의ID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동일 행 중복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 행 제거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동일 레코드의 반복 </a:t>
                      </a:r>
                      <a:r>
                        <a:rPr lang="en-US" sz="130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저장으로 </a:t>
                      </a:r>
                      <a:endParaRPr lang="en-US" sz="1300" smtClean="0">
                        <a:solidFill>
                          <a:srgbClr val="3C3939"/>
                        </a:solidFill>
                        <a:latin typeface="Inter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판단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29726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실무에서는 전처리 코드와 처리 근거를 함께 남기는 것이 중요합니다.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94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자주 발생하는 오류</a:t>
            </a:r>
            <a:endParaRPr lang="ko-KR" sz="3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36849"/>
          <a:ext cx="10868745" cy="3368294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상황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원인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해결 방향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KeyError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존재하지 않는 컬럼명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df.columns 확인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ValueError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문자열이 섞인 컬럼을 바로 astype(int)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pd.to_numeric(errors="coerce") 검토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조건식 오류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괄호 없이 &amp;, | 사용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각 조건을 괄호로 감싸기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예상보다 많은 행 삭제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dropna()를 전체 행에 적용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subset= 기준 검토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실제 거래를 중복으로 삭제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 판단 기준이 잘못됨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식별키와 업무 의미 확인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변환 뒤 NaN 증가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숫자로 바꿀 수 없는 값이 존재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변환 전 원본 값 확인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8177"/>
            <a:ext cx="1086874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정제 체크리스트</a:t>
            </a:r>
            <a:endParaRPr lang="ko-KR" sz="2700" dirty="0"/>
          </a:p>
        </p:txBody>
      </p:sp>
      <p:sp>
        <p:nvSpPr>
          <p:cNvPr id="3" name="Shape 1"/>
          <p:cNvSpPr/>
          <p:nvPr/>
        </p:nvSpPr>
        <p:spPr>
          <a:xfrm>
            <a:off x="661475" y="1162149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88601" y="1209675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원본 파일을 변경하지 않고 별도의 DataFrame으로 작업했는가?</a:t>
            </a:r>
            <a:endParaRPr lang="ko-KR" sz="1350" dirty="0"/>
          </a:p>
        </p:txBody>
      </p:sp>
      <p:sp>
        <p:nvSpPr>
          <p:cNvPr id="5" name="Shape 3"/>
          <p:cNvSpPr/>
          <p:nvPr/>
        </p:nvSpPr>
        <p:spPr>
          <a:xfrm>
            <a:off x="661475" y="1705074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88601" y="1752600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행 수와 열 수를 먼저 확인했는가?</a:t>
            </a:r>
            <a:endParaRPr lang="ko-KR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2247999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88601" y="2295525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 개수를 컬럼별로 확인했는가?</a:t>
            </a:r>
            <a:endParaRPr lang="ko-KR" sz="1350" dirty="0"/>
          </a:p>
        </p:txBody>
      </p:sp>
      <p:sp>
        <p:nvSpPr>
          <p:cNvPr id="9" name="Shape 7"/>
          <p:cNvSpPr/>
          <p:nvPr/>
        </p:nvSpPr>
        <p:spPr>
          <a:xfrm>
            <a:off x="661475" y="2790924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8601" y="2838450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 처리 이유를 설명할 수 있는가?</a:t>
            </a:r>
            <a:endParaRPr lang="ko-KR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3333849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8601" y="3381375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기준을 정확히 정의했는가?</a:t>
            </a:r>
            <a:endParaRPr lang="ko-KR" sz="1350" dirty="0"/>
          </a:p>
        </p:txBody>
      </p:sp>
      <p:sp>
        <p:nvSpPr>
          <p:cNvPr id="13" name="Shape 11"/>
          <p:cNvSpPr/>
          <p:nvPr/>
        </p:nvSpPr>
        <p:spPr>
          <a:xfrm>
            <a:off x="661475" y="3876774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8601" y="3924300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숫자형이어야 할 컬럼의 dtype을 확인했는가?</a:t>
            </a:r>
            <a:endParaRPr lang="ko-KR" sz="1350" dirty="0"/>
          </a:p>
        </p:txBody>
      </p:sp>
      <p:sp>
        <p:nvSpPr>
          <p:cNvPr id="15" name="Shape 13"/>
          <p:cNvSpPr/>
          <p:nvPr/>
        </p:nvSpPr>
        <p:spPr>
          <a:xfrm>
            <a:off x="661475" y="4419699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8601" y="4467225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pd.to_numeric() 이후 새 결측치를 다시 확인했는가?</a:t>
            </a:r>
            <a:endParaRPr lang="ko-KR" sz="1350" dirty="0"/>
          </a:p>
        </p:txBody>
      </p:sp>
      <p:sp>
        <p:nvSpPr>
          <p:cNvPr id="17" name="Shape 15"/>
          <p:cNvSpPr/>
          <p:nvPr/>
        </p:nvSpPr>
        <p:spPr>
          <a:xfrm>
            <a:off x="661475" y="4962624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88601" y="5010150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전후 행 수를 비교했는가?</a:t>
            </a:r>
            <a:endParaRPr lang="ko-KR" sz="1350" dirty="0"/>
          </a:p>
        </p:txBody>
      </p:sp>
      <p:sp>
        <p:nvSpPr>
          <p:cNvPr id="19" name="Shape 17"/>
          <p:cNvSpPr/>
          <p:nvPr/>
        </p:nvSpPr>
        <p:spPr>
          <a:xfrm>
            <a:off x="661475" y="5505549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88601" y="5553075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전후 주요 통계를 비교했는가?</a:t>
            </a:r>
            <a:endParaRPr lang="ko-KR" sz="1350" dirty="0"/>
          </a:p>
        </p:txBody>
      </p:sp>
      <p:sp>
        <p:nvSpPr>
          <p:cNvPr id="21" name="Shape 19"/>
          <p:cNvSpPr/>
          <p:nvPr/>
        </p:nvSpPr>
        <p:spPr>
          <a:xfrm>
            <a:off x="661475" y="6048474"/>
            <a:ext cx="311341" cy="311348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/>
          <a:effectLst>
            <a:outerShdw blurRad="20701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88601" y="6096000"/>
            <a:ext cx="104416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정제된 데이터와 처리 근거를 함께 남겼는가?</a:t>
            </a:r>
            <a:endParaRPr lang="ko-KR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80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 정리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915517"/>
            <a:ext cx="3512653" cy="1255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099866"/>
            <a:ext cx="306776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loc는 레이블과 조건을 기준으로 데이터를 조회합니다.</a:t>
            </a:r>
            <a:endParaRPr lang="ko-KR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1915517"/>
            <a:ext cx="3512752" cy="12556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99964" y="2099866"/>
            <a:ext cx="30678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iloc는 정수 위치를 기준으로 데이터를 조회합니다.</a:t>
            </a:r>
            <a:endParaRPr lang="ko-KR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1915517"/>
            <a:ext cx="3512653" cy="12556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78010" y="2099866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결측치는 다음 흐름으로 처리합니다.</a:t>
            </a:r>
            <a:endParaRPr lang="ko-KR" sz="1600" dirty="0"/>
          </a:p>
        </p:txBody>
      </p:sp>
      <p:sp>
        <p:nvSpPr>
          <p:cNvPr id="9" name="Text 4"/>
          <p:cNvSpPr/>
          <p:nvPr/>
        </p:nvSpPr>
        <p:spPr>
          <a:xfrm>
            <a:off x="8278010" y="2457549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 → 원인 판단 → 처리 기준 결정 → 처리 → 재확인</a:t>
            </a:r>
            <a:endParaRPr lang="ko-KR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3336429"/>
            <a:ext cx="3512653" cy="11440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2017" y="3520777"/>
            <a:ext cx="306776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중복 데이터는 실제 반복 데이터인지 오류로 복제된 데이터인지 먼저 판단해야 합니다.</a:t>
            </a:r>
            <a:endParaRPr lang="ko-KR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9422" y="3336429"/>
            <a:ext cx="3512752" cy="114409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599964" y="3520777"/>
            <a:ext cx="306786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문자열이 섞인 숫자 컬럼은 pd.to_numeric(errors="coerce")를 활용할 수 있습니다.</a:t>
            </a:r>
            <a:endParaRPr lang="ko-KR" sz="16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017468" y="3336429"/>
            <a:ext cx="3512653" cy="114409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78010" y="3520777"/>
            <a:ext cx="306776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astype()은 최종 자료형을 명확하게 정리할 때 유용합니다.</a:t>
            </a:r>
            <a:endParaRPr lang="ko-KR" sz="16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61475" y="4645819"/>
            <a:ext cx="3512653" cy="114409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22017" y="4830167"/>
            <a:ext cx="306776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전처리 후에는 반드시 행 수, 결측치, 중복, dtype, 주요 통계를 다시 확인합니다.</a:t>
            </a:r>
            <a:endParaRPr lang="ko-KR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328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강의 연결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2071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강의에서는 정제된 데이터를 기준으로 실무형 요약표를 만듭니다.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73337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연결되는 핵심 주제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239889"/>
            <a:ext cx="3512653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6769" y="3405188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groupby()를 이용한 그룹 집계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4339422" y="3239889"/>
            <a:ext cx="3512752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4716" y="3405188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agg()를 이용한 여러 통계 계산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8017468" y="3239889"/>
            <a:ext cx="3512653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2762" y="3405188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sort_values()를 이용한 정렬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661475" y="3994249"/>
            <a:ext cx="535162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769" y="4159548"/>
            <a:ext cx="5021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merge()를 이용한 DataFrame 결합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6178395" y="3994249"/>
            <a:ext cx="5351725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43690" y="4159548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pivot_table()을 이용한 교차 요약표</a:t>
            </a:r>
            <a:endParaRPr lang="ko-KR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2066</Words>
  <Application>Microsoft Office PowerPoint</Application>
  <PresentationFormat>와이드스크린</PresentationFormat>
  <Paragraphs>508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Inter Light</vt:lpstr>
      <vt:lpstr>Arial</vt:lpstr>
      <vt:lpstr>Inter</vt:lpstr>
      <vt:lpstr>Calibri</vt:lpstr>
      <vt:lpstr>Inter Bold</vt:lpstr>
      <vt:lpstr>Consolas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realchoky-home</dc:creator>
  <cp:lastModifiedBy>realchoky-home</cp:lastModifiedBy>
  <cp:revision>4</cp:revision>
  <dcterms:created xsi:type="dcterms:W3CDTF">2026-08-30T15:01:25Z</dcterms:created>
  <dcterms:modified xsi:type="dcterms:W3CDTF">2026-08-30T15:15:22Z</dcterms:modified>
</cp:coreProperties>
</file>